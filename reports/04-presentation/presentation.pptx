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10287000" cy="18288000"/>
  <p:embeddedFontLst>
    <p:embeddedFont>
      <p:font typeface="Nunito"/>
      <p:regular r:id="rId17"/>
      <p:bold r:id="rId18"/>
      <p:italic r:id="rId19"/>
      <p:boldItalic r:id="rId20"/>
    </p:embeddedFont>
    <p:embeddedFont>
      <p:font typeface="Maven Pro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Tvjm895yW3C3r4t89qGMG7xMh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1ECD97-6C2D-4FC2-9158-60245B24DD59}">
  <a:tblStyle styleId="{7C1ECD97-6C2D-4FC2-9158-60245B24DD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MavenPro-bold.fntdata"/><Relationship Id="rId10" Type="http://schemas.openxmlformats.org/officeDocument/2006/relationships/slide" Target="slides/slide5.xml"/><Relationship Id="rId21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da8f2e7afe_3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g3da8f2e7afe_3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g3da8f2e7afe_3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g3da8f2e7afe_0_346"/>
          <p:cNvGrpSpPr/>
          <p:nvPr/>
        </p:nvGrpSpPr>
        <p:grpSpPr>
          <a:xfrm>
            <a:off x="14686006" y="6819351"/>
            <a:ext cx="3382844" cy="3465096"/>
            <a:chOff x="7343003" y="3409675"/>
            <a:chExt cx="1691422" cy="1732548"/>
          </a:xfrm>
        </p:grpSpPr>
        <p:grpSp>
          <p:nvGrpSpPr>
            <p:cNvPr id="15" name="Google Shape;15;g3da8f2e7afe_0_346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6" name="Google Shape;16;g3da8f2e7afe_0_346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g3da8f2e7afe_0_346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g3da8f2e7afe_0_346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9" name="Google Shape;19;g3da8f2e7afe_0_346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g3da8f2e7afe_0_346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g3da8f2e7afe_0_346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" name="Google Shape;22;g3da8f2e7afe_0_346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23" name="Google Shape;23;g3da8f2e7afe_0_346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g3da8f2e7afe_0_346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g3da8f2e7afe_0_346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g3da8f2e7afe_0_346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" name="Google Shape;27;g3da8f2e7afe_0_346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8" name="Google Shape;28;g3da8f2e7afe_0_346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g3da8f2e7afe_0_346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g3da8f2e7afe_0_346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g3da8f2e7afe_0_346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g3da8f2e7afe_0_346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" name="Google Shape;33;g3da8f2e7afe_0_346"/>
          <p:cNvGrpSpPr/>
          <p:nvPr/>
        </p:nvGrpSpPr>
        <p:grpSpPr>
          <a:xfrm>
            <a:off x="10087005" y="0"/>
            <a:ext cx="7628145" cy="7678204"/>
            <a:chOff x="5043503" y="0"/>
            <a:chExt cx="3814072" cy="3839102"/>
          </a:xfrm>
        </p:grpSpPr>
        <p:sp>
          <p:nvSpPr>
            <p:cNvPr id="34" name="Google Shape;34;g3da8f2e7afe_0_346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da8f2e7afe_0_346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" name="Google Shape;36;g3da8f2e7afe_0_346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7" name="Google Shape;37;g3da8f2e7afe_0_346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g3da8f2e7afe_0_346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g3da8f2e7afe_0_346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g3da8f2e7afe_0_346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" name="Google Shape;41;g3da8f2e7afe_0_346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42" name="Google Shape;42;g3da8f2e7afe_0_346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g3da8f2e7afe_0_346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" name="Google Shape;44;g3da8f2e7afe_0_346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g3da8f2e7afe_0_346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g3da8f2e7afe_0_346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g3da8f2e7afe_0_346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g3da8f2e7afe_0_346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g3da8f2e7afe_0_346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g3da8f2e7afe_0_346"/>
          <p:cNvSpPr txBox="1"/>
          <p:nvPr>
            <p:ph type="ctrTitle"/>
          </p:nvPr>
        </p:nvSpPr>
        <p:spPr>
          <a:xfrm>
            <a:off x="1648000" y="3227625"/>
            <a:ext cx="8511000" cy="37458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g3da8f2e7afe_0_346"/>
          <p:cNvSpPr txBox="1"/>
          <p:nvPr>
            <p:ph idx="1" type="subTitle"/>
          </p:nvPr>
        </p:nvSpPr>
        <p:spPr>
          <a:xfrm>
            <a:off x="1648000" y="7192600"/>
            <a:ext cx="8511000" cy="1390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g3da8f2e7afe_0_346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g3da8f2e7afe_0_386"/>
          <p:cNvGrpSpPr/>
          <p:nvPr/>
        </p:nvGrpSpPr>
        <p:grpSpPr>
          <a:xfrm>
            <a:off x="293537" y="6812"/>
            <a:ext cx="2466430" cy="2769070"/>
            <a:chOff x="146769" y="3406"/>
            <a:chExt cx="1233215" cy="1384535"/>
          </a:xfrm>
        </p:grpSpPr>
        <p:grpSp>
          <p:nvGrpSpPr>
            <p:cNvPr id="55" name="Google Shape;55;g3da8f2e7afe_0_386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6" name="Google Shape;56;g3da8f2e7afe_0_386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g3da8f2e7afe_0_386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g3da8f2e7afe_0_386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9" name="Google Shape;59;g3da8f2e7afe_0_386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g3da8f2e7afe_0_386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g3da8f2e7afe_0_386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" name="Google Shape;62;g3da8f2e7afe_0_386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3" name="Google Shape;63;g3da8f2e7afe_0_386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g3da8f2e7afe_0_386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g3da8f2e7afe_0_386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g3da8f2e7afe_0_386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7" name="Google Shape;67;g3da8f2e7afe_0_386"/>
          <p:cNvGrpSpPr/>
          <p:nvPr/>
        </p:nvGrpSpPr>
        <p:grpSpPr>
          <a:xfrm>
            <a:off x="13550167" y="5808017"/>
            <a:ext cx="4372295" cy="4479000"/>
            <a:chOff x="6775084" y="2904008"/>
            <a:chExt cx="2186148" cy="2239500"/>
          </a:xfrm>
        </p:grpSpPr>
        <p:grpSp>
          <p:nvGrpSpPr>
            <p:cNvPr id="68" name="Google Shape;68;g3da8f2e7afe_0_386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9" name="Google Shape;69;g3da8f2e7afe_0_386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g3da8f2e7afe_0_386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g3da8f2e7afe_0_386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2" name="Google Shape;72;g3da8f2e7afe_0_386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g3da8f2e7afe_0_386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g3da8f2e7afe_0_386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g3da8f2e7afe_0_386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6" name="Google Shape;76;g3da8f2e7afe_0_386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g3da8f2e7afe_0_386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g3da8f2e7afe_0_386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g3da8f2e7afe_0_386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" name="Google Shape;80;g3da8f2e7afe_0_386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81" name="Google Shape;81;g3da8f2e7afe_0_386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g3da8f2e7afe_0_386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g3da8f2e7afe_0_386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g3da8f2e7afe_0_386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g3da8f2e7afe_0_386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6" name="Google Shape;86;g3da8f2e7afe_0_386"/>
          <p:cNvSpPr txBox="1"/>
          <p:nvPr>
            <p:ph type="title"/>
          </p:nvPr>
        </p:nvSpPr>
        <p:spPr>
          <a:xfrm>
            <a:off x="1648000" y="3227650"/>
            <a:ext cx="11715600" cy="37458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g3da8f2e7afe_0_386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g3da8f2e7afe_0_421"/>
          <p:cNvGrpSpPr/>
          <p:nvPr/>
        </p:nvGrpSpPr>
        <p:grpSpPr>
          <a:xfrm>
            <a:off x="1251932" y="598753"/>
            <a:ext cx="1998624" cy="1998624"/>
            <a:chOff x="348199" y="179450"/>
            <a:chExt cx="1116300" cy="1116300"/>
          </a:xfrm>
        </p:grpSpPr>
        <p:sp>
          <p:nvSpPr>
            <p:cNvPr id="90" name="Google Shape;90;g3da8f2e7afe_0_42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3da8f2e7afe_0_42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g3da8f2e7afe_0_421"/>
          <p:cNvSpPr txBox="1"/>
          <p:nvPr>
            <p:ph type="title"/>
          </p:nvPr>
        </p:nvSpPr>
        <p:spPr>
          <a:xfrm>
            <a:off x="2607600" y="1197150"/>
            <a:ext cx="14061000" cy="1998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93" name="Google Shape;93;g3da8f2e7afe_0_421"/>
          <p:cNvSpPr txBox="1"/>
          <p:nvPr>
            <p:ph idx="1" type="body"/>
          </p:nvPr>
        </p:nvSpPr>
        <p:spPr>
          <a:xfrm>
            <a:off x="2607600" y="3980100"/>
            <a:ext cx="14061000" cy="5083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4" name="Google Shape;94;g3da8f2e7afe_0_421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g3da8f2e7afe_0_428"/>
          <p:cNvGrpSpPr/>
          <p:nvPr/>
        </p:nvGrpSpPr>
        <p:grpSpPr>
          <a:xfrm>
            <a:off x="1251932" y="598753"/>
            <a:ext cx="1998624" cy="1998624"/>
            <a:chOff x="348199" y="179450"/>
            <a:chExt cx="1116300" cy="1116300"/>
          </a:xfrm>
        </p:grpSpPr>
        <p:sp>
          <p:nvSpPr>
            <p:cNvPr id="97" name="Google Shape;97;g3da8f2e7afe_0_42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g3da8f2e7afe_0_42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g3da8f2e7afe_0_428"/>
          <p:cNvSpPr txBox="1"/>
          <p:nvPr>
            <p:ph type="title"/>
          </p:nvPr>
        </p:nvSpPr>
        <p:spPr>
          <a:xfrm>
            <a:off x="2607600" y="1197150"/>
            <a:ext cx="14061000" cy="1998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00" name="Google Shape;100;g3da8f2e7afe_0_428"/>
          <p:cNvSpPr txBox="1"/>
          <p:nvPr>
            <p:ph idx="1" type="body"/>
          </p:nvPr>
        </p:nvSpPr>
        <p:spPr>
          <a:xfrm>
            <a:off x="2607600" y="3980100"/>
            <a:ext cx="6861000" cy="5083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1" name="Google Shape;101;g3da8f2e7afe_0_428"/>
          <p:cNvSpPr txBox="1"/>
          <p:nvPr>
            <p:ph idx="2" type="body"/>
          </p:nvPr>
        </p:nvSpPr>
        <p:spPr>
          <a:xfrm>
            <a:off x="9807300" y="3980100"/>
            <a:ext cx="6861000" cy="5083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2" name="Google Shape;102;g3da8f2e7afe_0_428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g3da8f2e7afe_0_436"/>
          <p:cNvGrpSpPr/>
          <p:nvPr/>
        </p:nvGrpSpPr>
        <p:grpSpPr>
          <a:xfrm>
            <a:off x="1251932" y="598753"/>
            <a:ext cx="1998624" cy="1998624"/>
            <a:chOff x="348199" y="179450"/>
            <a:chExt cx="1116300" cy="1116300"/>
          </a:xfrm>
        </p:grpSpPr>
        <p:sp>
          <p:nvSpPr>
            <p:cNvPr id="105" name="Google Shape;105;g3da8f2e7afe_0_43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g3da8f2e7afe_0_43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g3da8f2e7afe_0_436"/>
          <p:cNvSpPr txBox="1"/>
          <p:nvPr>
            <p:ph type="title"/>
          </p:nvPr>
        </p:nvSpPr>
        <p:spPr>
          <a:xfrm>
            <a:off x="2607600" y="1197150"/>
            <a:ext cx="14061000" cy="1998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08" name="Google Shape;108;g3da8f2e7afe_0_436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g3da8f2e7afe_0_442"/>
          <p:cNvGrpSpPr/>
          <p:nvPr/>
        </p:nvGrpSpPr>
        <p:grpSpPr>
          <a:xfrm>
            <a:off x="1251932" y="598753"/>
            <a:ext cx="1998624" cy="1998624"/>
            <a:chOff x="348199" y="179450"/>
            <a:chExt cx="1116300" cy="1116300"/>
          </a:xfrm>
        </p:grpSpPr>
        <p:sp>
          <p:nvSpPr>
            <p:cNvPr id="111" name="Google Shape;111;g3da8f2e7afe_0_44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g3da8f2e7afe_0_44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g3da8f2e7afe_0_442"/>
          <p:cNvSpPr txBox="1"/>
          <p:nvPr>
            <p:ph type="title"/>
          </p:nvPr>
        </p:nvSpPr>
        <p:spPr>
          <a:xfrm>
            <a:off x="2607600" y="1197150"/>
            <a:ext cx="6624000" cy="3180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14" name="Google Shape;114;g3da8f2e7afe_0_442"/>
          <p:cNvSpPr txBox="1"/>
          <p:nvPr>
            <p:ph idx="1" type="body"/>
          </p:nvPr>
        </p:nvSpPr>
        <p:spPr>
          <a:xfrm>
            <a:off x="2607600" y="4619350"/>
            <a:ext cx="6624000" cy="4443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15" name="Google Shape;115;g3da8f2e7afe_0_442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g3da8f2e7afe_0_449"/>
          <p:cNvGrpSpPr/>
          <p:nvPr/>
        </p:nvGrpSpPr>
        <p:grpSpPr>
          <a:xfrm>
            <a:off x="13733428" y="2613"/>
            <a:ext cx="4534902" cy="5203379"/>
            <a:chOff x="6790514" y="1306"/>
            <a:chExt cx="2267451" cy="2601690"/>
          </a:xfrm>
        </p:grpSpPr>
        <p:grpSp>
          <p:nvGrpSpPr>
            <p:cNvPr id="118" name="Google Shape;118;g3da8f2e7afe_0_449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9" name="Google Shape;119;g3da8f2e7afe_0_44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g3da8f2e7afe_0_44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g3da8f2e7afe_0_449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g3da8f2e7afe_0_449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23" name="Google Shape;123;g3da8f2e7afe_0_449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g3da8f2e7afe_0_44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g3da8f2e7afe_0_44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" name="Google Shape;126;g3da8f2e7afe_0_449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7" name="Google Shape;127;g3da8f2e7afe_0_44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g3da8f2e7afe_0_44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9" name="Google Shape;129;g3da8f2e7afe_0_449"/>
          <p:cNvSpPr txBox="1"/>
          <p:nvPr>
            <p:ph type="title"/>
          </p:nvPr>
        </p:nvSpPr>
        <p:spPr>
          <a:xfrm>
            <a:off x="1648000" y="1527200"/>
            <a:ext cx="11715600" cy="7146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g3da8f2e7afe_0_449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g3da8f2e7afe_0_464"/>
          <p:cNvGrpSpPr/>
          <p:nvPr/>
        </p:nvGrpSpPr>
        <p:grpSpPr>
          <a:xfrm>
            <a:off x="1251932" y="598753"/>
            <a:ext cx="1998624" cy="1998624"/>
            <a:chOff x="348199" y="179450"/>
            <a:chExt cx="1116300" cy="1116300"/>
          </a:xfrm>
        </p:grpSpPr>
        <p:sp>
          <p:nvSpPr>
            <p:cNvPr id="133" name="Google Shape;133;g3da8f2e7afe_0_46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g3da8f2e7afe_0_46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" name="Google Shape;135;g3da8f2e7afe_0_464"/>
          <p:cNvSpPr txBox="1"/>
          <p:nvPr>
            <p:ph type="title"/>
          </p:nvPr>
        </p:nvSpPr>
        <p:spPr>
          <a:xfrm>
            <a:off x="2607600" y="1197150"/>
            <a:ext cx="6861000" cy="3980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36" name="Google Shape;136;g3da8f2e7afe_0_464"/>
          <p:cNvSpPr txBox="1"/>
          <p:nvPr>
            <p:ph idx="1" type="subTitle"/>
          </p:nvPr>
        </p:nvSpPr>
        <p:spPr>
          <a:xfrm>
            <a:off x="2607600" y="5486405"/>
            <a:ext cx="6861000" cy="1452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7" name="Google Shape;137;g3da8f2e7afe_0_464"/>
          <p:cNvSpPr txBox="1"/>
          <p:nvPr>
            <p:ph idx="2" type="body"/>
          </p:nvPr>
        </p:nvSpPr>
        <p:spPr>
          <a:xfrm>
            <a:off x="9807400" y="1322000"/>
            <a:ext cx="6861000" cy="7741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38" name="Google Shape;138;g3da8f2e7afe_0_464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g3da8f2e7afe_0_472"/>
          <p:cNvGrpSpPr/>
          <p:nvPr/>
        </p:nvGrpSpPr>
        <p:grpSpPr>
          <a:xfrm>
            <a:off x="1426746" y="7694237"/>
            <a:ext cx="1650784" cy="1650784"/>
            <a:chOff x="348199" y="179450"/>
            <a:chExt cx="1116300" cy="1116300"/>
          </a:xfrm>
        </p:grpSpPr>
        <p:sp>
          <p:nvSpPr>
            <p:cNvPr id="141" name="Google Shape;141;g3da8f2e7afe_0_47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g3da8f2e7afe_0_47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g3da8f2e7afe_0_472"/>
          <p:cNvSpPr txBox="1"/>
          <p:nvPr>
            <p:ph idx="1" type="body"/>
          </p:nvPr>
        </p:nvSpPr>
        <p:spPr>
          <a:xfrm>
            <a:off x="2607600" y="8277950"/>
            <a:ext cx="11686200" cy="1069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144" name="Google Shape;144;g3da8f2e7afe_0_472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g3da8f2e7afe_0_478"/>
          <p:cNvGrpSpPr/>
          <p:nvPr/>
        </p:nvGrpSpPr>
        <p:grpSpPr>
          <a:xfrm>
            <a:off x="104" y="8198400"/>
            <a:ext cx="18288071" cy="2088600"/>
            <a:chOff x="52" y="4099200"/>
            <a:chExt cx="9144036" cy="1044300"/>
          </a:xfrm>
        </p:grpSpPr>
        <p:grpSp>
          <p:nvGrpSpPr>
            <p:cNvPr id="147" name="Google Shape;147;g3da8f2e7afe_0_478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8" name="Google Shape;148;g3da8f2e7afe_0_47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g3da8f2e7afe_0_47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g3da8f2e7afe_0_47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g3da8f2e7afe_0_47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" name="Google Shape;152;g3da8f2e7afe_0_478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3" name="Google Shape;153;g3da8f2e7afe_0_47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g3da8f2e7afe_0_47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g3da8f2e7afe_0_47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g3da8f2e7afe_0_478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g3da8f2e7afe_0_47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" name="Google Shape;158;g3da8f2e7afe_0_478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9" name="Google Shape;159;g3da8f2e7afe_0_47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g3da8f2e7afe_0_47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g3da8f2e7afe_0_47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g3da8f2e7afe_0_47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g3da8f2e7afe_0_478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4" name="Google Shape;164;g3da8f2e7afe_0_47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g3da8f2e7afe_0_47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g3da8f2e7afe_0_47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" name="Google Shape;167;g3da8f2e7afe_0_478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8" name="Google Shape;168;g3da8f2e7afe_0_478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g3da8f2e7afe_0_478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g3da8f2e7afe_0_478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g3da8f2e7afe_0_478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g3da8f2e7afe_0_478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" name="Google Shape;173;g3da8f2e7afe_0_478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4" name="Google Shape;174;g3da8f2e7afe_0_478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g3da8f2e7afe_0_478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g3da8f2e7afe_0_478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g3da8f2e7afe_0_478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g3da8f2e7afe_0_478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9" name="Google Shape;179;g3da8f2e7afe_0_478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g3da8f2e7afe_0_478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g3da8f2e7afe_0_478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" name="Google Shape;182;g3da8f2e7afe_0_478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3" name="Google Shape;183;g3da8f2e7afe_0_478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g3da8f2e7afe_0_478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g3da8f2e7afe_0_478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g3da8f2e7afe_0_478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g3da8f2e7afe_0_478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" name="Google Shape;188;g3da8f2e7afe_0_478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9" name="Google Shape;189;g3da8f2e7afe_0_478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g3da8f2e7afe_0_478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g3da8f2e7afe_0_478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g3da8f2e7afe_0_478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" name="Google Shape;193;g3da8f2e7afe_0_478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4" name="Google Shape;194;g3da8f2e7afe_0_478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g3da8f2e7afe_0_478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g3da8f2e7afe_0_478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g3da8f2e7afe_0_478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g3da8f2e7afe_0_478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9" name="Google Shape;199;g3da8f2e7afe_0_478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g3da8f2e7afe_0_478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g3da8f2e7afe_0_478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2" name="Google Shape;202;g3da8f2e7afe_0_478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3" name="Google Shape;203;g3da8f2e7afe_0_478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g3da8f2e7afe_0_478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g3da8f2e7afe_0_478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g3da8f2e7afe_0_478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7" name="Google Shape;207;g3da8f2e7afe_0_478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8" name="Google Shape;208;g3da8f2e7afe_0_478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g3da8f2e7afe_0_478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g3da8f2e7afe_0_478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g3da8f2e7afe_0_478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2" name="Google Shape;212;g3da8f2e7afe_0_478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3" name="Google Shape;213;g3da8f2e7afe_0_478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g3da8f2e7afe_0_478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g3da8f2e7afe_0_478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g3da8f2e7afe_0_478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g3da8f2e7afe_0_478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" name="Google Shape;218;g3da8f2e7afe_0_478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9" name="Google Shape;219;g3da8f2e7afe_0_478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g3da8f2e7afe_0_478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g3da8f2e7afe_0_478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g3da8f2e7afe_0_478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g3da8f2e7afe_0_478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4" name="Google Shape;224;g3da8f2e7afe_0_478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g3da8f2e7afe_0_478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g3da8f2e7afe_0_478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7" name="Google Shape;227;g3da8f2e7afe_0_478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8" name="Google Shape;228;g3da8f2e7afe_0_478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g3da8f2e7afe_0_478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g3da8f2e7afe_0_478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g3da8f2e7afe_0_478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g3da8f2e7afe_0_478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3" name="Google Shape;233;g3da8f2e7afe_0_478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g3da8f2e7afe_0_478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g3da8f2e7afe_0_478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g3da8f2e7afe_0_478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g3da8f2e7afe_0_478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8" name="Google Shape;238;g3da8f2e7afe_0_478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9" name="Google Shape;239;g3da8f2e7afe_0_478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g3da8f2e7afe_0_478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g3da8f2e7afe_0_478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g3da8f2e7afe_0_478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g3da8f2e7afe_0_478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4" name="Google Shape;244;g3da8f2e7afe_0_478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g3da8f2e7afe_0_478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g3da8f2e7afe_0_478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7" name="Google Shape;247;g3da8f2e7afe_0_478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8" name="Google Shape;248;g3da8f2e7afe_0_478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g3da8f2e7afe_0_478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g3da8f2e7afe_0_478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g3da8f2e7afe_0_478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g3da8f2e7afe_0_478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g3da8f2e7afe_0_478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4" name="Google Shape;254;g3da8f2e7afe_0_478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g3da8f2e7afe_0_478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g3da8f2e7afe_0_478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g3da8f2e7afe_0_478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g3da8f2e7afe_0_478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9" name="Google Shape;259;g3da8f2e7afe_0_478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g3da8f2e7afe_0_478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g3da8f2e7afe_0_478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g3da8f2e7afe_0_478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g3da8f2e7afe_0_478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4" name="Google Shape;264;g3da8f2e7afe_0_478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g3da8f2e7afe_0_478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g3da8f2e7afe_0_478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7" name="Google Shape;267;g3da8f2e7afe_0_478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8" name="Google Shape;268;g3da8f2e7afe_0_478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g3da8f2e7afe_0_478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g3da8f2e7afe_0_478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g3da8f2e7afe_0_478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2" name="Google Shape;272;g3da8f2e7afe_0_478"/>
          <p:cNvSpPr txBox="1"/>
          <p:nvPr>
            <p:ph hasCustomPrompt="1" type="title"/>
          </p:nvPr>
        </p:nvSpPr>
        <p:spPr>
          <a:xfrm>
            <a:off x="2777250" y="1545450"/>
            <a:ext cx="12733800" cy="3726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g3da8f2e7afe_0_478"/>
          <p:cNvSpPr txBox="1"/>
          <p:nvPr>
            <p:ph idx="1" type="body"/>
          </p:nvPr>
        </p:nvSpPr>
        <p:spPr>
          <a:xfrm>
            <a:off x="2777250" y="5424600"/>
            <a:ext cx="12733800" cy="2222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  <a:defRPr>
                <a:solidFill>
                  <a:schemeClr val="lt1"/>
                </a:solidFill>
              </a:defRPr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g3da8f2e7afe_0_478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a8f2e7afe_0_608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da8f2e7afe_0_342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sz="5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1" name="Google Shape;11;g3da8f2e7afe_0_342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Nunito"/>
              <a:buChar char="●"/>
              <a:defRPr sz="2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○"/>
              <a:defRPr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■"/>
              <a:defRPr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●"/>
              <a:defRPr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○"/>
              <a:defRPr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■"/>
              <a:defRPr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●"/>
              <a:defRPr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○"/>
              <a:defRPr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■"/>
              <a:defRPr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g3da8f2e7afe_0_342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"/>
          <p:cNvSpPr/>
          <p:nvPr/>
        </p:nvSpPr>
        <p:spPr>
          <a:xfrm>
            <a:off x="1047640" y="954305"/>
            <a:ext cx="16678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100"/>
              <a:buFont typeface="Georgia"/>
              <a:buNone/>
            </a:pPr>
            <a:r>
              <a:rPr b="0" i="1" lang="en-US" sz="2100" u="none" cap="none" strike="noStrike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CS 4824 </a:t>
            </a:r>
            <a:r>
              <a:rPr i="1" lang="en-US" sz="21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|</a:t>
            </a:r>
            <a:r>
              <a:rPr b="0" i="1" lang="en-US" sz="2100" u="none" cap="none" strike="noStrike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 Machine Learning </a:t>
            </a:r>
            <a:r>
              <a:rPr i="1" lang="en-US" sz="2100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|</a:t>
            </a:r>
            <a:r>
              <a:rPr b="0" i="1" lang="en-US" sz="2100" u="none" cap="none" strike="noStrike">
                <a:solidFill>
                  <a:srgbClr val="555555"/>
                </a:solidFill>
                <a:latin typeface="Georgia"/>
                <a:ea typeface="Georgia"/>
                <a:cs typeface="Georgia"/>
                <a:sym typeface="Georgia"/>
              </a:rPr>
              <a:t> Final Project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"/>
          <p:cNvSpPr/>
          <p:nvPr/>
        </p:nvSpPr>
        <p:spPr>
          <a:xfrm>
            <a:off x="1047640" y="1950736"/>
            <a:ext cx="14715900" cy="17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300"/>
              <a:buFont typeface="Georgia"/>
              <a:buNone/>
            </a:pPr>
            <a:r>
              <a:rPr b="0" i="0" lang="en-US" sz="63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Poker Player Profiling: </a:t>
            </a:r>
            <a:br>
              <a:rPr b="0" i="0" lang="en-US" sz="63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US" sz="63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Heuristics vs. K-Means Clustering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"/>
          <p:cNvSpPr/>
          <p:nvPr/>
        </p:nvSpPr>
        <p:spPr>
          <a:xfrm>
            <a:off x="1047640" y="4135906"/>
            <a:ext cx="166785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50"/>
              <a:buFont typeface="Georgia"/>
              <a:buNone/>
            </a:pPr>
            <a:r>
              <a:rPr b="0" i="1" lang="en-US" sz="2550" u="none" cap="none" strike="noStrike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Grouping Texas Hold'em players by how they bet.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"/>
          <p:cNvSpPr/>
          <p:nvPr/>
        </p:nvSpPr>
        <p:spPr>
          <a:xfrm>
            <a:off x="1047640" y="5110578"/>
            <a:ext cx="16678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Lakshya J. 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|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Aryan S. 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|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Shreya A. 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|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Claire 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"/>
          <p:cNvSpPr/>
          <p:nvPr/>
        </p:nvSpPr>
        <p:spPr>
          <a:xfrm>
            <a:off x="1047640" y="9491267"/>
            <a:ext cx="16192613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3625" y="5535366"/>
            <a:ext cx="5476635" cy="3651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49850" y="376175"/>
            <a:ext cx="1119925" cy="125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8877" y="375188"/>
            <a:ext cx="1261872" cy="126187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"/>
          <p:cNvSpPr/>
          <p:nvPr/>
        </p:nvSpPr>
        <p:spPr>
          <a:xfrm>
            <a:off x="1047640" y="761890"/>
            <a:ext cx="16678391" cy="5638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Introduction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"/>
          <p:cNvSpPr/>
          <p:nvPr/>
        </p:nvSpPr>
        <p:spPr>
          <a:xfrm>
            <a:off x="1047640" y="1554317"/>
            <a:ext cx="16192613" cy="1411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"/>
          <p:cNvSpPr/>
          <p:nvPr/>
        </p:nvSpPr>
        <p:spPr>
          <a:xfrm>
            <a:off x="1165650" y="1835126"/>
            <a:ext cx="16551300" cy="28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Goal</a:t>
            </a:r>
            <a:endParaRPr b="1" sz="25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73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Georgia"/>
              <a:buChar char="●"/>
            </a:pPr>
            <a:r>
              <a:rPr lang="en-US" sz="25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Sort poker players into groups based on how they bet</a:t>
            </a:r>
            <a:endParaRPr sz="25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73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Georgia"/>
              <a:buChar char="●"/>
            </a:pPr>
            <a:r>
              <a:rPr lang="en-US" sz="25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Poker players have different “styles” of play; useful for modeling opponents</a:t>
            </a:r>
            <a:endParaRPr sz="25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73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Georgia"/>
              <a:buChar char="●"/>
            </a:pPr>
            <a:r>
              <a:rPr lang="en-US" sz="25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Past Approach: Use fixed cut offs on VPIP and PFR (two statistics) to categorize players</a:t>
            </a:r>
            <a:endParaRPr sz="25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73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Georgia"/>
              <a:buChar char="●"/>
            </a:pPr>
            <a:r>
              <a:rPr lang="en-US" sz="25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Our Approach: Explore whether K-Means finds better groups via clustering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9" name="Google Shape;299;p2"/>
          <p:cNvSpPr/>
          <p:nvPr/>
        </p:nvSpPr>
        <p:spPr>
          <a:xfrm>
            <a:off x="1165650" y="5163595"/>
            <a:ext cx="16551300" cy="15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None/>
            </a:pPr>
            <a:r>
              <a:rPr b="1" i="0" lang="en-US" sz="25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Dataset</a:t>
            </a:r>
            <a:endParaRPr b="1" i="0" sz="2500" u="none" cap="none" strike="noStrike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73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Georgia"/>
              <a:buChar char="●"/>
            </a:pPr>
            <a:r>
              <a:rPr b="1" i="0" lang="en-US" sz="25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0" i="0" lang="en-US" sz="25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IRC Poker Database from the University of Alberta</a:t>
            </a:r>
            <a:endParaRPr sz="25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7350" lvl="1" marL="9144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Georgia"/>
              <a:buChar char="○"/>
            </a:pPr>
            <a:r>
              <a:rPr lang="en-US" sz="25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O</a:t>
            </a:r>
            <a:r>
              <a:rPr b="0" i="0" lang="en-US" sz="25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ver 10 million Texas Hold'em hands played on IRC servers between 1995 and 2001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"/>
          <p:cNvSpPr/>
          <p:nvPr/>
        </p:nvSpPr>
        <p:spPr>
          <a:xfrm>
            <a:off x="1047640" y="9491267"/>
            <a:ext cx="16192613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"/>
          <p:cNvSpPr/>
          <p:nvPr/>
        </p:nvSpPr>
        <p:spPr>
          <a:xfrm>
            <a:off x="1047640" y="761890"/>
            <a:ext cx="16678391" cy="5638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Related Works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"/>
          <p:cNvSpPr/>
          <p:nvPr/>
        </p:nvSpPr>
        <p:spPr>
          <a:xfrm>
            <a:off x="1047640" y="1554317"/>
            <a:ext cx="16192613" cy="1411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8" name="Google Shape;308;p3"/>
          <p:cNvGrpSpPr/>
          <p:nvPr/>
        </p:nvGrpSpPr>
        <p:grpSpPr>
          <a:xfrm>
            <a:off x="1220999" y="1870375"/>
            <a:ext cx="15846000" cy="1377979"/>
            <a:chOff x="1220999" y="1870375"/>
            <a:chExt cx="15846000" cy="1377979"/>
          </a:xfrm>
        </p:grpSpPr>
        <p:sp>
          <p:nvSpPr>
            <p:cNvPr id="309" name="Google Shape;309;p3"/>
            <p:cNvSpPr/>
            <p:nvPr/>
          </p:nvSpPr>
          <p:spPr>
            <a:xfrm>
              <a:off x="1352349" y="1870375"/>
              <a:ext cx="10076700" cy="3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rmAutofit/>
            </a:bodyPr>
            <a:lstStyle/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100"/>
                <a:buFont typeface="Georgia"/>
                <a:buNone/>
              </a:pPr>
              <a:r>
                <a:rPr b="1" i="0" lang="en-US" sz="2500" u="none" cap="none" strike="noStrike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IRC Poker Database  (University of Alberta</a:t>
              </a:r>
              <a:r>
                <a:rPr b="1" lang="en-US" sz="2500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)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1220999" y="2322854"/>
              <a:ext cx="15846000" cy="9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rmAutofit/>
            </a:bodyPr>
            <a:lstStyle/>
            <a:p>
              <a:pPr indent="-212090" lvl="0" marL="18669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500"/>
                <a:buFont typeface="Georgia"/>
                <a:buChar char="○"/>
              </a:pPr>
              <a:r>
                <a:rPr b="0" i="0" lang="en-US" sz="2500" u="none" cap="none" strike="noStrike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The public hand-history dataset we </a:t>
              </a:r>
              <a:r>
                <a:rPr lang="en-US" sz="2500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collected data from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7350" lvl="1" marL="91440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500"/>
                <a:buFont typeface="Georgia"/>
                <a:buChar char="○"/>
              </a:pPr>
              <a:r>
                <a:rPr b="0" i="0" lang="en-US" sz="2500" u="none" cap="none" strike="noStrike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poker.cs.ualberta.ca/ircpokerdatabase.html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3"/>
          <p:cNvGrpSpPr/>
          <p:nvPr/>
        </p:nvGrpSpPr>
        <p:grpSpPr>
          <a:xfrm>
            <a:off x="1220999" y="3792975"/>
            <a:ext cx="15846000" cy="1892439"/>
            <a:chOff x="1220999" y="3792975"/>
            <a:chExt cx="15846000" cy="1892439"/>
          </a:xfrm>
        </p:grpSpPr>
        <p:sp>
          <p:nvSpPr>
            <p:cNvPr id="312" name="Google Shape;312;p3"/>
            <p:cNvSpPr/>
            <p:nvPr/>
          </p:nvSpPr>
          <p:spPr>
            <a:xfrm>
              <a:off x="1276224" y="3792975"/>
              <a:ext cx="9396000" cy="3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rmAutofit/>
            </a:bodyPr>
            <a:lstStyle/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100"/>
                <a:buFont typeface="Georgia"/>
                <a:buNone/>
              </a:pPr>
              <a:r>
                <a:rPr b="1" lang="en-US" sz="2500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Categorizing Players Using VPIP/PFR Heuristics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1220999" y="4258914"/>
              <a:ext cx="15846000" cy="142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rmAutofit/>
            </a:bodyPr>
            <a:lstStyle/>
            <a:p>
              <a:pPr indent="-212090" lvl="0" marL="18669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500"/>
                <a:buFont typeface="Georgia"/>
                <a:buChar char="○"/>
              </a:pPr>
              <a:r>
                <a:rPr b="0" i="0" lang="en-US" sz="2500" u="none" cap="none" strike="noStrike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Long-standing practice in the poker community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12090" lvl="0" marL="18669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500"/>
                <a:buFont typeface="Georgia"/>
                <a:buChar char="○"/>
              </a:pPr>
              <a:r>
                <a:rPr b="0" i="0" lang="en-US" sz="2500" u="none" cap="none" strike="noStrike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Players are sorted into TAG, LAG, Fish, and Rock using </a:t>
              </a:r>
              <a:r>
                <a:rPr lang="en-US" sz="2500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fixed </a:t>
              </a:r>
              <a:br>
                <a:rPr lang="en-US" sz="2500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</a:br>
              <a:r>
                <a:rPr lang="en-US" sz="2500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ranges given by calculating different </a:t>
              </a:r>
              <a:r>
                <a:rPr lang="en-US" sz="2500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statistics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12090" lvl="0" marL="18669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500"/>
                <a:buFont typeface="Georgia"/>
                <a:buChar char="○"/>
              </a:pPr>
              <a:r>
                <a:rPr b="0" i="0" lang="en-US" sz="2500" u="none" cap="none" strike="noStrike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This is our </a:t>
              </a:r>
              <a:r>
                <a:rPr b="1" lang="en-US" sz="2500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ground truth</a:t>
              </a:r>
              <a:endParaRPr b="1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4" name="Google Shape;314;p3"/>
          <p:cNvGrpSpPr/>
          <p:nvPr/>
        </p:nvGrpSpPr>
        <p:grpSpPr>
          <a:xfrm>
            <a:off x="1220949" y="6887813"/>
            <a:ext cx="15846000" cy="1401079"/>
            <a:chOff x="1220999" y="6720725"/>
            <a:chExt cx="15846000" cy="1401079"/>
          </a:xfrm>
        </p:grpSpPr>
        <p:sp>
          <p:nvSpPr>
            <p:cNvPr id="315" name="Google Shape;315;p3"/>
            <p:cNvSpPr/>
            <p:nvPr/>
          </p:nvSpPr>
          <p:spPr>
            <a:xfrm>
              <a:off x="1335268" y="6720725"/>
              <a:ext cx="7587000" cy="3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rmAutofit/>
            </a:bodyPr>
            <a:lstStyle/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100"/>
                <a:buFont typeface="Georgia"/>
                <a:buNone/>
              </a:pPr>
              <a:r>
                <a:rPr b="1" i="0" lang="en-US" sz="2500" u="none" cap="none" strike="noStrike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K-Means clustering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1220999" y="7196304"/>
              <a:ext cx="15846000" cy="9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rmAutofit/>
            </a:bodyPr>
            <a:lstStyle/>
            <a:p>
              <a:pPr indent="-212090" lvl="0" marL="18669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500"/>
                <a:buFont typeface="Georgia"/>
                <a:buChar char="○"/>
              </a:pPr>
              <a:r>
                <a:rPr b="0" i="0" lang="en-US" sz="2500" u="none" cap="none" strike="noStrike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Standard unsupervised method for grouping similar items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12090" lvl="0" marL="18669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500"/>
                <a:buFont typeface="Georgia"/>
                <a:buChar char="○"/>
              </a:pPr>
              <a:r>
                <a:rPr b="0" i="0" lang="en-US" sz="2500" u="none" cap="none" strike="noStrike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We apply it to player</a:t>
              </a:r>
              <a:r>
                <a:rPr lang="en-US" sz="2500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s’ </a:t>
              </a:r>
              <a:r>
                <a:rPr b="0" i="0" lang="en-US" sz="2500" u="none" cap="none" strike="noStrike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VPIP and PFR values and compare it </a:t>
              </a:r>
              <a:br>
                <a:rPr b="0" i="0" lang="en-US" sz="2500" u="none" cap="none" strike="noStrike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</a:br>
              <a:r>
                <a:rPr b="0" i="0" lang="en-US" sz="2500" u="none" cap="none" strike="noStrike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to the heuristic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7" name="Google Shape;317;p3"/>
          <p:cNvSpPr/>
          <p:nvPr/>
        </p:nvSpPr>
        <p:spPr>
          <a:xfrm>
            <a:off x="1047640" y="9491267"/>
            <a:ext cx="16192613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8875" y="375191"/>
            <a:ext cx="1261872" cy="1261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8234" y="5952786"/>
            <a:ext cx="6762016" cy="32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"/>
          <p:cNvSpPr/>
          <p:nvPr/>
        </p:nvSpPr>
        <p:spPr>
          <a:xfrm>
            <a:off x="1047640" y="761890"/>
            <a:ext cx="16678391" cy="5638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Methodology</a:t>
            </a:r>
            <a:r>
              <a:rPr lang="en-US" sz="36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b="0" i="0" lang="en-US" sz="3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Data &amp; Features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"/>
          <p:cNvSpPr/>
          <p:nvPr/>
        </p:nvSpPr>
        <p:spPr>
          <a:xfrm>
            <a:off x="1047640" y="1554317"/>
            <a:ext cx="16192613" cy="1411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"/>
          <p:cNvSpPr/>
          <p:nvPr/>
        </p:nvSpPr>
        <p:spPr>
          <a:xfrm>
            <a:off x="1047640" y="1835106"/>
            <a:ext cx="8064460" cy="4523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Steps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"/>
          <p:cNvSpPr/>
          <p:nvPr/>
        </p:nvSpPr>
        <p:spPr>
          <a:xfrm>
            <a:off x="1165650" y="2363600"/>
            <a:ext cx="79374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Find every player log file across the human Hold'em channels: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○"/>
            </a:pP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83,815 files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"/>
          <p:cNvSpPr/>
          <p:nvPr/>
        </p:nvSpPr>
        <p:spPr>
          <a:xfrm>
            <a:off x="1165662" y="3251068"/>
            <a:ext cx="7937297" cy="8113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Parse each line into a record: player, hand id, position, and the action string for each round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"/>
          <p:cNvSpPr/>
          <p:nvPr/>
        </p:nvSpPr>
        <p:spPr>
          <a:xfrm>
            <a:off x="1209147" y="4206750"/>
            <a:ext cx="7937400" cy="48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6195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From the preflop action string, compute two flags per hand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○"/>
            </a:pPr>
            <a:r>
              <a:rPr b="1"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VPIP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: percentage of hands in which player voluntarily puts money into the pot preflop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2" marL="13716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■"/>
            </a:pP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How “tightly” a person plays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○"/>
            </a:pPr>
            <a:r>
              <a:rPr b="1"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PFR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: percentage of hands player makes preflop raise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Add up flags per player to get VPIP and PFR percentages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Keep only player with at least 30 hands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Standardize VPIP and PFR before clustering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1" name="Google Shape;331;p4"/>
          <p:cNvSpPr/>
          <p:nvPr/>
        </p:nvSpPr>
        <p:spPr>
          <a:xfrm>
            <a:off x="9410569" y="1835106"/>
            <a:ext cx="80646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Filtering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"/>
          <p:cNvSpPr/>
          <p:nvPr/>
        </p:nvSpPr>
        <p:spPr>
          <a:xfrm>
            <a:off x="9528591" y="2363611"/>
            <a:ext cx="7937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Players before filter: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24,786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"/>
          <p:cNvSpPr/>
          <p:nvPr/>
        </p:nvSpPr>
        <p:spPr>
          <a:xfrm>
            <a:off x="9528591" y="2864446"/>
            <a:ext cx="7937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Removed (less than 30 hands):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8,347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"/>
          <p:cNvSpPr/>
          <p:nvPr/>
        </p:nvSpPr>
        <p:spPr>
          <a:xfrm>
            <a:off x="9528591" y="3365280"/>
            <a:ext cx="7937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Players used for clustering: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16,439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"/>
          <p:cNvSpPr/>
          <p:nvPr/>
        </p:nvSpPr>
        <p:spPr>
          <a:xfrm>
            <a:off x="9410569" y="3942292"/>
            <a:ext cx="80646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Channels included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"/>
          <p:cNvSpPr/>
          <p:nvPr/>
        </p:nvSpPr>
        <p:spPr>
          <a:xfrm>
            <a:off x="9528591" y="4470797"/>
            <a:ext cx="77880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holdem, holdem1, holdemii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"/>
          <p:cNvSpPr/>
          <p:nvPr/>
        </p:nvSpPr>
        <p:spPr>
          <a:xfrm>
            <a:off x="1047640" y="9159766"/>
            <a:ext cx="16192613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0269" y="5088775"/>
            <a:ext cx="6112457" cy="392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28688" y="375185"/>
            <a:ext cx="1162250" cy="1261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9850" y="376175"/>
            <a:ext cx="1119925" cy="1259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"/>
          <p:cNvSpPr/>
          <p:nvPr/>
        </p:nvSpPr>
        <p:spPr>
          <a:xfrm>
            <a:off x="1047640" y="761890"/>
            <a:ext cx="16678391" cy="5638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Methodology</a:t>
            </a:r>
            <a:r>
              <a:rPr lang="en-US" sz="36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b="0" i="0" lang="en-US" sz="3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Two Approaches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5"/>
          <p:cNvSpPr/>
          <p:nvPr/>
        </p:nvSpPr>
        <p:spPr>
          <a:xfrm>
            <a:off x="1047640" y="1554317"/>
            <a:ext cx="16192613" cy="1411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"/>
          <p:cNvSpPr/>
          <p:nvPr/>
        </p:nvSpPr>
        <p:spPr>
          <a:xfrm>
            <a:off x="1047640" y="1835106"/>
            <a:ext cx="8064460" cy="4523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b="1" lang="en-US" sz="225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) </a:t>
            </a: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Heuristic baseline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5"/>
          <p:cNvSpPr/>
          <p:nvPr/>
        </p:nvSpPr>
        <p:spPr>
          <a:xfrm>
            <a:off x="1165662" y="2363611"/>
            <a:ext cx="7937297" cy="42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Fixed cut-offs: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VPIP = 25%, PFR = 15%.</a:t>
            </a:r>
            <a:endParaRPr b="0" i="0" sz="2100" u="none" cap="none" strike="noStrike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0" name="Google Shape;350;p5"/>
          <p:cNvSpPr/>
          <p:nvPr/>
        </p:nvSpPr>
        <p:spPr>
          <a:xfrm>
            <a:off x="1200100" y="5264552"/>
            <a:ext cx="5672400" cy="3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Each player goes into one of four 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categories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endParaRPr b="0" i="0" sz="2100" u="none" cap="none" strike="noStrike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○"/>
            </a:pPr>
            <a:r>
              <a:rPr b="1"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TAG: 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tight, aggressive 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○"/>
            </a:pPr>
            <a:r>
              <a:rPr b="1"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LAG: 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loose, agressive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○"/>
            </a:pPr>
            <a:r>
              <a:rPr b="1"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Fish: 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loose, passive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○"/>
            </a:pPr>
            <a:r>
              <a:rPr b="1"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Rock: 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tight, passive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Same cutoff applies to everyone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1" name="Google Shape;351;p5"/>
          <p:cNvSpPr/>
          <p:nvPr/>
        </p:nvSpPr>
        <p:spPr>
          <a:xfrm>
            <a:off x="9410569" y="1835106"/>
            <a:ext cx="8064574" cy="4523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r>
              <a:rPr b="1" lang="en-US" sz="225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) </a:t>
            </a: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K-Means clustering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5"/>
          <p:cNvSpPr/>
          <p:nvPr/>
        </p:nvSpPr>
        <p:spPr>
          <a:xfrm>
            <a:off x="9528591" y="2363611"/>
            <a:ext cx="7787861" cy="8113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Splits players into K groups by minimizing within-group distance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5"/>
          <p:cNvSpPr/>
          <p:nvPr/>
        </p:nvSpPr>
        <p:spPr>
          <a:xfrm>
            <a:off x="9997776" y="3346318"/>
            <a:ext cx="3242100" cy="8172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5"/>
          <p:cNvSpPr/>
          <p:nvPr/>
        </p:nvSpPr>
        <p:spPr>
          <a:xfrm>
            <a:off x="10233432" y="3505774"/>
            <a:ext cx="2868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Times New Roman"/>
              <a:buNone/>
            </a:pPr>
            <a:r>
              <a:rPr b="0" i="1" lang="en-US" sz="2250" u="none" cap="none" strike="noStrike">
                <a:solidFill>
                  <a:srgbClr val="111111"/>
                </a:solidFill>
                <a:highlight>
                  <a:srgbClr val="FAFAF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 = Σ</a:t>
            </a:r>
            <a:r>
              <a:rPr b="0" baseline="-25000" i="1" lang="en-US" sz="1875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b="0" i="1" lang="en-US" sz="2250" u="none" cap="none" strike="noStrike">
                <a:solidFill>
                  <a:srgbClr val="111111"/>
                </a:solidFill>
                <a:highlight>
                  <a:srgbClr val="FAFAF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r>
              <a:rPr b="0" baseline="-25000" i="1" lang="en-US" sz="1875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∈ C</a:t>
            </a:r>
            <a:r>
              <a:rPr b="0" baseline="-25000" i="1" lang="en-US" sz="1562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b="0" i="1" lang="en-US" sz="2250" u="none" cap="none" strike="noStrike">
                <a:solidFill>
                  <a:srgbClr val="111111"/>
                </a:solidFill>
                <a:highlight>
                  <a:srgbClr val="FAFAF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‖ x − μ</a:t>
            </a:r>
            <a:r>
              <a:rPr b="0" baseline="-25000" i="1" lang="en-US" sz="1875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b="0" i="1" lang="en-US" sz="2250" u="none" cap="none" strike="noStrike">
                <a:solidFill>
                  <a:srgbClr val="111111"/>
                </a:solidFill>
                <a:highlight>
                  <a:srgbClr val="FAFAF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‖²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5"/>
          <p:cNvSpPr/>
          <p:nvPr/>
        </p:nvSpPr>
        <p:spPr>
          <a:xfrm>
            <a:off x="9528591" y="4315796"/>
            <a:ext cx="7937411" cy="42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Final model uses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K = 4 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to match the four poker archetypes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5"/>
          <p:cNvSpPr/>
          <p:nvPr/>
        </p:nvSpPr>
        <p:spPr>
          <a:xfrm>
            <a:off x="9528600" y="4816618"/>
            <a:ext cx="79374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Also tested K = 2 to 8 to check what the data prefers</a:t>
            </a:r>
            <a:endParaRPr b="0" i="0" sz="2100" u="none" cap="none" strike="noStrike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○"/>
            </a:pP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elbow method, 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silhouette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score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7" name="Google Shape;357;p5"/>
          <p:cNvSpPr/>
          <p:nvPr/>
        </p:nvSpPr>
        <p:spPr>
          <a:xfrm>
            <a:off x="9528600" y="5839425"/>
            <a:ext cx="7937400" cy="25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Built with scikit-learn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○"/>
            </a:pP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n_init = 20 </a:t>
            </a:r>
            <a:r>
              <a:rPr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(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Run 20 consecutive times with 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random centroid initialization</a:t>
            </a:r>
            <a:r>
              <a:rPr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i="0" sz="2100" u="none" cap="none" strike="noStrike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Cluster quality measured by Silhouette Score (range −1 to +1; higher is better)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8" name="Google Shape;358;p5"/>
          <p:cNvSpPr/>
          <p:nvPr/>
        </p:nvSpPr>
        <p:spPr>
          <a:xfrm>
            <a:off x="1047640" y="9159766"/>
            <a:ext cx="16192613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59" name="Google Shape;359;p5"/>
          <p:cNvGraphicFramePr/>
          <p:nvPr/>
        </p:nvGraphicFramePr>
        <p:xfrm>
          <a:off x="1272063" y="289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{7C1ECD97-6C2D-4FC2-9158-60245B24DD59}</a:tableStyleId>
              </a:tblPr>
              <a:tblGrid>
                <a:gridCol w="1842825"/>
                <a:gridCol w="1842825"/>
                <a:gridCol w="1842825"/>
              </a:tblGrid>
              <a:tr h="3810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VPIP</a:t>
                      </a:r>
                      <a:endParaRPr b="1" sz="17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&lt; 25%</a:t>
                      </a:r>
                      <a:endParaRPr sz="17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Tight</a:t>
                      </a:r>
                      <a:endParaRPr sz="17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&gt;= 25%</a:t>
                      </a:r>
                      <a:endParaRPr sz="17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Loose</a:t>
                      </a:r>
                      <a:endParaRPr sz="17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PFR</a:t>
                      </a:r>
                      <a:endParaRPr b="1" sz="17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&lt; 15%</a:t>
                      </a:r>
                      <a:endParaRPr sz="17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Passive</a:t>
                      </a:r>
                      <a:endParaRPr sz="17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&gt;= 15%</a:t>
                      </a:r>
                      <a:endParaRPr sz="17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Aggressive</a:t>
                      </a:r>
                      <a:endParaRPr sz="17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8877" y="375188"/>
            <a:ext cx="1261872" cy="126187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6"/>
          <p:cNvSpPr/>
          <p:nvPr/>
        </p:nvSpPr>
        <p:spPr>
          <a:xfrm>
            <a:off x="1047640" y="761890"/>
            <a:ext cx="16678391" cy="5638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Results</a:t>
            </a:r>
            <a:r>
              <a:rPr lang="en-US" sz="36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b="0" i="0" lang="en-US" sz="3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Feature Distributions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6"/>
          <p:cNvSpPr/>
          <p:nvPr/>
        </p:nvSpPr>
        <p:spPr>
          <a:xfrm>
            <a:off x="1047640" y="1554317"/>
            <a:ext cx="16192613" cy="1411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6"/>
          <p:cNvSpPr/>
          <p:nvPr/>
        </p:nvSpPr>
        <p:spPr>
          <a:xfrm>
            <a:off x="3065597" y="4547637"/>
            <a:ext cx="4166390" cy="3696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Georgia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6"/>
          <p:cNvSpPr/>
          <p:nvPr/>
        </p:nvSpPr>
        <p:spPr>
          <a:xfrm>
            <a:off x="3526837" y="4993350"/>
            <a:ext cx="3244020" cy="7560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950"/>
              <a:buFont typeface="Georgia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6"/>
          <p:cNvSpPr/>
          <p:nvPr/>
        </p:nvSpPr>
        <p:spPr>
          <a:xfrm>
            <a:off x="2841561" y="5863608"/>
            <a:ext cx="4614573" cy="70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800"/>
              <a:buFont typeface="Georgia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6"/>
          <p:cNvSpPr/>
          <p:nvPr/>
        </p:nvSpPr>
        <p:spPr>
          <a:xfrm>
            <a:off x="9783411" y="1835106"/>
            <a:ext cx="7680547" cy="4523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Quick stats (n = 16,439)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6"/>
          <p:cNvSpPr/>
          <p:nvPr/>
        </p:nvSpPr>
        <p:spPr>
          <a:xfrm>
            <a:off x="9901433" y="2363611"/>
            <a:ext cx="7553383" cy="42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VPIP: 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mean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51.08%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, std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19.14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6"/>
          <p:cNvSpPr/>
          <p:nvPr/>
        </p:nvSpPr>
        <p:spPr>
          <a:xfrm>
            <a:off x="9901433" y="2864446"/>
            <a:ext cx="7553383" cy="42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PFR: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mean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15.01%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, std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16.64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6"/>
          <p:cNvSpPr/>
          <p:nvPr/>
        </p:nvSpPr>
        <p:spPr>
          <a:xfrm>
            <a:off x="9901433" y="3365280"/>
            <a:ext cx="7553383" cy="42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Hands per player: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median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225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, max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280,960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6"/>
          <p:cNvSpPr/>
          <p:nvPr/>
        </p:nvSpPr>
        <p:spPr>
          <a:xfrm>
            <a:off x="9901433" y="3866114"/>
            <a:ext cx="7553383" cy="42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Correlation VPIP vs PFR: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0.485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6"/>
          <p:cNvSpPr/>
          <p:nvPr/>
        </p:nvSpPr>
        <p:spPr>
          <a:xfrm>
            <a:off x="9783411" y="4443126"/>
            <a:ext cx="7680547" cy="4523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Sanity checks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6"/>
          <p:cNvSpPr/>
          <p:nvPr/>
        </p:nvSpPr>
        <p:spPr>
          <a:xfrm>
            <a:off x="9901433" y="4971632"/>
            <a:ext cx="7553383" cy="42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PFR &gt; VPIP violations: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 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(should be 0)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6"/>
          <p:cNvSpPr/>
          <p:nvPr/>
        </p:nvSpPr>
        <p:spPr>
          <a:xfrm>
            <a:off x="9901433" y="5472466"/>
            <a:ext cx="7553383" cy="42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Duplicate player rows: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6"/>
          <p:cNvSpPr/>
          <p:nvPr/>
        </p:nvSpPr>
        <p:spPr>
          <a:xfrm>
            <a:off x="9783411" y="6049478"/>
            <a:ext cx="7680547" cy="4523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Heuristic label counts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"/>
          <p:cNvSpPr/>
          <p:nvPr/>
        </p:nvSpPr>
        <p:spPr>
          <a:xfrm>
            <a:off x="9901433" y="6577983"/>
            <a:ext cx="7553383" cy="42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Fish: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10,140 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· LAG: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5,225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6"/>
          <p:cNvSpPr/>
          <p:nvPr/>
        </p:nvSpPr>
        <p:spPr>
          <a:xfrm>
            <a:off x="9901433" y="7078818"/>
            <a:ext cx="7553383" cy="42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Rock: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1,042 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· TAG: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32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6"/>
          <p:cNvSpPr/>
          <p:nvPr/>
        </p:nvSpPr>
        <p:spPr>
          <a:xfrm>
            <a:off x="1047640" y="9159766"/>
            <a:ext cx="16192613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3" name="Google Shape;383;p6"/>
          <p:cNvPicPr preferRelativeResize="0"/>
          <p:nvPr/>
        </p:nvPicPr>
        <p:blipFill rotWithShape="1">
          <a:blip r:embed="rId4">
            <a:alphaModFix/>
          </a:blip>
          <a:srcRect b="0" l="0" r="66483" t="0"/>
          <a:stretch/>
        </p:blipFill>
        <p:spPr>
          <a:xfrm>
            <a:off x="1756163" y="1786025"/>
            <a:ext cx="5549576" cy="375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6"/>
          <p:cNvPicPr preferRelativeResize="0"/>
          <p:nvPr/>
        </p:nvPicPr>
        <p:blipFill rotWithShape="1">
          <a:blip r:embed="rId4">
            <a:alphaModFix/>
          </a:blip>
          <a:srcRect b="0" l="32164" r="33254" t="0"/>
          <a:stretch/>
        </p:blipFill>
        <p:spPr>
          <a:xfrm>
            <a:off x="1756162" y="5591499"/>
            <a:ext cx="5549576" cy="3642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7"/>
          <p:cNvSpPr/>
          <p:nvPr/>
        </p:nvSpPr>
        <p:spPr>
          <a:xfrm>
            <a:off x="1047640" y="761890"/>
            <a:ext cx="16678391" cy="5638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Results</a:t>
            </a:r>
            <a:r>
              <a:rPr lang="en-US" sz="36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b="0" i="0" lang="en-US" sz="3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Choosing 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1047640" y="1554317"/>
            <a:ext cx="16192613" cy="1411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7"/>
          <p:cNvSpPr/>
          <p:nvPr/>
        </p:nvSpPr>
        <p:spPr>
          <a:xfrm>
            <a:off x="2981396" y="4578695"/>
            <a:ext cx="3746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675" lIns="22675" spcFirstLastPara="1" rIns="22675" wrap="square" tIns="22675">
            <a:norm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6"/>
              <a:buFont typeface="Georgia"/>
              <a:buNone/>
            </a:pPr>
            <a:r>
              <a:rPr b="1" i="0" lang="en-US" sz="1606" u="none" cap="none" strike="noStrike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 ]</a:t>
            </a:r>
            <a:endParaRPr b="0" i="0" sz="16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7"/>
          <p:cNvSpPr/>
          <p:nvPr/>
        </p:nvSpPr>
        <p:spPr>
          <a:xfrm>
            <a:off x="9410569" y="1835106"/>
            <a:ext cx="8064574" cy="4523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Scores for K = 2 to 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9410569" y="2794662"/>
            <a:ext cx="430800" cy="14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7"/>
          <p:cNvSpPr/>
          <p:nvPr/>
        </p:nvSpPr>
        <p:spPr>
          <a:xfrm>
            <a:off x="9562969" y="2347736"/>
            <a:ext cx="278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9841399" y="2794662"/>
            <a:ext cx="1330500" cy="14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7"/>
          <p:cNvSpPr/>
          <p:nvPr/>
        </p:nvSpPr>
        <p:spPr>
          <a:xfrm>
            <a:off x="9993799" y="2347736"/>
            <a:ext cx="11781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Inertia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11172033" y="2794662"/>
            <a:ext cx="1535100" cy="14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7"/>
          <p:cNvSpPr/>
          <p:nvPr/>
        </p:nvSpPr>
        <p:spPr>
          <a:xfrm>
            <a:off x="11324433" y="2347736"/>
            <a:ext cx="13827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Silhouette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9410569" y="3361532"/>
            <a:ext cx="4308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7"/>
          <p:cNvSpPr/>
          <p:nvPr/>
        </p:nvSpPr>
        <p:spPr>
          <a:xfrm>
            <a:off x="9562969" y="2904023"/>
            <a:ext cx="2784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9841399" y="3361532"/>
            <a:ext cx="13305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7"/>
          <p:cNvSpPr/>
          <p:nvPr/>
        </p:nvSpPr>
        <p:spPr>
          <a:xfrm>
            <a:off x="9993799" y="2904023"/>
            <a:ext cx="1178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18,086.23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7"/>
          <p:cNvSpPr/>
          <p:nvPr/>
        </p:nvSpPr>
        <p:spPr>
          <a:xfrm>
            <a:off x="11172033" y="3361532"/>
            <a:ext cx="15351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7"/>
          <p:cNvSpPr/>
          <p:nvPr/>
        </p:nvSpPr>
        <p:spPr>
          <a:xfrm>
            <a:off x="11324433" y="2904023"/>
            <a:ext cx="1382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0.4917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9410569" y="3917818"/>
            <a:ext cx="4308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7"/>
          <p:cNvSpPr/>
          <p:nvPr/>
        </p:nvSpPr>
        <p:spPr>
          <a:xfrm>
            <a:off x="9562969" y="3463837"/>
            <a:ext cx="278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7"/>
          <p:cNvSpPr/>
          <p:nvPr/>
        </p:nvSpPr>
        <p:spPr>
          <a:xfrm>
            <a:off x="9841399" y="3917818"/>
            <a:ext cx="13305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7"/>
          <p:cNvSpPr/>
          <p:nvPr/>
        </p:nvSpPr>
        <p:spPr>
          <a:xfrm>
            <a:off x="9993799" y="3463837"/>
            <a:ext cx="1178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10,067.76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11172033" y="3917818"/>
            <a:ext cx="15351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7"/>
          <p:cNvSpPr/>
          <p:nvPr/>
        </p:nvSpPr>
        <p:spPr>
          <a:xfrm>
            <a:off x="11324433" y="3463837"/>
            <a:ext cx="1382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0.4516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9410569" y="4474105"/>
            <a:ext cx="4308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7"/>
          <p:cNvSpPr/>
          <p:nvPr/>
        </p:nvSpPr>
        <p:spPr>
          <a:xfrm>
            <a:off x="9562969" y="4020124"/>
            <a:ext cx="278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7"/>
          <p:cNvSpPr/>
          <p:nvPr/>
        </p:nvSpPr>
        <p:spPr>
          <a:xfrm>
            <a:off x="9841399" y="4474105"/>
            <a:ext cx="13305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7"/>
          <p:cNvSpPr/>
          <p:nvPr/>
        </p:nvSpPr>
        <p:spPr>
          <a:xfrm>
            <a:off x="9993799" y="4020124"/>
            <a:ext cx="1178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7,730.94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7"/>
          <p:cNvSpPr/>
          <p:nvPr/>
        </p:nvSpPr>
        <p:spPr>
          <a:xfrm>
            <a:off x="11172033" y="4474105"/>
            <a:ext cx="15351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7"/>
          <p:cNvSpPr/>
          <p:nvPr/>
        </p:nvSpPr>
        <p:spPr>
          <a:xfrm>
            <a:off x="11324433" y="4020124"/>
            <a:ext cx="1382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0.4420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7"/>
          <p:cNvSpPr/>
          <p:nvPr/>
        </p:nvSpPr>
        <p:spPr>
          <a:xfrm>
            <a:off x="9410569" y="5030391"/>
            <a:ext cx="4308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7"/>
          <p:cNvSpPr/>
          <p:nvPr/>
        </p:nvSpPr>
        <p:spPr>
          <a:xfrm>
            <a:off x="9562969" y="4576410"/>
            <a:ext cx="278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7"/>
          <p:cNvSpPr/>
          <p:nvPr/>
        </p:nvSpPr>
        <p:spPr>
          <a:xfrm>
            <a:off x="9841399" y="5030391"/>
            <a:ext cx="13305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7"/>
          <p:cNvSpPr/>
          <p:nvPr/>
        </p:nvSpPr>
        <p:spPr>
          <a:xfrm>
            <a:off x="9993799" y="4576410"/>
            <a:ext cx="1178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5,781.48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7"/>
          <p:cNvSpPr/>
          <p:nvPr/>
        </p:nvSpPr>
        <p:spPr>
          <a:xfrm>
            <a:off x="11172033" y="5030391"/>
            <a:ext cx="15351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7"/>
          <p:cNvSpPr/>
          <p:nvPr/>
        </p:nvSpPr>
        <p:spPr>
          <a:xfrm>
            <a:off x="11324433" y="4576410"/>
            <a:ext cx="1382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0.3816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7"/>
          <p:cNvSpPr/>
          <p:nvPr/>
        </p:nvSpPr>
        <p:spPr>
          <a:xfrm>
            <a:off x="9410569" y="5586678"/>
            <a:ext cx="4308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7"/>
          <p:cNvSpPr/>
          <p:nvPr/>
        </p:nvSpPr>
        <p:spPr>
          <a:xfrm>
            <a:off x="9562969" y="5132697"/>
            <a:ext cx="278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9841399" y="5586678"/>
            <a:ext cx="13305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7"/>
          <p:cNvSpPr/>
          <p:nvPr/>
        </p:nvSpPr>
        <p:spPr>
          <a:xfrm>
            <a:off x="9993799" y="5132697"/>
            <a:ext cx="1178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4,775.33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7"/>
          <p:cNvSpPr/>
          <p:nvPr/>
        </p:nvSpPr>
        <p:spPr>
          <a:xfrm>
            <a:off x="11172033" y="5586678"/>
            <a:ext cx="15351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7"/>
          <p:cNvSpPr/>
          <p:nvPr/>
        </p:nvSpPr>
        <p:spPr>
          <a:xfrm>
            <a:off x="11324433" y="5132697"/>
            <a:ext cx="1382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0.3909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7"/>
          <p:cNvSpPr/>
          <p:nvPr/>
        </p:nvSpPr>
        <p:spPr>
          <a:xfrm>
            <a:off x="9410569" y="6142964"/>
            <a:ext cx="4308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7"/>
          <p:cNvSpPr/>
          <p:nvPr/>
        </p:nvSpPr>
        <p:spPr>
          <a:xfrm>
            <a:off x="9562969" y="5688983"/>
            <a:ext cx="278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7"/>
          <p:cNvSpPr/>
          <p:nvPr/>
        </p:nvSpPr>
        <p:spPr>
          <a:xfrm>
            <a:off x="9841399" y="6142964"/>
            <a:ext cx="13305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7"/>
          <p:cNvSpPr/>
          <p:nvPr/>
        </p:nvSpPr>
        <p:spPr>
          <a:xfrm>
            <a:off x="9993799" y="5688983"/>
            <a:ext cx="1178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4,038.98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7"/>
          <p:cNvSpPr/>
          <p:nvPr/>
        </p:nvSpPr>
        <p:spPr>
          <a:xfrm>
            <a:off x="11172033" y="6142964"/>
            <a:ext cx="15351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7"/>
          <p:cNvSpPr/>
          <p:nvPr/>
        </p:nvSpPr>
        <p:spPr>
          <a:xfrm>
            <a:off x="11324433" y="5688983"/>
            <a:ext cx="1382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0.3588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7"/>
          <p:cNvSpPr/>
          <p:nvPr/>
        </p:nvSpPr>
        <p:spPr>
          <a:xfrm>
            <a:off x="9410569" y="6810376"/>
            <a:ext cx="43083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7"/>
          <p:cNvSpPr/>
          <p:nvPr/>
        </p:nvSpPr>
        <p:spPr>
          <a:xfrm>
            <a:off x="9562969" y="6245270"/>
            <a:ext cx="278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7"/>
          <p:cNvSpPr/>
          <p:nvPr/>
        </p:nvSpPr>
        <p:spPr>
          <a:xfrm>
            <a:off x="9841399" y="6810376"/>
            <a:ext cx="1330634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7"/>
          <p:cNvSpPr/>
          <p:nvPr/>
        </p:nvSpPr>
        <p:spPr>
          <a:xfrm>
            <a:off x="9993799" y="6245270"/>
            <a:ext cx="1178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3,518.03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7"/>
          <p:cNvSpPr/>
          <p:nvPr/>
        </p:nvSpPr>
        <p:spPr>
          <a:xfrm>
            <a:off x="11172033" y="6810376"/>
            <a:ext cx="153513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7"/>
          <p:cNvSpPr/>
          <p:nvPr/>
        </p:nvSpPr>
        <p:spPr>
          <a:xfrm>
            <a:off x="11324433" y="6245270"/>
            <a:ext cx="1382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0.3602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7"/>
          <p:cNvSpPr/>
          <p:nvPr/>
        </p:nvSpPr>
        <p:spPr>
          <a:xfrm>
            <a:off x="9410569" y="6973315"/>
            <a:ext cx="8064574" cy="4523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What we picked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7"/>
          <p:cNvSpPr/>
          <p:nvPr/>
        </p:nvSpPr>
        <p:spPr>
          <a:xfrm>
            <a:off x="9528591" y="7501821"/>
            <a:ext cx="7937411" cy="42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Best by silhouette: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K = 2 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(0.4917)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7"/>
          <p:cNvSpPr/>
          <p:nvPr/>
        </p:nvSpPr>
        <p:spPr>
          <a:xfrm>
            <a:off x="9528591" y="8002655"/>
            <a:ext cx="7937411" cy="8113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Final reported model: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K = 4 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(0.4420)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to match the four poker archetypes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7"/>
          <p:cNvSpPr/>
          <p:nvPr/>
        </p:nvSpPr>
        <p:spPr>
          <a:xfrm>
            <a:off x="9528591" y="8890111"/>
            <a:ext cx="7937411" cy="42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Scores drop after K = 5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more groups don't help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7"/>
          <p:cNvSpPr/>
          <p:nvPr/>
        </p:nvSpPr>
        <p:spPr>
          <a:xfrm>
            <a:off x="1047640" y="9491267"/>
            <a:ext cx="16192613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7" name="Google Shape;447;p7"/>
          <p:cNvPicPr preferRelativeResize="0"/>
          <p:nvPr/>
        </p:nvPicPr>
        <p:blipFill rotWithShape="1">
          <a:blip r:embed="rId3">
            <a:alphaModFix/>
          </a:blip>
          <a:srcRect b="0" l="2828" r="0" t="0"/>
          <a:stretch/>
        </p:blipFill>
        <p:spPr>
          <a:xfrm>
            <a:off x="1975126" y="1797012"/>
            <a:ext cx="5214306" cy="3314690"/>
          </a:xfrm>
          <a:prstGeom prst="rect">
            <a:avLst/>
          </a:prstGeom>
          <a:solidFill>
            <a:srgbClr val="F6F6F6"/>
          </a:solidFill>
          <a:ln cap="flat" cmpd="sng" w="12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448" name="Google Shape;44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78875" y="375191"/>
            <a:ext cx="1261872" cy="1261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5121" y="5644133"/>
            <a:ext cx="5214307" cy="3314692"/>
          </a:xfrm>
          <a:prstGeom prst="rect">
            <a:avLst/>
          </a:prstGeom>
          <a:solidFill>
            <a:srgbClr val="F6F6F6"/>
          </a:solidFill>
          <a:ln cap="flat" cmpd="sng" w="12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8"/>
          <p:cNvSpPr/>
          <p:nvPr/>
        </p:nvSpPr>
        <p:spPr>
          <a:xfrm>
            <a:off x="1047640" y="761890"/>
            <a:ext cx="16678391" cy="5638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Results</a:t>
            </a:r>
            <a:r>
              <a:rPr lang="en-US" sz="36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b="0" i="0" lang="en-US" sz="3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Final Clusters (K = 4)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1047640" y="1554317"/>
            <a:ext cx="16192613" cy="1411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8"/>
          <p:cNvSpPr/>
          <p:nvPr/>
        </p:nvSpPr>
        <p:spPr>
          <a:xfrm>
            <a:off x="2352633" y="4547637"/>
            <a:ext cx="4198184" cy="3696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[ PLACEHOLDER · FIGURE 3 ]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2559409" y="4993350"/>
            <a:ext cx="3784634" cy="7560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950"/>
              <a:buFont typeface="Georgia"/>
              <a:buNone/>
            </a:pPr>
            <a:r>
              <a:rPr b="0" i="1" lang="en-US" sz="1950" u="none" cap="none" strike="noStrik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rPr>
              <a:t>Cluster scatter plot (VPIP vs PFR, colored by cluster)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2129505" y="5863608"/>
            <a:ext cx="4644550" cy="70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777777"/>
                </a:solidFill>
                <a:latin typeface="Georgia"/>
                <a:ea typeface="Georgia"/>
                <a:cs typeface="Georgia"/>
                <a:sym typeface="Georgia"/>
              </a:rPr>
              <a:t>From: 04-kmeans-all-human-holdem.ipynb "Visualize the Cluster Assignments"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8356989" y="1835106"/>
            <a:ext cx="91164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Cluster centers and sizes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8"/>
          <p:cNvSpPr/>
          <p:nvPr/>
        </p:nvSpPr>
        <p:spPr>
          <a:xfrm>
            <a:off x="8389277" y="2905787"/>
            <a:ext cx="1154100" cy="14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8"/>
          <p:cNvSpPr/>
          <p:nvPr/>
        </p:nvSpPr>
        <p:spPr>
          <a:xfrm>
            <a:off x="8541677" y="2458861"/>
            <a:ext cx="10017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Cluster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9543412" y="2905787"/>
            <a:ext cx="867000" cy="14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8"/>
          <p:cNvSpPr/>
          <p:nvPr/>
        </p:nvSpPr>
        <p:spPr>
          <a:xfrm>
            <a:off x="9695812" y="2458861"/>
            <a:ext cx="7146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Size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8"/>
          <p:cNvSpPr/>
          <p:nvPr/>
        </p:nvSpPr>
        <p:spPr>
          <a:xfrm>
            <a:off x="10410363" y="2905787"/>
            <a:ext cx="874800" cy="14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8"/>
          <p:cNvSpPr/>
          <p:nvPr/>
        </p:nvSpPr>
        <p:spPr>
          <a:xfrm>
            <a:off x="10562763" y="2458861"/>
            <a:ext cx="722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VPIP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11285252" y="2905787"/>
            <a:ext cx="874200" cy="14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8"/>
          <p:cNvSpPr/>
          <p:nvPr/>
        </p:nvSpPr>
        <p:spPr>
          <a:xfrm>
            <a:off x="11437652" y="2458861"/>
            <a:ext cx="7218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PFR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8"/>
          <p:cNvSpPr/>
          <p:nvPr/>
        </p:nvSpPr>
        <p:spPr>
          <a:xfrm>
            <a:off x="8389277" y="3472657"/>
            <a:ext cx="11541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8"/>
          <p:cNvSpPr/>
          <p:nvPr/>
        </p:nvSpPr>
        <p:spPr>
          <a:xfrm>
            <a:off x="8541677" y="3015148"/>
            <a:ext cx="1001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8"/>
          <p:cNvSpPr/>
          <p:nvPr/>
        </p:nvSpPr>
        <p:spPr>
          <a:xfrm>
            <a:off x="9543412" y="3472657"/>
            <a:ext cx="8670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8"/>
          <p:cNvSpPr/>
          <p:nvPr/>
        </p:nvSpPr>
        <p:spPr>
          <a:xfrm>
            <a:off x="9695812" y="3015148"/>
            <a:ext cx="714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8,542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8"/>
          <p:cNvSpPr/>
          <p:nvPr/>
        </p:nvSpPr>
        <p:spPr>
          <a:xfrm>
            <a:off x="10410363" y="3472657"/>
            <a:ext cx="8748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8"/>
          <p:cNvSpPr/>
          <p:nvPr/>
        </p:nvSpPr>
        <p:spPr>
          <a:xfrm>
            <a:off x="10562763" y="3015148"/>
            <a:ext cx="7224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36.11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8"/>
          <p:cNvSpPr/>
          <p:nvPr/>
        </p:nvSpPr>
        <p:spPr>
          <a:xfrm>
            <a:off x="11285252" y="3472657"/>
            <a:ext cx="8742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8"/>
          <p:cNvSpPr/>
          <p:nvPr/>
        </p:nvSpPr>
        <p:spPr>
          <a:xfrm>
            <a:off x="11437652" y="3015148"/>
            <a:ext cx="7218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8.88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8"/>
          <p:cNvSpPr/>
          <p:nvPr/>
        </p:nvSpPr>
        <p:spPr>
          <a:xfrm>
            <a:off x="8389277" y="4028943"/>
            <a:ext cx="11541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8"/>
          <p:cNvSpPr/>
          <p:nvPr/>
        </p:nvSpPr>
        <p:spPr>
          <a:xfrm>
            <a:off x="8541677" y="3574962"/>
            <a:ext cx="1001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8"/>
          <p:cNvSpPr/>
          <p:nvPr/>
        </p:nvSpPr>
        <p:spPr>
          <a:xfrm>
            <a:off x="9543412" y="4028943"/>
            <a:ext cx="8670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8"/>
          <p:cNvSpPr/>
          <p:nvPr/>
        </p:nvSpPr>
        <p:spPr>
          <a:xfrm>
            <a:off x="9695812" y="3574962"/>
            <a:ext cx="714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722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8"/>
          <p:cNvSpPr/>
          <p:nvPr/>
        </p:nvSpPr>
        <p:spPr>
          <a:xfrm>
            <a:off x="10410363" y="4028943"/>
            <a:ext cx="8748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8"/>
          <p:cNvSpPr/>
          <p:nvPr/>
        </p:nvSpPr>
        <p:spPr>
          <a:xfrm>
            <a:off x="10562763" y="3574962"/>
            <a:ext cx="722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84.39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8"/>
          <p:cNvSpPr/>
          <p:nvPr/>
        </p:nvSpPr>
        <p:spPr>
          <a:xfrm>
            <a:off x="11285252" y="4028943"/>
            <a:ext cx="8742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8"/>
          <p:cNvSpPr/>
          <p:nvPr/>
        </p:nvSpPr>
        <p:spPr>
          <a:xfrm>
            <a:off x="11437652" y="3574962"/>
            <a:ext cx="721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74.86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8"/>
          <p:cNvSpPr/>
          <p:nvPr/>
        </p:nvSpPr>
        <p:spPr>
          <a:xfrm>
            <a:off x="8389277" y="4585230"/>
            <a:ext cx="11541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8"/>
          <p:cNvSpPr/>
          <p:nvPr/>
        </p:nvSpPr>
        <p:spPr>
          <a:xfrm>
            <a:off x="8541677" y="4131249"/>
            <a:ext cx="1001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8"/>
          <p:cNvSpPr/>
          <p:nvPr/>
        </p:nvSpPr>
        <p:spPr>
          <a:xfrm>
            <a:off x="9543412" y="4585230"/>
            <a:ext cx="8670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8"/>
          <p:cNvSpPr/>
          <p:nvPr/>
        </p:nvSpPr>
        <p:spPr>
          <a:xfrm>
            <a:off x="9695812" y="4131249"/>
            <a:ext cx="714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4,838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8"/>
          <p:cNvSpPr/>
          <p:nvPr/>
        </p:nvSpPr>
        <p:spPr>
          <a:xfrm>
            <a:off x="10410363" y="4585230"/>
            <a:ext cx="8748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8"/>
          <p:cNvSpPr/>
          <p:nvPr/>
        </p:nvSpPr>
        <p:spPr>
          <a:xfrm>
            <a:off x="10562763" y="4131249"/>
            <a:ext cx="722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65.65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8"/>
          <p:cNvSpPr/>
          <p:nvPr/>
        </p:nvSpPr>
        <p:spPr>
          <a:xfrm>
            <a:off x="11285252" y="4585230"/>
            <a:ext cx="8742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8"/>
          <p:cNvSpPr/>
          <p:nvPr/>
        </p:nvSpPr>
        <p:spPr>
          <a:xfrm>
            <a:off x="11437652" y="4131249"/>
            <a:ext cx="721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8.74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8"/>
          <p:cNvSpPr/>
          <p:nvPr/>
        </p:nvSpPr>
        <p:spPr>
          <a:xfrm>
            <a:off x="8389277" y="5141516"/>
            <a:ext cx="115413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8"/>
          <p:cNvSpPr/>
          <p:nvPr/>
        </p:nvSpPr>
        <p:spPr>
          <a:xfrm>
            <a:off x="8541677" y="4687535"/>
            <a:ext cx="1001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8"/>
          <p:cNvSpPr/>
          <p:nvPr/>
        </p:nvSpPr>
        <p:spPr>
          <a:xfrm>
            <a:off x="9543412" y="5141516"/>
            <a:ext cx="866952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8"/>
          <p:cNvSpPr/>
          <p:nvPr/>
        </p:nvSpPr>
        <p:spPr>
          <a:xfrm>
            <a:off x="9695812" y="4687535"/>
            <a:ext cx="714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2,337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8"/>
          <p:cNvSpPr/>
          <p:nvPr/>
        </p:nvSpPr>
        <p:spPr>
          <a:xfrm>
            <a:off x="10410363" y="5141516"/>
            <a:ext cx="874889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8"/>
          <p:cNvSpPr/>
          <p:nvPr/>
        </p:nvSpPr>
        <p:spPr>
          <a:xfrm>
            <a:off x="10562763" y="4687535"/>
            <a:ext cx="722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65.59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8"/>
          <p:cNvSpPr/>
          <p:nvPr/>
        </p:nvSpPr>
        <p:spPr>
          <a:xfrm>
            <a:off x="11285252" y="5141516"/>
            <a:ext cx="874117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8"/>
          <p:cNvSpPr/>
          <p:nvPr/>
        </p:nvSpPr>
        <p:spPr>
          <a:xfrm>
            <a:off x="11437652" y="4687535"/>
            <a:ext cx="721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32.00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8"/>
          <p:cNvSpPr/>
          <p:nvPr/>
        </p:nvSpPr>
        <p:spPr>
          <a:xfrm>
            <a:off x="12617781" y="1835127"/>
            <a:ext cx="91164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Cluster vs heuristic label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8"/>
          <p:cNvSpPr/>
          <p:nvPr/>
        </p:nvSpPr>
        <p:spPr>
          <a:xfrm>
            <a:off x="12651415" y="2905808"/>
            <a:ext cx="1154100" cy="14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8"/>
          <p:cNvSpPr/>
          <p:nvPr/>
        </p:nvSpPr>
        <p:spPr>
          <a:xfrm>
            <a:off x="12803815" y="2458883"/>
            <a:ext cx="10017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Cluster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8"/>
          <p:cNvSpPr/>
          <p:nvPr/>
        </p:nvSpPr>
        <p:spPr>
          <a:xfrm>
            <a:off x="13805550" y="2905808"/>
            <a:ext cx="864000" cy="14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8"/>
          <p:cNvSpPr/>
          <p:nvPr/>
        </p:nvSpPr>
        <p:spPr>
          <a:xfrm>
            <a:off x="13957950" y="2458883"/>
            <a:ext cx="7116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Fish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8"/>
          <p:cNvSpPr/>
          <p:nvPr/>
        </p:nvSpPr>
        <p:spPr>
          <a:xfrm>
            <a:off x="14669635" y="2905808"/>
            <a:ext cx="831300" cy="14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8"/>
          <p:cNvSpPr/>
          <p:nvPr/>
        </p:nvSpPr>
        <p:spPr>
          <a:xfrm>
            <a:off x="14822035" y="2458883"/>
            <a:ext cx="6789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LAG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8"/>
          <p:cNvSpPr/>
          <p:nvPr/>
        </p:nvSpPr>
        <p:spPr>
          <a:xfrm>
            <a:off x="15500868" y="2905808"/>
            <a:ext cx="871500" cy="14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8"/>
          <p:cNvSpPr/>
          <p:nvPr/>
        </p:nvSpPr>
        <p:spPr>
          <a:xfrm>
            <a:off x="15653268" y="2458883"/>
            <a:ext cx="7191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Rock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8"/>
          <p:cNvSpPr/>
          <p:nvPr/>
        </p:nvSpPr>
        <p:spPr>
          <a:xfrm>
            <a:off x="16372229" y="2905808"/>
            <a:ext cx="785400" cy="14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8"/>
          <p:cNvSpPr/>
          <p:nvPr/>
        </p:nvSpPr>
        <p:spPr>
          <a:xfrm>
            <a:off x="16524629" y="2458883"/>
            <a:ext cx="633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TAG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8"/>
          <p:cNvSpPr/>
          <p:nvPr/>
        </p:nvSpPr>
        <p:spPr>
          <a:xfrm>
            <a:off x="12651415" y="3472678"/>
            <a:ext cx="11541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8"/>
          <p:cNvSpPr/>
          <p:nvPr/>
        </p:nvSpPr>
        <p:spPr>
          <a:xfrm>
            <a:off x="12803815" y="3015169"/>
            <a:ext cx="1001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8"/>
          <p:cNvSpPr/>
          <p:nvPr/>
        </p:nvSpPr>
        <p:spPr>
          <a:xfrm>
            <a:off x="13805550" y="3472678"/>
            <a:ext cx="8640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8"/>
          <p:cNvSpPr/>
          <p:nvPr/>
        </p:nvSpPr>
        <p:spPr>
          <a:xfrm>
            <a:off x="13957950" y="3015169"/>
            <a:ext cx="711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6,150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8"/>
          <p:cNvSpPr/>
          <p:nvPr/>
        </p:nvSpPr>
        <p:spPr>
          <a:xfrm>
            <a:off x="14669635" y="3472678"/>
            <a:ext cx="8313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8"/>
          <p:cNvSpPr/>
          <p:nvPr/>
        </p:nvSpPr>
        <p:spPr>
          <a:xfrm>
            <a:off x="14822035" y="3015169"/>
            <a:ext cx="678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1,318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8"/>
          <p:cNvSpPr/>
          <p:nvPr/>
        </p:nvSpPr>
        <p:spPr>
          <a:xfrm>
            <a:off x="15500868" y="3472678"/>
            <a:ext cx="8715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8"/>
          <p:cNvSpPr/>
          <p:nvPr/>
        </p:nvSpPr>
        <p:spPr>
          <a:xfrm>
            <a:off x="15653268" y="3015169"/>
            <a:ext cx="719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1,042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8"/>
          <p:cNvSpPr/>
          <p:nvPr/>
        </p:nvSpPr>
        <p:spPr>
          <a:xfrm>
            <a:off x="16372229" y="3472678"/>
            <a:ext cx="7854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8"/>
          <p:cNvSpPr/>
          <p:nvPr/>
        </p:nvSpPr>
        <p:spPr>
          <a:xfrm>
            <a:off x="16524629" y="3015169"/>
            <a:ext cx="633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32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8"/>
          <p:cNvSpPr/>
          <p:nvPr/>
        </p:nvSpPr>
        <p:spPr>
          <a:xfrm>
            <a:off x="12651415" y="4028965"/>
            <a:ext cx="11541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8"/>
          <p:cNvSpPr/>
          <p:nvPr/>
        </p:nvSpPr>
        <p:spPr>
          <a:xfrm>
            <a:off x="12803815" y="3574984"/>
            <a:ext cx="1001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8"/>
          <p:cNvSpPr/>
          <p:nvPr/>
        </p:nvSpPr>
        <p:spPr>
          <a:xfrm>
            <a:off x="13805550" y="4028965"/>
            <a:ext cx="8640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8"/>
          <p:cNvSpPr/>
          <p:nvPr/>
        </p:nvSpPr>
        <p:spPr>
          <a:xfrm>
            <a:off x="13957950" y="3574984"/>
            <a:ext cx="711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8"/>
          <p:cNvSpPr/>
          <p:nvPr/>
        </p:nvSpPr>
        <p:spPr>
          <a:xfrm>
            <a:off x="14669635" y="4028965"/>
            <a:ext cx="8313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8"/>
          <p:cNvSpPr/>
          <p:nvPr/>
        </p:nvSpPr>
        <p:spPr>
          <a:xfrm>
            <a:off x="14822035" y="3574984"/>
            <a:ext cx="678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722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8"/>
          <p:cNvSpPr/>
          <p:nvPr/>
        </p:nvSpPr>
        <p:spPr>
          <a:xfrm>
            <a:off x="15500868" y="4028965"/>
            <a:ext cx="8715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8"/>
          <p:cNvSpPr/>
          <p:nvPr/>
        </p:nvSpPr>
        <p:spPr>
          <a:xfrm>
            <a:off x="15653268" y="3574984"/>
            <a:ext cx="719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8"/>
          <p:cNvSpPr/>
          <p:nvPr/>
        </p:nvSpPr>
        <p:spPr>
          <a:xfrm>
            <a:off x="16372229" y="4028965"/>
            <a:ext cx="7854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8"/>
          <p:cNvSpPr/>
          <p:nvPr/>
        </p:nvSpPr>
        <p:spPr>
          <a:xfrm>
            <a:off x="16524629" y="3574984"/>
            <a:ext cx="633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8"/>
          <p:cNvSpPr/>
          <p:nvPr/>
        </p:nvSpPr>
        <p:spPr>
          <a:xfrm>
            <a:off x="12651415" y="4585251"/>
            <a:ext cx="11541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8"/>
          <p:cNvSpPr/>
          <p:nvPr/>
        </p:nvSpPr>
        <p:spPr>
          <a:xfrm>
            <a:off x="12803815" y="4131270"/>
            <a:ext cx="1001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8"/>
          <p:cNvSpPr/>
          <p:nvPr/>
        </p:nvSpPr>
        <p:spPr>
          <a:xfrm>
            <a:off x="13805550" y="4585251"/>
            <a:ext cx="8640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8"/>
          <p:cNvSpPr/>
          <p:nvPr/>
        </p:nvSpPr>
        <p:spPr>
          <a:xfrm>
            <a:off x="13957950" y="4131270"/>
            <a:ext cx="711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3,990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8"/>
          <p:cNvSpPr/>
          <p:nvPr/>
        </p:nvSpPr>
        <p:spPr>
          <a:xfrm>
            <a:off x="14669635" y="4585251"/>
            <a:ext cx="8313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8"/>
          <p:cNvSpPr/>
          <p:nvPr/>
        </p:nvSpPr>
        <p:spPr>
          <a:xfrm>
            <a:off x="14822035" y="4131270"/>
            <a:ext cx="678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848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8"/>
          <p:cNvSpPr/>
          <p:nvPr/>
        </p:nvSpPr>
        <p:spPr>
          <a:xfrm>
            <a:off x="15500868" y="4585251"/>
            <a:ext cx="8715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8"/>
          <p:cNvSpPr/>
          <p:nvPr/>
        </p:nvSpPr>
        <p:spPr>
          <a:xfrm>
            <a:off x="15653268" y="4131270"/>
            <a:ext cx="719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8"/>
          <p:cNvSpPr/>
          <p:nvPr/>
        </p:nvSpPr>
        <p:spPr>
          <a:xfrm>
            <a:off x="16372229" y="4585251"/>
            <a:ext cx="7854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8"/>
          <p:cNvSpPr/>
          <p:nvPr/>
        </p:nvSpPr>
        <p:spPr>
          <a:xfrm>
            <a:off x="16524629" y="4131270"/>
            <a:ext cx="633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8"/>
          <p:cNvSpPr/>
          <p:nvPr/>
        </p:nvSpPr>
        <p:spPr>
          <a:xfrm>
            <a:off x="12651415" y="5141538"/>
            <a:ext cx="11541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8"/>
          <p:cNvSpPr/>
          <p:nvPr/>
        </p:nvSpPr>
        <p:spPr>
          <a:xfrm>
            <a:off x="12803815" y="4687557"/>
            <a:ext cx="1001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8"/>
          <p:cNvSpPr/>
          <p:nvPr/>
        </p:nvSpPr>
        <p:spPr>
          <a:xfrm>
            <a:off x="13805550" y="5141538"/>
            <a:ext cx="8640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8"/>
          <p:cNvSpPr/>
          <p:nvPr/>
        </p:nvSpPr>
        <p:spPr>
          <a:xfrm>
            <a:off x="13957950" y="4687557"/>
            <a:ext cx="711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8"/>
          <p:cNvSpPr/>
          <p:nvPr/>
        </p:nvSpPr>
        <p:spPr>
          <a:xfrm>
            <a:off x="14669635" y="5141538"/>
            <a:ext cx="8313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8"/>
          <p:cNvSpPr/>
          <p:nvPr/>
        </p:nvSpPr>
        <p:spPr>
          <a:xfrm>
            <a:off x="14822035" y="4687557"/>
            <a:ext cx="678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2,337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8"/>
          <p:cNvSpPr/>
          <p:nvPr/>
        </p:nvSpPr>
        <p:spPr>
          <a:xfrm>
            <a:off x="15500868" y="5141538"/>
            <a:ext cx="8715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8"/>
          <p:cNvSpPr/>
          <p:nvPr/>
        </p:nvSpPr>
        <p:spPr>
          <a:xfrm>
            <a:off x="15653268" y="4687557"/>
            <a:ext cx="719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8"/>
          <p:cNvSpPr/>
          <p:nvPr/>
        </p:nvSpPr>
        <p:spPr>
          <a:xfrm>
            <a:off x="16372229" y="5141538"/>
            <a:ext cx="7854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8"/>
          <p:cNvSpPr/>
          <p:nvPr/>
        </p:nvSpPr>
        <p:spPr>
          <a:xfrm>
            <a:off x="16524629" y="4687557"/>
            <a:ext cx="633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8"/>
          <p:cNvSpPr/>
          <p:nvPr/>
        </p:nvSpPr>
        <p:spPr>
          <a:xfrm>
            <a:off x="1047640" y="9159766"/>
            <a:ext cx="16192613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3" name="Google Shape;55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640" y="3231950"/>
            <a:ext cx="6560299" cy="463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28688" y="375185"/>
            <a:ext cx="1162250" cy="1261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9850" y="376175"/>
            <a:ext cx="1119925" cy="1259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9"/>
          <p:cNvSpPr/>
          <p:nvPr/>
        </p:nvSpPr>
        <p:spPr>
          <a:xfrm>
            <a:off x="1047640" y="761890"/>
            <a:ext cx="16678391" cy="5638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Analysis</a:t>
            </a:r>
            <a:r>
              <a:rPr lang="en-US" sz="36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b="0" i="0" lang="en-US" sz="3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K-Means vs. Heuristic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9"/>
          <p:cNvSpPr/>
          <p:nvPr/>
        </p:nvSpPr>
        <p:spPr>
          <a:xfrm>
            <a:off x="1047640" y="1554317"/>
            <a:ext cx="16192613" cy="1411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9"/>
          <p:cNvSpPr/>
          <p:nvPr/>
        </p:nvSpPr>
        <p:spPr>
          <a:xfrm>
            <a:off x="2860439" y="4547637"/>
            <a:ext cx="4203975" cy="3696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[ PLACEHOLDER · FIGURE 4 ]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9"/>
          <p:cNvSpPr/>
          <p:nvPr/>
        </p:nvSpPr>
        <p:spPr>
          <a:xfrm>
            <a:off x="3471680" y="4993350"/>
            <a:ext cx="2981492" cy="7560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950"/>
              <a:buFont typeface="Georgia"/>
              <a:buNone/>
            </a:pPr>
            <a:r>
              <a:rPr b="0" i="1" lang="en-US" sz="1950" u="none" cap="none" strike="noStrik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rPr>
              <a:t>Per-sample silhouette plot for the K = 4 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9"/>
          <p:cNvSpPr/>
          <p:nvPr/>
        </p:nvSpPr>
        <p:spPr>
          <a:xfrm>
            <a:off x="2640151" y="5863608"/>
            <a:ext cx="4644550" cy="7011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777777"/>
                </a:solidFill>
                <a:latin typeface="Georgia"/>
                <a:ea typeface="Georgia"/>
                <a:cs typeface="Georgia"/>
                <a:sym typeface="Georgia"/>
              </a:rPr>
              <a:t>From: 04-kmeans-all-human-holdem.ipynb "Silhouette Plot"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9"/>
          <p:cNvSpPr/>
          <p:nvPr/>
        </p:nvSpPr>
        <p:spPr>
          <a:xfrm>
            <a:off x="9410569" y="1835106"/>
            <a:ext cx="8064574" cy="4523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Silhouette scores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9"/>
          <p:cNvSpPr/>
          <p:nvPr/>
        </p:nvSpPr>
        <p:spPr>
          <a:xfrm>
            <a:off x="9410569" y="2905787"/>
            <a:ext cx="2863453" cy="1411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9"/>
          <p:cNvSpPr/>
          <p:nvPr/>
        </p:nvSpPr>
        <p:spPr>
          <a:xfrm>
            <a:off x="9410569" y="2458861"/>
            <a:ext cx="2720757" cy="389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Method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9"/>
          <p:cNvSpPr/>
          <p:nvPr/>
        </p:nvSpPr>
        <p:spPr>
          <a:xfrm>
            <a:off x="12274023" y="2905787"/>
            <a:ext cx="1171884" cy="1411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9"/>
          <p:cNvSpPr/>
          <p:nvPr/>
        </p:nvSpPr>
        <p:spPr>
          <a:xfrm>
            <a:off x="12426423" y="2458861"/>
            <a:ext cx="1019484" cy="389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Groups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9"/>
          <p:cNvSpPr/>
          <p:nvPr/>
        </p:nvSpPr>
        <p:spPr>
          <a:xfrm>
            <a:off x="13445906" y="2905787"/>
            <a:ext cx="1133629" cy="1411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9"/>
          <p:cNvSpPr/>
          <p:nvPr/>
        </p:nvSpPr>
        <p:spPr>
          <a:xfrm>
            <a:off x="13598306" y="2458861"/>
            <a:ext cx="981229" cy="389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Score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9"/>
          <p:cNvSpPr/>
          <p:nvPr/>
        </p:nvSpPr>
        <p:spPr>
          <a:xfrm>
            <a:off x="9410569" y="3472657"/>
            <a:ext cx="2863453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9"/>
          <p:cNvSpPr/>
          <p:nvPr/>
        </p:nvSpPr>
        <p:spPr>
          <a:xfrm>
            <a:off x="9410569" y="3015148"/>
            <a:ext cx="2720757" cy="400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Heuristic baseline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9"/>
          <p:cNvSpPr/>
          <p:nvPr/>
        </p:nvSpPr>
        <p:spPr>
          <a:xfrm>
            <a:off x="12274023" y="3472657"/>
            <a:ext cx="1171884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9"/>
          <p:cNvSpPr/>
          <p:nvPr/>
        </p:nvSpPr>
        <p:spPr>
          <a:xfrm>
            <a:off x="12426423" y="3015148"/>
            <a:ext cx="1019484" cy="400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9"/>
          <p:cNvSpPr/>
          <p:nvPr/>
        </p:nvSpPr>
        <p:spPr>
          <a:xfrm>
            <a:off x="13445906" y="3472657"/>
            <a:ext cx="1133629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9"/>
          <p:cNvSpPr/>
          <p:nvPr/>
        </p:nvSpPr>
        <p:spPr>
          <a:xfrm>
            <a:off x="13598306" y="3015148"/>
            <a:ext cx="981229" cy="400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0.1347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9"/>
          <p:cNvSpPr/>
          <p:nvPr/>
        </p:nvSpPr>
        <p:spPr>
          <a:xfrm>
            <a:off x="9410569" y="4028943"/>
            <a:ext cx="2863453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9"/>
          <p:cNvSpPr/>
          <p:nvPr/>
        </p:nvSpPr>
        <p:spPr>
          <a:xfrm>
            <a:off x="9410569" y="3574962"/>
            <a:ext cx="2720757" cy="396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K-Means (K = 4)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9"/>
          <p:cNvSpPr/>
          <p:nvPr/>
        </p:nvSpPr>
        <p:spPr>
          <a:xfrm>
            <a:off x="12274023" y="4028943"/>
            <a:ext cx="1171884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9"/>
          <p:cNvSpPr/>
          <p:nvPr/>
        </p:nvSpPr>
        <p:spPr>
          <a:xfrm>
            <a:off x="12426423" y="3574962"/>
            <a:ext cx="1019484" cy="396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9"/>
          <p:cNvSpPr/>
          <p:nvPr/>
        </p:nvSpPr>
        <p:spPr>
          <a:xfrm>
            <a:off x="13445906" y="4028943"/>
            <a:ext cx="1133629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9"/>
          <p:cNvSpPr/>
          <p:nvPr/>
        </p:nvSpPr>
        <p:spPr>
          <a:xfrm>
            <a:off x="13598306" y="3574962"/>
            <a:ext cx="981229" cy="396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0.4420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9"/>
          <p:cNvSpPr/>
          <p:nvPr/>
        </p:nvSpPr>
        <p:spPr>
          <a:xfrm>
            <a:off x="9410569" y="4585230"/>
            <a:ext cx="2863453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9"/>
          <p:cNvSpPr/>
          <p:nvPr/>
        </p:nvSpPr>
        <p:spPr>
          <a:xfrm>
            <a:off x="9410569" y="4131249"/>
            <a:ext cx="2720757" cy="396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K-Means (best K, K = 2)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9"/>
          <p:cNvSpPr/>
          <p:nvPr/>
        </p:nvSpPr>
        <p:spPr>
          <a:xfrm>
            <a:off x="12274023" y="4585230"/>
            <a:ext cx="1171884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9"/>
          <p:cNvSpPr/>
          <p:nvPr/>
        </p:nvSpPr>
        <p:spPr>
          <a:xfrm>
            <a:off x="12426423" y="4131249"/>
            <a:ext cx="1019484" cy="396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9"/>
          <p:cNvSpPr/>
          <p:nvPr/>
        </p:nvSpPr>
        <p:spPr>
          <a:xfrm>
            <a:off x="13445906" y="4585230"/>
            <a:ext cx="1133629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9"/>
          <p:cNvSpPr/>
          <p:nvPr/>
        </p:nvSpPr>
        <p:spPr>
          <a:xfrm>
            <a:off x="13598306" y="4131249"/>
            <a:ext cx="981229" cy="396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Georgia"/>
              <a:buNone/>
            </a:pPr>
            <a:r>
              <a:rPr b="0" i="0" lang="en-US" sz="19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0.4917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9"/>
          <p:cNvSpPr/>
          <p:nvPr/>
        </p:nvSpPr>
        <p:spPr>
          <a:xfrm>
            <a:off x="9410569" y="4786203"/>
            <a:ext cx="8064574" cy="4523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What this tells us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9"/>
          <p:cNvSpPr/>
          <p:nvPr/>
        </p:nvSpPr>
        <p:spPr>
          <a:xfrm>
            <a:off x="9528600" y="5314700"/>
            <a:ext cx="7528500" cy="29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K-Means at K = 4 produces tighter, better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separated groups than the heuristic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The heuristic's "LAG" label gets split across three K-Means clusters 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and 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the data has more structure than fixed cutoffs can show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The same direction holds on the smaller sampled subset </a:t>
            </a:r>
            <a:b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(n = 344)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○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K-Means K 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=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4 silhouette 0.4595 vs heuristic 0.0990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9"/>
          <p:cNvSpPr/>
          <p:nvPr/>
        </p:nvSpPr>
        <p:spPr>
          <a:xfrm>
            <a:off x="1047640" y="9159766"/>
            <a:ext cx="16192613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4" name="Google Shape;59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2766" y="2565000"/>
            <a:ext cx="7790434" cy="550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8877" y="375188"/>
            <a:ext cx="1261872" cy="1261872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10"/>
          <p:cNvSpPr/>
          <p:nvPr/>
        </p:nvSpPr>
        <p:spPr>
          <a:xfrm>
            <a:off x="1047640" y="761890"/>
            <a:ext cx="166785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Conclusion &amp; Future Work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0"/>
          <p:cNvSpPr/>
          <p:nvPr/>
        </p:nvSpPr>
        <p:spPr>
          <a:xfrm>
            <a:off x="1047640" y="1554317"/>
            <a:ext cx="16192613" cy="1411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0"/>
          <p:cNvSpPr/>
          <p:nvPr/>
        </p:nvSpPr>
        <p:spPr>
          <a:xfrm>
            <a:off x="1047640" y="1835106"/>
            <a:ext cx="8064460" cy="4523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0"/>
          <p:cNvSpPr/>
          <p:nvPr/>
        </p:nvSpPr>
        <p:spPr>
          <a:xfrm>
            <a:off x="1165650" y="2363584"/>
            <a:ext cx="7937400" cy="19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K-Means on standardized VPIP and PFR gives tighter groups than fixed-threshold rules</a:t>
            </a:r>
            <a:endParaRPr b="0" i="0" sz="2100" u="none" cap="none" strike="noStrike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○"/>
            </a:pP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At K = 4, silhouette is </a:t>
            </a:r>
            <a:r>
              <a:rPr b="1"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0.4420 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(K-Means) vs </a:t>
            </a:r>
            <a:r>
              <a:rPr b="1"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0.1347 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(heuristic)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5" name="Google Shape;605;p10"/>
          <p:cNvSpPr/>
          <p:nvPr/>
        </p:nvSpPr>
        <p:spPr>
          <a:xfrm>
            <a:off x="1165662" y="4473401"/>
            <a:ext cx="79374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The data's strongest natural split is binary (K = 2, silhouette </a:t>
            </a:r>
            <a:r>
              <a:rPr b="1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0.4917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b="0" i="0" sz="2100" u="none" cap="none" strike="noStrike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○"/>
            </a:pP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K-Means beats the heuristic on the project's main metric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6" name="Google Shape;606;p10"/>
          <p:cNvSpPr/>
          <p:nvPr/>
        </p:nvSpPr>
        <p:spPr>
          <a:xfrm>
            <a:off x="9410569" y="1835106"/>
            <a:ext cx="8064574" cy="4523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Limitations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0"/>
          <p:cNvSpPr/>
          <p:nvPr/>
        </p:nvSpPr>
        <p:spPr>
          <a:xfrm>
            <a:off x="9528591" y="2363611"/>
            <a:ext cx="7787861" cy="1927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Only preflop actions are used; flop, turn, and river are ignored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Each player is one static average over their full history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○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Data is from 1995–2001; modern poker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differs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○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K-Means assumes round, equal</a:t>
            </a: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size clusters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0"/>
          <p:cNvSpPr/>
          <p:nvPr/>
        </p:nvSpPr>
        <p:spPr>
          <a:xfrm>
            <a:off x="9410569" y="4967875"/>
            <a:ext cx="80646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50"/>
              <a:buFont typeface="Georgia"/>
              <a:buNone/>
            </a:pPr>
            <a:r>
              <a:rPr b="1" i="0" lang="en-US" sz="225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Future work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0"/>
          <p:cNvSpPr/>
          <p:nvPr/>
        </p:nvSpPr>
        <p:spPr>
          <a:xfrm>
            <a:off x="9528591" y="5496380"/>
            <a:ext cx="77880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Add postflop features (3-bet %, c-bet %, etc.)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Try a more recent dataset</a:t>
            </a:r>
            <a:endParaRPr b="0" i="0" sz="2100" u="none" cap="none" strike="noStrike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○"/>
            </a:pPr>
            <a:r>
              <a:rPr lang="en-US" sz="2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Before and after economic turmoil and rise of GTO play</a:t>
            </a:r>
            <a:endParaRPr sz="21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Georgia"/>
              <a:buChar char="●"/>
            </a:pPr>
            <a:r>
              <a:rPr b="0" i="0" lang="en-US" sz="21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Try oher clustering methods that don't assume round clusters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0"/>
          <p:cNvSpPr/>
          <p:nvPr/>
        </p:nvSpPr>
        <p:spPr>
          <a:xfrm>
            <a:off x="1047640" y="9159766"/>
            <a:ext cx="16192613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da8f2e7afe_3_9"/>
          <p:cNvSpPr/>
          <p:nvPr/>
        </p:nvSpPr>
        <p:spPr>
          <a:xfrm>
            <a:off x="1047650" y="4512602"/>
            <a:ext cx="166785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Georgia"/>
              <a:buNone/>
            </a:pPr>
            <a:r>
              <a:rPr lang="en-US" sz="8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Thank You!</a:t>
            </a:r>
            <a:endParaRPr sz="80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7" name="Google Shape;617;g3da8f2e7afe_3_9"/>
          <p:cNvSpPr/>
          <p:nvPr/>
        </p:nvSpPr>
        <p:spPr>
          <a:xfrm>
            <a:off x="1047640" y="1554317"/>
            <a:ext cx="16192500" cy="14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da8f2e7afe_3_9"/>
          <p:cNvSpPr/>
          <p:nvPr/>
        </p:nvSpPr>
        <p:spPr>
          <a:xfrm>
            <a:off x="1047640" y="9159766"/>
            <a:ext cx="16192500" cy="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9" name="Google Shape;619;g3da8f2e7afe_3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8875" y="375191"/>
            <a:ext cx="1261872" cy="1261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g3da8f2e7afe_3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40175" y="2085507"/>
            <a:ext cx="5600925" cy="655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2026-04-28T16:25:57Z</dcterms:created>
  <dc:creator>PptxGenJS</dc:creator>
</cp:coreProperties>
</file>