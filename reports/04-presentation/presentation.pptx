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Lst>
  <p:sldSz cy="10287000" cx="18288000"/>
  <p:notesSz cx="10287000" cy="18288000"/>
  <p:embeddedFontLst>
    <p:embeddedFont>
      <p:font typeface="Nunito"/>
      <p:regular r:id="rId17"/>
      <p:bold r:id="rId18"/>
      <p:italic r:id="rId19"/>
      <p:boldItalic r:id="rId20"/>
    </p:embeddedFont>
    <p:embeddedFont>
      <p:font typeface="Maven Pro"/>
      <p:regular r:id="rId21"/>
      <p:bold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3" roundtripDataSignature="AMtx7miTvjm895yW3C3r4t89qGMG7xMhq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55232AF-9C6D-4EA2-89A8-027460FECF40}">
  <a:tblStyle styleId="{855232AF-9C6D-4EA2-89A8-027460FECF40}"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font" Target="fonts/Nunito-boldItalic.fntdata"/><Relationship Id="rId11" Type="http://schemas.openxmlformats.org/officeDocument/2006/relationships/slide" Target="slides/slide6.xml"/><Relationship Id="rId22" Type="http://schemas.openxmlformats.org/officeDocument/2006/relationships/font" Target="fonts/MavenPro-bold.fntdata"/><Relationship Id="rId10" Type="http://schemas.openxmlformats.org/officeDocument/2006/relationships/slide" Target="slides/slide5.xml"/><Relationship Id="rId21" Type="http://schemas.openxmlformats.org/officeDocument/2006/relationships/font" Target="fonts/MavenPro-regular.fntdata"/><Relationship Id="rId13" Type="http://schemas.openxmlformats.org/officeDocument/2006/relationships/slide" Target="slides/slide8.xml"/><Relationship Id="rId12" Type="http://schemas.openxmlformats.org/officeDocument/2006/relationships/slide" Target="slides/slide7.xml"/><Relationship Id="rId23" Type="http://customschemas.google.com/relationships/presentationmetadata" Target="meta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font" Target="fonts/Nunito-regular.fntdata"/><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font" Target="fonts/Nunito-italic.fntdata"/><Relationship Id="rId6" Type="http://schemas.openxmlformats.org/officeDocument/2006/relationships/slide" Target="slides/slide1.xml"/><Relationship Id="rId18" Type="http://schemas.openxmlformats.org/officeDocument/2006/relationships/font" Target="fonts/Nunito-bold.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0" name="Google Shape;280;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1200"/>
              </a:spcAft>
              <a:buClr>
                <a:schemeClr val="dk1"/>
              </a:buClr>
              <a:buSzPts val="1100"/>
              <a:buFont typeface="Arial"/>
              <a:buNone/>
            </a:pPr>
            <a:r>
              <a:rPr lang="en-US" sz="1100">
                <a:latin typeface="Arial"/>
                <a:ea typeface="Arial"/>
                <a:cs typeface="Arial"/>
                <a:sym typeface="Arial"/>
              </a:rPr>
              <a:t>Hello everyone, our project is </a:t>
            </a:r>
            <a:r>
              <a:rPr b="1" lang="en-US" sz="1100">
                <a:latin typeface="Arial"/>
                <a:ea typeface="Arial"/>
                <a:cs typeface="Arial"/>
                <a:sym typeface="Arial"/>
              </a:rPr>
              <a:t>Poker Player Profiling: Heuristics vs. K-Means Clustering</a:t>
            </a:r>
            <a:r>
              <a:rPr lang="en-US" sz="1100">
                <a:latin typeface="Arial"/>
                <a:ea typeface="Arial"/>
                <a:cs typeface="Arial"/>
                <a:sym typeface="Arial"/>
              </a:rPr>
              <a:t>.</a:t>
            </a:r>
            <a:endParaRPr/>
          </a:p>
        </p:txBody>
      </p:sp>
      <p:sp>
        <p:nvSpPr>
          <p:cNvPr id="281" name="Google Shape;281;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2" name="Google Shape;292;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goal is to group poker players based on how they bet, since different players have different play styles.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Traditionally, players are categorized using two stats: </a:t>
            </a:r>
            <a:r>
              <a:rPr b="1" lang="en-US" sz="1100">
                <a:latin typeface="Arial"/>
                <a:ea typeface="Arial"/>
                <a:cs typeface="Arial"/>
                <a:sym typeface="Arial"/>
              </a:rPr>
              <a:t>VPIP</a:t>
            </a:r>
            <a:r>
              <a:rPr lang="en-US" sz="1100">
                <a:latin typeface="Arial"/>
                <a:ea typeface="Arial"/>
                <a:cs typeface="Arial"/>
                <a:sym typeface="Arial"/>
              </a:rPr>
              <a:t> and </a:t>
            </a:r>
            <a:r>
              <a:rPr b="1" lang="en-US" sz="1100">
                <a:latin typeface="Arial"/>
                <a:ea typeface="Arial"/>
                <a:cs typeface="Arial"/>
                <a:sym typeface="Arial"/>
              </a:rPr>
              <a:t>PFR</a:t>
            </a:r>
            <a:r>
              <a:rPr lang="en-US" sz="1100">
                <a:latin typeface="Arial"/>
                <a:ea typeface="Arial"/>
                <a:cs typeface="Arial"/>
                <a:sym typeface="Arial"/>
              </a:rPr>
              <a:t>.</a:t>
            </a:r>
            <a:br>
              <a:rPr lang="en-US" sz="1100">
                <a:latin typeface="Arial"/>
                <a:ea typeface="Arial"/>
                <a:cs typeface="Arial"/>
                <a:sym typeface="Arial"/>
              </a:rPr>
            </a:br>
            <a:r>
              <a:rPr lang="en-US" sz="1100">
                <a:latin typeface="Arial"/>
                <a:ea typeface="Arial"/>
                <a:cs typeface="Arial"/>
                <a:sym typeface="Arial"/>
              </a:rPr>
              <a:t>VPIP is how often a player voluntarily puts money into the pot, and PFR is how often they raise before the flop.</a:t>
            </a:r>
            <a:endParaRPr sz="1100">
              <a:latin typeface="Arial"/>
              <a:ea typeface="Arial"/>
              <a:cs typeface="Arial"/>
              <a:sym typeface="Arial"/>
            </a:endParaRPr>
          </a:p>
          <a:p>
            <a:pPr indent="0" lvl="0" marL="0" rtl="0" algn="l">
              <a:lnSpc>
                <a:spcPct val="115000"/>
              </a:lnSpc>
              <a:spcBef>
                <a:spcPts val="1200"/>
              </a:spcBef>
              <a:spcAft>
                <a:spcPts val="1200"/>
              </a:spcAft>
              <a:buClr>
                <a:schemeClr val="dk1"/>
              </a:buClr>
              <a:buSzPts val="1100"/>
              <a:buFont typeface="Arial"/>
              <a:buNone/>
            </a:pPr>
            <a:r>
              <a:rPr lang="en-US" sz="1100">
                <a:latin typeface="Arial"/>
                <a:ea typeface="Arial"/>
                <a:cs typeface="Arial"/>
                <a:sym typeface="Arial"/>
              </a:rPr>
              <a:t>Instead of relying only on fixed cutoffs, we wanted to see if </a:t>
            </a:r>
            <a:r>
              <a:rPr b="1" lang="en-US" sz="1100">
                <a:latin typeface="Arial"/>
                <a:ea typeface="Arial"/>
                <a:cs typeface="Arial"/>
                <a:sym typeface="Arial"/>
              </a:rPr>
              <a:t>K-Means clustering</a:t>
            </a:r>
            <a:r>
              <a:rPr lang="en-US" sz="1100">
                <a:latin typeface="Arial"/>
                <a:ea typeface="Arial"/>
                <a:cs typeface="Arial"/>
                <a:sym typeface="Arial"/>
              </a:rPr>
              <a:t> could find better groupings directly from the data.</a:t>
            </a:r>
            <a:endParaRPr/>
          </a:p>
        </p:txBody>
      </p:sp>
      <p:sp>
        <p:nvSpPr>
          <p:cNvPr id="293" name="Google Shape;293;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3" name="Google Shape;303;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For related work, our first source was the </a:t>
            </a:r>
            <a:r>
              <a:rPr b="1" lang="en-US" sz="1100">
                <a:latin typeface="Arial"/>
                <a:ea typeface="Arial"/>
                <a:cs typeface="Arial"/>
                <a:sym typeface="Arial"/>
              </a:rPr>
              <a:t>IRC Poker Dataset</a:t>
            </a:r>
            <a:r>
              <a:rPr lang="en-US" sz="1100">
                <a:latin typeface="Arial"/>
                <a:ea typeface="Arial"/>
                <a:cs typeface="Arial"/>
                <a:sym typeface="Arial"/>
              </a:rPr>
              <a:t>, which has over 10 million holdem hands, from 1995 to 2001.</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second part is, the traditional poker profiling method based on </a:t>
            </a:r>
            <a:r>
              <a:rPr b="1" lang="en-US" sz="1100">
                <a:latin typeface="Arial"/>
                <a:ea typeface="Arial"/>
                <a:cs typeface="Arial"/>
                <a:sym typeface="Arial"/>
              </a:rPr>
              <a:t>VPIP and PFR heuristics</a:t>
            </a:r>
            <a:r>
              <a:rPr lang="en-US" sz="1100">
                <a:latin typeface="Arial"/>
                <a:ea typeface="Arial"/>
                <a:cs typeface="Arial"/>
                <a:sym typeface="Arial"/>
              </a:rPr>
              <a:t>. In poker, these stats are commonly used to label players as </a:t>
            </a:r>
            <a:r>
              <a:rPr b="1" lang="en-US" sz="1100">
                <a:latin typeface="Arial"/>
                <a:ea typeface="Arial"/>
                <a:cs typeface="Arial"/>
                <a:sym typeface="Arial"/>
              </a:rPr>
              <a:t>TAG, LAG, Fish, or Rock</a:t>
            </a:r>
            <a:r>
              <a:rPr lang="en-US" sz="1100">
                <a:latin typeface="Arial"/>
                <a:ea typeface="Arial"/>
                <a:cs typeface="Arial"/>
                <a:sym typeface="Arial"/>
              </a:rPr>
              <a:t>.</a:t>
            </a:r>
            <a:endParaRPr sz="1100">
              <a:latin typeface="Arial"/>
              <a:ea typeface="Arial"/>
              <a:cs typeface="Arial"/>
              <a:sym typeface="Arial"/>
            </a:endParaRPr>
          </a:p>
          <a:p>
            <a:pPr indent="0" lvl="0" marL="0" rtl="0" algn="l">
              <a:lnSpc>
                <a:spcPct val="115000"/>
              </a:lnSpc>
              <a:spcBef>
                <a:spcPts val="1200"/>
              </a:spcBef>
              <a:spcAft>
                <a:spcPts val="1200"/>
              </a:spcAft>
              <a:buClr>
                <a:schemeClr val="dk1"/>
              </a:buClr>
              <a:buSzPts val="1100"/>
              <a:buFont typeface="Arial"/>
              <a:buNone/>
            </a:pPr>
            <a:r>
              <a:rPr lang="en-US" sz="1100">
                <a:latin typeface="Arial"/>
                <a:ea typeface="Arial"/>
                <a:cs typeface="Arial"/>
                <a:sym typeface="Arial"/>
              </a:rPr>
              <a:t>This heuristic method became our baseline to compare with the clustering approach that groups similar players together based on their VPIP and PFR values. The goal was to determine which approach better to categorize players.</a:t>
            </a:r>
            <a:endParaRPr/>
          </a:p>
        </p:txBody>
      </p:sp>
      <p:sp>
        <p:nvSpPr>
          <p:cNvPr id="304" name="Google Shape;304;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2" name="Google Shape;322;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45000"/>
              </a:lnSpc>
              <a:spcBef>
                <a:spcPts val="0"/>
              </a:spcBef>
              <a:spcAft>
                <a:spcPts val="0"/>
              </a:spcAft>
              <a:buNone/>
            </a:pPr>
            <a:r>
              <a:rPr lang="en-US"/>
              <a:t>The first step we took was to preprocess the data and extract the useful information. We used a total of around 84,000 files from 3 channels (Holdem, Holdem1, holdemii) and parsed out information like player identification and the preflop action string for each round. This action string is a concise, text-based representation of every bet, raise, call, or fold that occurred before the flop in a poker hand. </a:t>
            </a:r>
            <a:endParaRPr/>
          </a:p>
          <a:p>
            <a:pPr indent="0" lvl="0" marL="0" rtl="0" algn="l">
              <a:lnSpc>
                <a:spcPct val="145000"/>
              </a:lnSpc>
              <a:spcBef>
                <a:spcPts val="0"/>
              </a:spcBef>
              <a:spcAft>
                <a:spcPts val="0"/>
              </a:spcAft>
              <a:buNone/>
            </a:pPr>
            <a:r>
              <a:t/>
            </a:r>
            <a:endParaRPr/>
          </a:p>
          <a:p>
            <a:pPr indent="0" lvl="0" marL="0" rtl="0" algn="l">
              <a:lnSpc>
                <a:spcPct val="145000"/>
              </a:lnSpc>
              <a:spcBef>
                <a:spcPts val="0"/>
              </a:spcBef>
              <a:spcAft>
                <a:spcPts val="0"/>
              </a:spcAft>
              <a:buNone/>
            </a:pPr>
            <a:r>
              <a:rPr lang="en-US"/>
              <a:t>Using this preflop action string the VPIP and PFR is calculated. </a:t>
            </a:r>
            <a:endParaRPr/>
          </a:p>
          <a:p>
            <a:pPr indent="0" lvl="0" marL="0" rtl="0" algn="l">
              <a:lnSpc>
                <a:spcPct val="145000"/>
              </a:lnSpc>
              <a:spcBef>
                <a:spcPts val="0"/>
              </a:spcBef>
              <a:spcAft>
                <a:spcPts val="0"/>
              </a:spcAft>
              <a:buNone/>
            </a:pPr>
            <a:r>
              <a:t/>
            </a:r>
            <a:endParaRPr/>
          </a:p>
          <a:p>
            <a:pPr indent="0" lvl="0" marL="0" rtl="0" algn="l">
              <a:lnSpc>
                <a:spcPct val="145000"/>
              </a:lnSpc>
              <a:spcBef>
                <a:spcPts val="0"/>
              </a:spcBef>
              <a:spcAft>
                <a:spcPts val="0"/>
              </a:spcAft>
              <a:buNone/>
            </a:pPr>
            <a:r>
              <a:rPr lang="en-US" sz="1100">
                <a:latin typeface="Arial"/>
                <a:ea typeface="Arial"/>
                <a:cs typeface="Arial"/>
                <a:sym typeface="Arial"/>
              </a:rPr>
              <a:t>We tallied these up across all hands to get a single VPIP and PFR percentage for each player.</a:t>
            </a:r>
            <a:endParaRPr sz="1100">
              <a:latin typeface="Arial"/>
              <a:ea typeface="Arial"/>
              <a:cs typeface="Arial"/>
              <a:sym typeface="Arial"/>
            </a:endParaRPr>
          </a:p>
          <a:p>
            <a:pPr indent="0" lvl="0" marL="0" rtl="0" algn="l">
              <a:lnSpc>
                <a:spcPct val="145000"/>
              </a:lnSpc>
              <a:spcBef>
                <a:spcPts val="0"/>
              </a:spcBef>
              <a:spcAft>
                <a:spcPts val="0"/>
              </a:spcAft>
              <a:buNone/>
            </a:pPr>
            <a:r>
              <a:rPr lang="en-US" sz="1100">
                <a:latin typeface="Arial"/>
                <a:ea typeface="Arial"/>
                <a:cs typeface="Arial"/>
                <a:sym typeface="Arial"/>
              </a:rPr>
              <a:t>It is important to note that only players with 30 or more played hands were used as those who played less provide less reliable hands. </a:t>
            </a:r>
            <a:endParaRPr sz="1100">
              <a:latin typeface="Arial"/>
              <a:ea typeface="Arial"/>
              <a:cs typeface="Arial"/>
              <a:sym typeface="Arial"/>
            </a:endParaRPr>
          </a:p>
          <a:p>
            <a:pPr indent="0" lvl="0" marL="0" rtl="0" algn="l">
              <a:lnSpc>
                <a:spcPct val="145000"/>
              </a:lnSpc>
              <a:spcBef>
                <a:spcPts val="0"/>
              </a:spcBef>
              <a:spcAft>
                <a:spcPts val="0"/>
              </a:spcAft>
              <a:buNone/>
            </a:pPr>
            <a:r>
              <a:t/>
            </a:r>
            <a:endParaRPr sz="1100">
              <a:latin typeface="Arial"/>
              <a:ea typeface="Arial"/>
              <a:cs typeface="Arial"/>
              <a:sym typeface="Arial"/>
            </a:endParaRPr>
          </a:p>
          <a:p>
            <a:pPr indent="0" lvl="0" marL="0" rtl="0" algn="l">
              <a:lnSpc>
                <a:spcPct val="145000"/>
              </a:lnSpc>
              <a:spcBef>
                <a:spcPts val="0"/>
              </a:spcBef>
              <a:spcAft>
                <a:spcPts val="0"/>
              </a:spcAft>
              <a:buNone/>
            </a:pPr>
            <a:r>
              <a:t/>
            </a:r>
            <a:endParaRPr/>
          </a:p>
        </p:txBody>
      </p:sp>
      <p:sp>
        <p:nvSpPr>
          <p:cNvPr id="323" name="Google Shape;323;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 name="Google Shape;34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shows the two approaches we conducted.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For the heuristic approach, for </a:t>
            </a:r>
            <a:r>
              <a:rPr lang="en-US"/>
              <a:t>example</a:t>
            </a:r>
            <a:r>
              <a:rPr lang="en-US"/>
              <a:t> if the VPIP is less </a:t>
            </a:r>
            <a:r>
              <a:rPr lang="en-US"/>
              <a:t>than</a:t>
            </a:r>
            <a:r>
              <a:rPr lang="en-US"/>
              <a:t> 25% and the PFR is &lt; 15%, the player </a:t>
            </a:r>
            <a:r>
              <a:rPr lang="en-US"/>
              <a:t>exhibits Tight and Passive behavior, thus belonging to the Rock category. Similar rigid rules are applied for the rest of the categories.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K-means approach splits players into K groups by minimizing within-group distance. We ran K-means with K equal to 2 to 8, to check what the data prefers. The cluster quality was measured by the silhouette score, where a higher score indicates a better cluster. In the end, the final model uses K = 4 to match the four poker archetypes.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3" name="Google Shape;34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 name="Shape 360"/>
        <p:cNvGrpSpPr/>
        <p:nvPr/>
      </p:nvGrpSpPr>
      <p:grpSpPr>
        <a:xfrm>
          <a:off x="0" y="0"/>
          <a:ext cx="0" cy="0"/>
          <a:chOff x="0" y="0"/>
          <a:chExt cx="0" cy="0"/>
        </a:xfrm>
      </p:grpSpPr>
      <p:sp>
        <p:nvSpPr>
          <p:cNvPr id="361" name="Google Shape;36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2" name="Google Shape;36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Looking at the VPIP distribution, the average player is putting money in the pot about 51% of the time, which is pretty loose by most modern poker standards. The distribution is pretty spread out with a standard deviation of 19 points.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PFR is a little different, with a mean of 15% but a very right skewed distribution. Most players cluster on the low end, which means they are passive raisers in the preflop part of the game.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When we apply the heuristic labels, we see an imbalance between the categories:</a:t>
            </a:r>
            <a:endParaRPr sz="1100">
              <a:latin typeface="Arial"/>
              <a:ea typeface="Arial"/>
              <a:cs typeface="Arial"/>
              <a:sym typeface="Arial"/>
            </a:endParaRPr>
          </a:p>
          <a:p>
            <a:pPr indent="-298450" lvl="0" marL="457200" rtl="0" algn="l">
              <a:lnSpc>
                <a:spcPct val="115000"/>
              </a:lnSpc>
              <a:spcBef>
                <a:spcPts val="1200"/>
              </a:spcBef>
              <a:spcAft>
                <a:spcPts val="0"/>
              </a:spcAft>
              <a:buClr>
                <a:schemeClr val="dk1"/>
              </a:buClr>
              <a:buSzPts val="1100"/>
              <a:buChar char="-"/>
            </a:pPr>
            <a:r>
              <a:rPr lang="en-US" sz="1100">
                <a:latin typeface="Arial"/>
                <a:ea typeface="Arial"/>
                <a:cs typeface="Arial"/>
                <a:sym typeface="Arial"/>
              </a:rPr>
              <a:t>10 thousand players are classified as fish</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5 thousand as lag</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1 thousand as rock</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only 32 as tag</a:t>
            </a:r>
            <a:endParaRPr sz="1100">
              <a:latin typeface="Arial"/>
              <a:ea typeface="Arial"/>
              <a:cs typeface="Arial"/>
              <a:sym typeface="Arial"/>
            </a:endParaRPr>
          </a:p>
          <a:p>
            <a:pPr indent="0" lvl="0" marL="0" rtl="0" algn="l">
              <a:lnSpc>
                <a:spcPct val="115000"/>
              </a:lnSpc>
              <a:spcBef>
                <a:spcPts val="1200"/>
              </a:spcBef>
              <a:spcAft>
                <a:spcPts val="1200"/>
              </a:spcAft>
              <a:buClr>
                <a:schemeClr val="dk1"/>
              </a:buClr>
              <a:buSzPts val="1100"/>
              <a:buFont typeface="Arial"/>
              <a:buNone/>
            </a:pPr>
            <a:r>
              <a:rPr lang="en-US" sz="1100">
                <a:latin typeface="Arial"/>
                <a:ea typeface="Arial"/>
                <a:cs typeface="Arial"/>
                <a:sym typeface="Arial"/>
              </a:rPr>
              <a:t>We concluded that the small number of TAG players likely reflects both the era's player tendencies and also the limitations of applying modern cutoffs designed for GTO play to a 1990s dataset. </a:t>
            </a:r>
            <a:endParaRPr/>
          </a:p>
        </p:txBody>
      </p:sp>
      <p:sp>
        <p:nvSpPr>
          <p:cNvPr id="363" name="Google Shape;36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en-US"/>
              <a:t>To choose the K value,</a:t>
            </a:r>
            <a:r>
              <a:rPr lang="en-US"/>
              <a:t> we tested values from K equals 2 through 8 and compared both inertia and silhouette scores.</a:t>
            </a:r>
            <a:endParaRPr/>
          </a:p>
          <a:p>
            <a:pPr indent="0" lvl="0" marL="0" rtl="0" algn="l">
              <a:lnSpc>
                <a:spcPct val="115000"/>
              </a:lnSpc>
              <a:spcBef>
                <a:spcPts val="1200"/>
              </a:spcBef>
              <a:spcAft>
                <a:spcPts val="0"/>
              </a:spcAft>
              <a:buClr>
                <a:schemeClr val="dk1"/>
              </a:buClr>
              <a:buSzPts val="1100"/>
              <a:buFont typeface="Arial"/>
              <a:buNone/>
            </a:pPr>
            <a:r>
              <a:rPr lang="en-US"/>
              <a:t>Inertia measures how compact the clusters are internally, so lower values are better. Silhouette score measures how well-separated the clusters are, with values closer to 1 indicating stronger clustering quality.</a:t>
            </a:r>
            <a:endParaRPr/>
          </a:p>
          <a:p>
            <a:pPr indent="0" lvl="0" marL="0" rtl="0" algn="l">
              <a:lnSpc>
                <a:spcPct val="115000"/>
              </a:lnSpc>
              <a:spcBef>
                <a:spcPts val="1200"/>
              </a:spcBef>
              <a:spcAft>
                <a:spcPts val="0"/>
              </a:spcAft>
              <a:buClr>
                <a:schemeClr val="dk1"/>
              </a:buClr>
              <a:buSzPts val="1100"/>
              <a:buFont typeface="Arial"/>
              <a:buNone/>
            </a:pPr>
            <a:r>
              <a:rPr lang="en-US"/>
              <a:t>As shown in the table, the highest silhouette score occurs at K equals 2, with a score of about 0.49. This suggests that the strongest natural split in the data is binary — likely separating tighter players from looser players.</a:t>
            </a:r>
            <a:endParaRPr/>
          </a:p>
          <a:p>
            <a:pPr indent="0" lvl="0" marL="0" rtl="0" algn="l">
              <a:lnSpc>
                <a:spcPct val="115000"/>
              </a:lnSpc>
              <a:spcBef>
                <a:spcPts val="1200"/>
              </a:spcBef>
              <a:spcAft>
                <a:spcPts val="0"/>
              </a:spcAft>
              <a:buClr>
                <a:schemeClr val="dk1"/>
              </a:buClr>
              <a:buSzPts val="1100"/>
              <a:buFont typeface="Arial"/>
              <a:buNone/>
            </a:pPr>
            <a:r>
              <a:rPr lang="en-US"/>
              <a:t>However, we ultimately selected K equals 4 for the final model. Even though the silhouette score is slightly lower at about 0.44, using four clusters aligns with the four traditional poker archetypes.</a:t>
            </a:r>
            <a:endParaRPr/>
          </a:p>
          <a:p>
            <a:pPr indent="0" lvl="0" marL="0" rtl="0" algn="l">
              <a:lnSpc>
                <a:spcPct val="115000"/>
              </a:lnSpc>
              <a:spcBef>
                <a:spcPts val="1200"/>
              </a:spcBef>
              <a:spcAft>
                <a:spcPts val="1200"/>
              </a:spcAft>
              <a:buSzPts val="1100"/>
              <a:buNone/>
            </a:pPr>
            <a:r>
              <a:rPr lang="en-US"/>
              <a:t>This gave us a balance between clustering quality and interpretability, while also allowing a direct comparison with the heuristic profiling system</a:t>
            </a:r>
            <a:endParaRPr/>
          </a:p>
        </p:txBody>
      </p:sp>
      <p:sp>
        <p:nvSpPr>
          <p:cNvPr id="388" name="Google Shape;388;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2" name="Google Shape;45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en-US"/>
              <a:t>Here we show the final K-means clustering results using K equals 4, where each color is a different cluster in the graph.</a:t>
            </a:r>
            <a:endParaRPr/>
          </a:p>
          <a:p>
            <a:pPr indent="0" lvl="0" marL="0" rtl="0" algn="l">
              <a:lnSpc>
                <a:spcPct val="115000"/>
              </a:lnSpc>
              <a:spcBef>
                <a:spcPts val="1200"/>
              </a:spcBef>
              <a:spcAft>
                <a:spcPts val="0"/>
              </a:spcAft>
              <a:buClr>
                <a:schemeClr val="dk1"/>
              </a:buClr>
              <a:buSzPts val="1100"/>
              <a:buFont typeface="Arial"/>
              <a:buNone/>
            </a:pPr>
            <a:r>
              <a:rPr lang="en-US"/>
              <a:t>Cluster 0 is the largest group, containing about 8,500 players. We interpret this cluster as tight-passive players.</a:t>
            </a:r>
            <a:endParaRPr/>
          </a:p>
          <a:p>
            <a:pPr indent="0" lvl="0" marL="0" rtl="0" algn="l">
              <a:lnSpc>
                <a:spcPct val="115000"/>
              </a:lnSpc>
              <a:spcBef>
                <a:spcPts val="1200"/>
              </a:spcBef>
              <a:spcAft>
                <a:spcPts val="0"/>
              </a:spcAft>
              <a:buClr>
                <a:schemeClr val="dk1"/>
              </a:buClr>
              <a:buSzPts val="1100"/>
              <a:buFont typeface="Arial"/>
              <a:buNone/>
            </a:pPr>
            <a:r>
              <a:rPr lang="en-US"/>
              <a:t>Cluster 2 contains loose-passive players, who enter hands but don’t raise preflop, creating a very large gap between VPIP and PFR.</a:t>
            </a:r>
            <a:endParaRPr/>
          </a:p>
          <a:p>
            <a:pPr indent="0" lvl="0" marL="0" rtl="0" algn="l">
              <a:lnSpc>
                <a:spcPct val="115000"/>
              </a:lnSpc>
              <a:spcBef>
                <a:spcPts val="1200"/>
              </a:spcBef>
              <a:spcAft>
                <a:spcPts val="0"/>
              </a:spcAft>
              <a:buClr>
                <a:schemeClr val="dk1"/>
              </a:buClr>
              <a:buSzPts val="1100"/>
              <a:buFont typeface="Arial"/>
              <a:buNone/>
            </a:pPr>
            <a:r>
              <a:rPr lang="en-US"/>
              <a:t>Cluster 3 represents moderately aggressive loose players, with high VPIP and higher PFR values.</a:t>
            </a:r>
            <a:endParaRPr/>
          </a:p>
          <a:p>
            <a:pPr indent="0" lvl="0" marL="0" rtl="0" algn="l">
              <a:lnSpc>
                <a:spcPct val="115000"/>
              </a:lnSpc>
              <a:spcBef>
                <a:spcPts val="1200"/>
              </a:spcBef>
              <a:spcAft>
                <a:spcPts val="0"/>
              </a:spcAft>
              <a:buClr>
                <a:schemeClr val="dk1"/>
              </a:buClr>
              <a:buSzPts val="1100"/>
              <a:buFont typeface="Arial"/>
              <a:buNone/>
            </a:pPr>
            <a:r>
              <a:rPr lang="en-US"/>
              <a:t>Finally, Cluster 1 is the smallest but most extreme cluster. These players enter and raise in almost every hand. We labeled this cluster hyper-aggressive.</a:t>
            </a:r>
            <a:endParaRPr/>
          </a:p>
          <a:p>
            <a:pPr indent="0" lvl="0" marL="0" rtl="0" algn="l">
              <a:lnSpc>
                <a:spcPct val="115000"/>
              </a:lnSpc>
              <a:spcBef>
                <a:spcPts val="1200"/>
              </a:spcBef>
              <a:spcAft>
                <a:spcPts val="1200"/>
              </a:spcAft>
              <a:buClr>
                <a:schemeClr val="dk1"/>
              </a:buClr>
              <a:buSzPts val="1100"/>
              <a:buFont typeface="Arial"/>
              <a:buNone/>
            </a:pPr>
            <a:r>
              <a:rPr lang="en-US"/>
              <a:t>The table on the right compares these clusters against the heuristic labels. One important result is that the heuristic LAG category gets split across multiple K-means clusters. This suggests that the heuristic system groups together players who actually behave quite differently</a:t>
            </a:r>
            <a:r>
              <a:rPr lang="en-US"/>
              <a:t>.</a:t>
            </a:r>
            <a:endParaRPr/>
          </a:p>
        </p:txBody>
      </p:sp>
      <p:sp>
        <p:nvSpPr>
          <p:cNvPr id="453" name="Google Shape;45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7" name="Google Shape;55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So, how do these two approaches actually compare?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fixed cutoffs are drawing boundaries that don't align well with where the data naturally separates.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Looking at the silhouette plot on the left, you can see that clusters 2 and 3 are particularly tight and well-separated, while cluster 0 has more variance, which makes sense given it's the largest group.</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KEEP FOR QUESTIONS DO NOT READ</a:t>
            </a:r>
            <a:endParaRPr sz="1100">
              <a:latin typeface="Arial"/>
              <a:ea typeface="Arial"/>
              <a:cs typeface="Arial"/>
              <a:sym typeface="Arial"/>
            </a:endParaRPr>
          </a:p>
          <a:p>
            <a:pPr indent="0" lvl="0" marL="0" rtl="0" algn="l">
              <a:lnSpc>
                <a:spcPct val="115000"/>
              </a:lnSpc>
              <a:spcBef>
                <a:spcPts val="1200"/>
              </a:spcBef>
              <a:spcAft>
                <a:spcPts val="1200"/>
              </a:spcAft>
              <a:buClr>
                <a:schemeClr val="dk1"/>
              </a:buClr>
              <a:buSzPts val="1100"/>
              <a:buFont typeface="Arial"/>
              <a:buNone/>
            </a:pPr>
            <a:r>
              <a:rPr lang="en-US" sz="1100">
                <a:latin typeface="Arial"/>
                <a:ea typeface="Arial"/>
                <a:cs typeface="Arial"/>
                <a:sym typeface="Arial"/>
              </a:rPr>
              <a:t>We also validated this on a smaller sampled subset of 344 players, and the same differences between the two methods showed up, with K-Means at 0.4595 versus the heuristic at 0.0990.</a:t>
            </a:r>
            <a:endParaRPr/>
          </a:p>
        </p:txBody>
      </p:sp>
      <p:sp>
        <p:nvSpPr>
          <p:cNvPr id="558" name="Google Shape;55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5" name="Shape 595"/>
        <p:cNvGrpSpPr/>
        <p:nvPr/>
      </p:nvGrpSpPr>
      <p:grpSpPr>
        <a:xfrm>
          <a:off x="0" y="0"/>
          <a:ext cx="0" cy="0"/>
          <a:chOff x="0" y="0"/>
          <a:chExt cx="0" cy="0"/>
        </a:xfrm>
      </p:grpSpPr>
      <p:sp>
        <p:nvSpPr>
          <p:cNvPr id="596" name="Google Shape;596;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7" name="Google Shape;597;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To wrap things up, our main takeaway is that K-Means clustering produces more meaningful player groupings than the traditional heuristic approach. </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We also want to discuss the limitations of our approach. We only used preflop features (VPIP and PFR). Postflop behavior is left out. Also, the dataset itself is from 1995 to 2001, but poker strategy has changed dramatically since then, especially with the rise of GTO play.</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Ultimately, it was pretty interesting to see how a simple unsupervised approach can outperform domain-specific heuristics. </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KEEP FOR QUESTIONS DO NOT READ</a:t>
            </a:r>
            <a:endParaRPr b="1"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For future work, the most natural next step would be to add postflop features. We'd also want to test on a more modern dataset, ideally something that spans before and after the poker boom, to see how player profiles shift. And finally, since K-Means assumes round, equal-sized clusters, trying methods like DBSCAN or Gaussian Mixture Models might capture the actual shape of the data better.</a:t>
            </a:r>
            <a:endParaRPr sz="1100">
              <a:latin typeface="Arial"/>
              <a:ea typeface="Arial"/>
              <a:cs typeface="Arial"/>
              <a:sym typeface="Arial"/>
            </a:endParaRPr>
          </a:p>
          <a:p>
            <a:pPr indent="0" lvl="0" marL="0" rtl="0" algn="l">
              <a:lnSpc>
                <a:spcPct val="115000"/>
              </a:lnSpc>
              <a:spcBef>
                <a:spcPts val="1200"/>
              </a:spcBef>
              <a:spcAft>
                <a:spcPts val="1200"/>
              </a:spcAft>
              <a:buSzPts val="1100"/>
              <a:buNone/>
            </a:pPr>
            <a:r>
              <a:t/>
            </a:r>
            <a:endParaRPr/>
          </a:p>
        </p:txBody>
      </p:sp>
      <p:sp>
        <p:nvSpPr>
          <p:cNvPr id="598" name="Google Shape;598;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3da8f2e7afe_3_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3" name="Google Shape;613;g3da8f2e7afe_3_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14" name="Google Shape;614;g3da8f2e7afe_3_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accent3"/>
        </a:solidFill>
      </p:bgPr>
    </p:bg>
    <p:spTree>
      <p:nvGrpSpPr>
        <p:cNvPr id="13" name="Shape 13"/>
        <p:cNvGrpSpPr/>
        <p:nvPr/>
      </p:nvGrpSpPr>
      <p:grpSpPr>
        <a:xfrm>
          <a:off x="0" y="0"/>
          <a:ext cx="0" cy="0"/>
          <a:chOff x="0" y="0"/>
          <a:chExt cx="0" cy="0"/>
        </a:xfrm>
      </p:grpSpPr>
      <p:grpSp>
        <p:nvGrpSpPr>
          <p:cNvPr id="14" name="Google Shape;14;g3da8f2e7afe_0_346"/>
          <p:cNvGrpSpPr/>
          <p:nvPr/>
        </p:nvGrpSpPr>
        <p:grpSpPr>
          <a:xfrm>
            <a:off x="14686006" y="6819351"/>
            <a:ext cx="3382844" cy="3465096"/>
            <a:chOff x="7343003" y="3409675"/>
            <a:chExt cx="1691422" cy="1732548"/>
          </a:xfrm>
        </p:grpSpPr>
        <p:grpSp>
          <p:nvGrpSpPr>
            <p:cNvPr id="15" name="Google Shape;15;g3da8f2e7afe_0_346"/>
            <p:cNvGrpSpPr/>
            <p:nvPr/>
          </p:nvGrpSpPr>
          <p:grpSpPr>
            <a:xfrm>
              <a:off x="7343003" y="4453711"/>
              <a:ext cx="316800" cy="688513"/>
              <a:chOff x="7343003" y="4453711"/>
              <a:chExt cx="316800" cy="688513"/>
            </a:xfrm>
          </p:grpSpPr>
          <p:sp>
            <p:nvSpPr>
              <p:cNvPr id="16" name="Google Shape;16;g3da8f2e7afe_0_346"/>
              <p:cNvSpPr/>
              <p:nvPr/>
            </p:nvSpPr>
            <p:spPr>
              <a:xfrm>
                <a:off x="7343003" y="4453711"/>
                <a:ext cx="316800" cy="688500"/>
              </a:xfrm>
              <a:prstGeom prst="round2SameRect">
                <a:avLst>
                  <a:gd fmla="val 50000" name="adj1"/>
                  <a:gd fmla="val 0" name="adj2"/>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7" name="Google Shape;17;g3da8f2e7afe_0_346"/>
              <p:cNvSpPr/>
              <p:nvPr/>
            </p:nvSpPr>
            <p:spPr>
              <a:xfrm>
                <a:off x="7343003" y="4801723"/>
                <a:ext cx="316800" cy="340500"/>
              </a:xfrm>
              <a:prstGeom prst="round2SameRect">
                <a:avLst>
                  <a:gd fmla="val 50000" name="adj1"/>
                  <a:gd fmla="val 0" name="adj2"/>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18" name="Google Shape;18;g3da8f2e7afe_0_346"/>
            <p:cNvGrpSpPr/>
            <p:nvPr/>
          </p:nvGrpSpPr>
          <p:grpSpPr>
            <a:xfrm>
              <a:off x="7801210" y="4105700"/>
              <a:ext cx="316800" cy="1036523"/>
              <a:chOff x="7801210" y="4105700"/>
              <a:chExt cx="316800" cy="1036523"/>
            </a:xfrm>
          </p:grpSpPr>
          <p:sp>
            <p:nvSpPr>
              <p:cNvPr id="19" name="Google Shape;19;g3da8f2e7afe_0_346"/>
              <p:cNvSpPr/>
              <p:nvPr/>
            </p:nvSpPr>
            <p:spPr>
              <a:xfrm>
                <a:off x="7801210" y="4453711"/>
                <a:ext cx="316800" cy="688500"/>
              </a:xfrm>
              <a:prstGeom prst="round2SameRect">
                <a:avLst>
                  <a:gd fmla="val 50000" name="adj1"/>
                  <a:gd fmla="val 0" name="adj2"/>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0" name="Google Shape;20;g3da8f2e7afe_0_346"/>
              <p:cNvSpPr/>
              <p:nvPr/>
            </p:nvSpPr>
            <p:spPr>
              <a:xfrm>
                <a:off x="7801210" y="4105700"/>
                <a:ext cx="316800" cy="1036500"/>
              </a:xfrm>
              <a:prstGeom prst="round2SameRect">
                <a:avLst>
                  <a:gd fmla="val 50000" name="adj1"/>
                  <a:gd fmla="val 0" name="adj2"/>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1" name="Google Shape;21;g3da8f2e7afe_0_346"/>
              <p:cNvSpPr/>
              <p:nvPr/>
            </p:nvSpPr>
            <p:spPr>
              <a:xfrm>
                <a:off x="7801210" y="4801723"/>
                <a:ext cx="316800" cy="340500"/>
              </a:xfrm>
              <a:prstGeom prst="round2SameRect">
                <a:avLst>
                  <a:gd fmla="val 50000" name="adj1"/>
                  <a:gd fmla="val 0" name="adj2"/>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22" name="Google Shape;22;g3da8f2e7afe_0_346"/>
            <p:cNvGrpSpPr/>
            <p:nvPr/>
          </p:nvGrpSpPr>
          <p:grpSpPr>
            <a:xfrm>
              <a:off x="8259418" y="3757688"/>
              <a:ext cx="316800" cy="1384535"/>
              <a:chOff x="8259418" y="3757688"/>
              <a:chExt cx="316800" cy="1384535"/>
            </a:xfrm>
          </p:grpSpPr>
          <p:sp>
            <p:nvSpPr>
              <p:cNvPr id="23" name="Google Shape;23;g3da8f2e7afe_0_346"/>
              <p:cNvSpPr/>
              <p:nvPr/>
            </p:nvSpPr>
            <p:spPr>
              <a:xfrm>
                <a:off x="8259418" y="4453711"/>
                <a:ext cx="316800" cy="688500"/>
              </a:xfrm>
              <a:prstGeom prst="round2SameRect">
                <a:avLst>
                  <a:gd fmla="val 50000" name="adj1"/>
                  <a:gd fmla="val 0" name="adj2"/>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4" name="Google Shape;24;g3da8f2e7afe_0_346"/>
              <p:cNvSpPr/>
              <p:nvPr/>
            </p:nvSpPr>
            <p:spPr>
              <a:xfrm>
                <a:off x="8259418" y="3757688"/>
                <a:ext cx="316800" cy="1384500"/>
              </a:xfrm>
              <a:prstGeom prst="round2SameRect">
                <a:avLst>
                  <a:gd fmla="val 50000" name="adj1"/>
                  <a:gd fmla="val 0" name="adj2"/>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5" name="Google Shape;25;g3da8f2e7afe_0_346"/>
              <p:cNvSpPr/>
              <p:nvPr/>
            </p:nvSpPr>
            <p:spPr>
              <a:xfrm>
                <a:off x="8259418" y="4105700"/>
                <a:ext cx="316800" cy="1036500"/>
              </a:xfrm>
              <a:prstGeom prst="round2SameRect">
                <a:avLst>
                  <a:gd fmla="val 50000" name="adj1"/>
                  <a:gd fmla="val 0" name="adj2"/>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6" name="Google Shape;26;g3da8f2e7afe_0_346"/>
              <p:cNvSpPr/>
              <p:nvPr/>
            </p:nvSpPr>
            <p:spPr>
              <a:xfrm>
                <a:off x="8259418" y="4801723"/>
                <a:ext cx="316800" cy="340500"/>
              </a:xfrm>
              <a:prstGeom prst="round2SameRect">
                <a:avLst>
                  <a:gd fmla="val 50000" name="adj1"/>
                  <a:gd fmla="val 0" name="adj2"/>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27" name="Google Shape;27;g3da8f2e7afe_0_346"/>
            <p:cNvGrpSpPr/>
            <p:nvPr/>
          </p:nvGrpSpPr>
          <p:grpSpPr>
            <a:xfrm>
              <a:off x="8717625" y="3409675"/>
              <a:ext cx="316800" cy="1732548"/>
              <a:chOff x="8717625" y="3409675"/>
              <a:chExt cx="316800" cy="1732548"/>
            </a:xfrm>
          </p:grpSpPr>
          <p:sp>
            <p:nvSpPr>
              <p:cNvPr id="28" name="Google Shape;28;g3da8f2e7afe_0_346"/>
              <p:cNvSpPr/>
              <p:nvPr/>
            </p:nvSpPr>
            <p:spPr>
              <a:xfrm>
                <a:off x="8717625" y="4453711"/>
                <a:ext cx="316800" cy="688500"/>
              </a:xfrm>
              <a:prstGeom prst="round2SameRect">
                <a:avLst>
                  <a:gd fmla="val 50000" name="adj1"/>
                  <a:gd fmla="val 0" name="adj2"/>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9" name="Google Shape;29;g3da8f2e7afe_0_346"/>
              <p:cNvSpPr/>
              <p:nvPr/>
            </p:nvSpPr>
            <p:spPr>
              <a:xfrm>
                <a:off x="8717625" y="3757688"/>
                <a:ext cx="316800" cy="1384500"/>
              </a:xfrm>
              <a:prstGeom prst="round2SameRect">
                <a:avLst>
                  <a:gd fmla="val 50000" name="adj1"/>
                  <a:gd fmla="val 0" name="adj2"/>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30" name="Google Shape;30;g3da8f2e7afe_0_346"/>
              <p:cNvSpPr/>
              <p:nvPr/>
            </p:nvSpPr>
            <p:spPr>
              <a:xfrm>
                <a:off x="8717625" y="4105700"/>
                <a:ext cx="316800" cy="1036500"/>
              </a:xfrm>
              <a:prstGeom prst="round2SameRect">
                <a:avLst>
                  <a:gd fmla="val 50000" name="adj1"/>
                  <a:gd fmla="val 0" name="adj2"/>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31" name="Google Shape;31;g3da8f2e7afe_0_346"/>
              <p:cNvSpPr/>
              <p:nvPr/>
            </p:nvSpPr>
            <p:spPr>
              <a:xfrm>
                <a:off x="8717625" y="3409675"/>
                <a:ext cx="316800" cy="1732500"/>
              </a:xfrm>
              <a:prstGeom prst="round2SameRect">
                <a:avLst>
                  <a:gd fmla="val 50000" name="adj1"/>
                  <a:gd fmla="val 0" name="adj2"/>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32" name="Google Shape;32;g3da8f2e7afe_0_346"/>
              <p:cNvSpPr/>
              <p:nvPr/>
            </p:nvSpPr>
            <p:spPr>
              <a:xfrm>
                <a:off x="8717625" y="4801723"/>
                <a:ext cx="316800" cy="340500"/>
              </a:xfrm>
              <a:prstGeom prst="round2SameRect">
                <a:avLst>
                  <a:gd fmla="val 50000" name="adj1"/>
                  <a:gd fmla="val 0" name="adj2"/>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grpSp>
        <p:nvGrpSpPr>
          <p:cNvPr id="33" name="Google Shape;33;g3da8f2e7afe_0_346"/>
          <p:cNvGrpSpPr/>
          <p:nvPr/>
        </p:nvGrpSpPr>
        <p:grpSpPr>
          <a:xfrm>
            <a:off x="10087005" y="0"/>
            <a:ext cx="7628145" cy="7678204"/>
            <a:chOff x="5043503" y="0"/>
            <a:chExt cx="3814072" cy="3839102"/>
          </a:xfrm>
        </p:grpSpPr>
        <p:sp>
          <p:nvSpPr>
            <p:cNvPr id="34" name="Google Shape;34;g3da8f2e7afe_0_346"/>
            <p:cNvSpPr/>
            <p:nvPr/>
          </p:nvSpPr>
          <p:spPr>
            <a:xfrm>
              <a:off x="8460975" y="1817775"/>
              <a:ext cx="396600" cy="396600"/>
            </a:xfrm>
            <a:prstGeom prst="ellipse">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35" name="Google Shape;35;g3da8f2e7afe_0_346"/>
            <p:cNvSpPr/>
            <p:nvPr/>
          </p:nvSpPr>
          <p:spPr>
            <a:xfrm rot="-9830444">
              <a:off x="6469759" y="3480728"/>
              <a:ext cx="320148" cy="320148"/>
            </a:xfrm>
            <a:prstGeom prst="ellipse">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nvGrpSpPr>
            <p:cNvPr id="36" name="Google Shape;36;g3da8f2e7afe_0_346"/>
            <p:cNvGrpSpPr/>
            <p:nvPr/>
          </p:nvGrpSpPr>
          <p:grpSpPr>
            <a:xfrm>
              <a:off x="7647812" y="2704283"/>
              <a:ext cx="635219" cy="635219"/>
              <a:chOff x="6725724" y="2701260"/>
              <a:chExt cx="1208101" cy="1208100"/>
            </a:xfrm>
          </p:grpSpPr>
          <p:sp>
            <p:nvSpPr>
              <p:cNvPr id="37" name="Google Shape;37;g3da8f2e7afe_0_346"/>
              <p:cNvSpPr/>
              <p:nvPr/>
            </p:nvSpPr>
            <p:spPr>
              <a:xfrm rot="5400000">
                <a:off x="6725725" y="2701260"/>
                <a:ext cx="1208100" cy="1208100"/>
              </a:xfrm>
              <a:prstGeom prst="ellipse">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38" name="Google Shape;38;g3da8f2e7afe_0_346"/>
              <p:cNvSpPr/>
              <p:nvPr/>
            </p:nvSpPr>
            <p:spPr>
              <a:xfrm rot="5400000">
                <a:off x="6725724" y="2701260"/>
                <a:ext cx="1208100" cy="1208100"/>
              </a:xfrm>
              <a:prstGeom prst="pie">
                <a:avLst>
                  <a:gd fmla="val 8244818" name="adj1"/>
                  <a:gd fmla="val 16246175" name="adj2"/>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39" name="Google Shape;39;g3da8f2e7afe_0_346"/>
              <p:cNvSpPr/>
              <p:nvPr/>
            </p:nvSpPr>
            <p:spPr>
              <a:xfrm rot="5400000">
                <a:off x="6954988" y="2930398"/>
                <a:ext cx="749700" cy="749700"/>
              </a:xfrm>
              <a:prstGeom prst="ellipse">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sp>
          <p:nvSpPr>
            <p:cNvPr id="40" name="Google Shape;40;g3da8f2e7afe_0_346"/>
            <p:cNvSpPr/>
            <p:nvPr/>
          </p:nvSpPr>
          <p:spPr>
            <a:xfrm>
              <a:off x="8460975" y="1817775"/>
              <a:ext cx="396600" cy="396600"/>
            </a:xfrm>
            <a:prstGeom prst="pie">
              <a:avLst>
                <a:gd fmla="val 19376841" name="adj1"/>
                <a:gd fmla="val 16200000" name="adj2"/>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nvGrpSpPr>
            <p:cNvPr id="41" name="Google Shape;41;g3da8f2e7afe_0_346"/>
            <p:cNvGrpSpPr/>
            <p:nvPr/>
          </p:nvGrpSpPr>
          <p:grpSpPr>
            <a:xfrm>
              <a:off x="7952720" y="179238"/>
              <a:ext cx="873165" cy="873003"/>
              <a:chOff x="7754428" y="208725"/>
              <a:chExt cx="541800" cy="541800"/>
            </a:xfrm>
          </p:grpSpPr>
          <p:sp>
            <p:nvSpPr>
              <p:cNvPr id="42" name="Google Shape;42;g3da8f2e7afe_0_346"/>
              <p:cNvSpPr/>
              <p:nvPr/>
            </p:nvSpPr>
            <p:spPr>
              <a:xfrm rot="-8647347">
                <a:off x="7831319" y="285616"/>
                <a:ext cx="388018" cy="388018"/>
              </a:xfrm>
              <a:prstGeom prst="ellipse">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43" name="Google Shape;43;g3da8f2e7afe_0_346"/>
              <p:cNvSpPr/>
              <p:nvPr/>
            </p:nvSpPr>
            <p:spPr>
              <a:xfrm rot="-8647347">
                <a:off x="7831319" y="285616"/>
                <a:ext cx="388018" cy="388018"/>
              </a:xfrm>
              <a:prstGeom prst="pie">
                <a:avLst>
                  <a:gd fmla="val 19376841" name="adj1"/>
                  <a:gd fmla="val 12313574" name="adj2"/>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sp>
          <p:nvSpPr>
            <p:cNvPr id="44" name="Google Shape;44;g3da8f2e7afe_0_346"/>
            <p:cNvSpPr/>
            <p:nvPr/>
          </p:nvSpPr>
          <p:spPr>
            <a:xfrm>
              <a:off x="5399840" y="356365"/>
              <a:ext cx="2577000" cy="2577000"/>
            </a:xfrm>
            <a:prstGeom prst="ellipse">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45" name="Google Shape;45;g3da8f2e7afe_0_346"/>
            <p:cNvSpPr/>
            <p:nvPr/>
          </p:nvSpPr>
          <p:spPr>
            <a:xfrm rot="2043858">
              <a:off x="5503813" y="460310"/>
              <a:ext cx="2369480" cy="2369480"/>
            </a:xfrm>
            <a:prstGeom prst="ellipse">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46" name="Google Shape;46;g3da8f2e7afe_0_346"/>
            <p:cNvSpPr/>
            <p:nvPr/>
          </p:nvSpPr>
          <p:spPr>
            <a:xfrm>
              <a:off x="5399795" y="360281"/>
              <a:ext cx="2577000" cy="2577000"/>
            </a:xfrm>
            <a:prstGeom prst="pie">
              <a:avLst>
                <a:gd fmla="val 8801158" name="adj1"/>
                <a:gd fmla="val 16200000" name="adj2"/>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47" name="Google Shape;47;g3da8f2e7afe_0_346"/>
            <p:cNvSpPr/>
            <p:nvPr/>
          </p:nvSpPr>
          <p:spPr>
            <a:xfrm rot="2044777">
              <a:off x="5911449" y="867729"/>
              <a:ext cx="1554223" cy="1554223"/>
            </a:xfrm>
            <a:prstGeom prst="ellipse">
              <a:avLst/>
            </a:prstGeom>
            <a:solidFill>
              <a:schemeClr val="accent3"/>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48" name="Google Shape;48;g3da8f2e7afe_0_346"/>
            <p:cNvSpPr/>
            <p:nvPr/>
          </p:nvSpPr>
          <p:spPr>
            <a:xfrm>
              <a:off x="5399795" y="356358"/>
              <a:ext cx="2577000" cy="2577000"/>
            </a:xfrm>
            <a:prstGeom prst="pie">
              <a:avLst>
                <a:gd fmla="val 12554101" name="adj1"/>
                <a:gd fmla="val 16200000" name="adj2"/>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49" name="Google Shape;49;g3da8f2e7afe_0_346"/>
            <p:cNvSpPr/>
            <p:nvPr/>
          </p:nvSpPr>
          <p:spPr>
            <a:xfrm rot="-9830444">
              <a:off x="6469759" y="3480727"/>
              <a:ext cx="320148" cy="320148"/>
            </a:xfrm>
            <a:prstGeom prst="pie">
              <a:avLst>
                <a:gd fmla="val 19376841" name="adj1"/>
                <a:gd fmla="val 16200000" name="adj2"/>
              </a:avLst>
            </a:prstGeom>
            <a:solidFill>
              <a:schemeClr val="lt1">
                <a:alpha val="941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sp>
        <p:nvSpPr>
          <p:cNvPr id="50" name="Google Shape;50;g3da8f2e7afe_0_346"/>
          <p:cNvSpPr txBox="1"/>
          <p:nvPr>
            <p:ph type="ctrTitle"/>
          </p:nvPr>
        </p:nvSpPr>
        <p:spPr>
          <a:xfrm>
            <a:off x="1648000" y="3227625"/>
            <a:ext cx="8511000" cy="3745800"/>
          </a:xfrm>
          <a:prstGeom prst="rect">
            <a:avLst/>
          </a:prstGeom>
        </p:spPr>
        <p:txBody>
          <a:bodyPr anchorCtr="0" anchor="ctr" bIns="182850" lIns="182850" spcFirstLastPara="1" rIns="182850" wrap="square" tIns="182850">
            <a:normAutofit/>
          </a:bodyPr>
          <a:lstStyle>
            <a:lvl1pPr lvl="0">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51" name="Google Shape;51;g3da8f2e7afe_0_346"/>
          <p:cNvSpPr txBox="1"/>
          <p:nvPr>
            <p:ph idx="1" type="subTitle"/>
          </p:nvPr>
        </p:nvSpPr>
        <p:spPr>
          <a:xfrm>
            <a:off x="1648000" y="7192600"/>
            <a:ext cx="8511000" cy="1390800"/>
          </a:xfrm>
          <a:prstGeom prst="rect">
            <a:avLst/>
          </a:prstGeom>
        </p:spPr>
        <p:txBody>
          <a:bodyPr anchorCtr="0" anchor="t" bIns="182850" lIns="182850" spcFirstLastPara="1" rIns="182850" wrap="square" tIns="182850">
            <a:normAutofit/>
          </a:bodyPr>
          <a:lstStyle>
            <a:lvl1pPr lvl="0">
              <a:lnSpc>
                <a:spcPct val="100000"/>
              </a:lnSpc>
              <a:spcBef>
                <a:spcPts val="0"/>
              </a:spcBef>
              <a:spcAft>
                <a:spcPts val="0"/>
              </a:spcAft>
              <a:buClr>
                <a:schemeClr val="lt1"/>
              </a:buClr>
              <a:buSzPts val="3200"/>
              <a:buNone/>
              <a:defRPr sz="3200">
                <a:solidFill>
                  <a:schemeClr val="lt1"/>
                </a:solidFill>
              </a:defRPr>
            </a:lvl1pPr>
            <a:lvl2pPr lvl="1">
              <a:lnSpc>
                <a:spcPct val="100000"/>
              </a:lnSpc>
              <a:spcBef>
                <a:spcPts val="0"/>
              </a:spcBef>
              <a:spcAft>
                <a:spcPts val="0"/>
              </a:spcAft>
              <a:buClr>
                <a:schemeClr val="lt1"/>
              </a:buClr>
              <a:buSzPts val="3200"/>
              <a:buNone/>
              <a:defRPr sz="3200">
                <a:solidFill>
                  <a:schemeClr val="lt1"/>
                </a:solidFill>
              </a:defRPr>
            </a:lvl2pPr>
            <a:lvl3pPr lvl="2">
              <a:lnSpc>
                <a:spcPct val="100000"/>
              </a:lnSpc>
              <a:spcBef>
                <a:spcPts val="0"/>
              </a:spcBef>
              <a:spcAft>
                <a:spcPts val="0"/>
              </a:spcAft>
              <a:buClr>
                <a:schemeClr val="lt1"/>
              </a:buClr>
              <a:buSzPts val="3200"/>
              <a:buNone/>
              <a:defRPr sz="3200">
                <a:solidFill>
                  <a:schemeClr val="lt1"/>
                </a:solidFill>
              </a:defRPr>
            </a:lvl3pPr>
            <a:lvl4pPr lvl="3">
              <a:lnSpc>
                <a:spcPct val="100000"/>
              </a:lnSpc>
              <a:spcBef>
                <a:spcPts val="0"/>
              </a:spcBef>
              <a:spcAft>
                <a:spcPts val="0"/>
              </a:spcAft>
              <a:buClr>
                <a:schemeClr val="lt1"/>
              </a:buClr>
              <a:buSzPts val="3200"/>
              <a:buNone/>
              <a:defRPr sz="3200">
                <a:solidFill>
                  <a:schemeClr val="lt1"/>
                </a:solidFill>
              </a:defRPr>
            </a:lvl4pPr>
            <a:lvl5pPr lvl="4">
              <a:lnSpc>
                <a:spcPct val="100000"/>
              </a:lnSpc>
              <a:spcBef>
                <a:spcPts val="0"/>
              </a:spcBef>
              <a:spcAft>
                <a:spcPts val="0"/>
              </a:spcAft>
              <a:buClr>
                <a:schemeClr val="lt1"/>
              </a:buClr>
              <a:buSzPts val="3200"/>
              <a:buNone/>
              <a:defRPr sz="3200">
                <a:solidFill>
                  <a:schemeClr val="lt1"/>
                </a:solidFill>
              </a:defRPr>
            </a:lvl5pPr>
            <a:lvl6pPr lvl="5">
              <a:lnSpc>
                <a:spcPct val="100000"/>
              </a:lnSpc>
              <a:spcBef>
                <a:spcPts val="0"/>
              </a:spcBef>
              <a:spcAft>
                <a:spcPts val="0"/>
              </a:spcAft>
              <a:buClr>
                <a:schemeClr val="lt1"/>
              </a:buClr>
              <a:buSzPts val="3200"/>
              <a:buNone/>
              <a:defRPr sz="3200">
                <a:solidFill>
                  <a:schemeClr val="lt1"/>
                </a:solidFill>
              </a:defRPr>
            </a:lvl6pPr>
            <a:lvl7pPr lvl="6">
              <a:lnSpc>
                <a:spcPct val="100000"/>
              </a:lnSpc>
              <a:spcBef>
                <a:spcPts val="0"/>
              </a:spcBef>
              <a:spcAft>
                <a:spcPts val="0"/>
              </a:spcAft>
              <a:buClr>
                <a:schemeClr val="lt1"/>
              </a:buClr>
              <a:buSzPts val="3200"/>
              <a:buNone/>
              <a:defRPr sz="3200">
                <a:solidFill>
                  <a:schemeClr val="lt1"/>
                </a:solidFill>
              </a:defRPr>
            </a:lvl7pPr>
            <a:lvl8pPr lvl="7">
              <a:lnSpc>
                <a:spcPct val="100000"/>
              </a:lnSpc>
              <a:spcBef>
                <a:spcPts val="0"/>
              </a:spcBef>
              <a:spcAft>
                <a:spcPts val="0"/>
              </a:spcAft>
              <a:buClr>
                <a:schemeClr val="lt1"/>
              </a:buClr>
              <a:buSzPts val="3200"/>
              <a:buNone/>
              <a:defRPr sz="3200">
                <a:solidFill>
                  <a:schemeClr val="lt1"/>
                </a:solidFill>
              </a:defRPr>
            </a:lvl8pPr>
            <a:lvl9pPr lvl="8">
              <a:lnSpc>
                <a:spcPct val="100000"/>
              </a:lnSpc>
              <a:spcBef>
                <a:spcPts val="0"/>
              </a:spcBef>
              <a:spcAft>
                <a:spcPts val="0"/>
              </a:spcAft>
              <a:buClr>
                <a:schemeClr val="lt1"/>
              </a:buClr>
              <a:buSzPts val="3200"/>
              <a:buNone/>
              <a:defRPr sz="3200">
                <a:solidFill>
                  <a:schemeClr val="lt1"/>
                </a:solidFill>
              </a:defRPr>
            </a:lvl9pPr>
          </a:lstStyle>
          <a:p/>
        </p:txBody>
      </p:sp>
      <p:sp>
        <p:nvSpPr>
          <p:cNvPr id="52" name="Google Shape;52;g3da8f2e7afe_0_346"/>
          <p:cNvSpPr txBox="1"/>
          <p:nvPr>
            <p:ph idx="12" type="sldNum"/>
          </p:nvPr>
        </p:nvSpPr>
        <p:spPr>
          <a:xfrm>
            <a:off x="16902092" y="9473952"/>
            <a:ext cx="1097400" cy="787200"/>
          </a:xfrm>
          <a:prstGeom prst="rect">
            <a:avLst/>
          </a:prstGeom>
        </p:spPr>
        <p:txBody>
          <a:bodyPr anchorCtr="0" anchor="ctr" bIns="182850" lIns="182850" spcFirstLastPara="1" rIns="182850" wrap="square" tIns="18285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53" name="Shape 53"/>
        <p:cNvGrpSpPr/>
        <p:nvPr/>
      </p:nvGrpSpPr>
      <p:grpSpPr>
        <a:xfrm>
          <a:off x="0" y="0"/>
          <a:ext cx="0" cy="0"/>
          <a:chOff x="0" y="0"/>
          <a:chExt cx="0" cy="0"/>
        </a:xfrm>
      </p:grpSpPr>
      <p:grpSp>
        <p:nvGrpSpPr>
          <p:cNvPr id="54" name="Google Shape;54;g3da8f2e7afe_0_386"/>
          <p:cNvGrpSpPr/>
          <p:nvPr/>
        </p:nvGrpSpPr>
        <p:grpSpPr>
          <a:xfrm>
            <a:off x="293537" y="6812"/>
            <a:ext cx="2466430" cy="2769070"/>
            <a:chOff x="146769" y="3406"/>
            <a:chExt cx="1233215" cy="1384535"/>
          </a:xfrm>
        </p:grpSpPr>
        <p:grpSp>
          <p:nvGrpSpPr>
            <p:cNvPr id="55" name="Google Shape;55;g3da8f2e7afe_0_386"/>
            <p:cNvGrpSpPr/>
            <p:nvPr/>
          </p:nvGrpSpPr>
          <p:grpSpPr>
            <a:xfrm>
              <a:off x="1063183" y="3406"/>
              <a:ext cx="316800" cy="688513"/>
              <a:chOff x="1063183" y="3406"/>
              <a:chExt cx="316800" cy="688513"/>
            </a:xfrm>
          </p:grpSpPr>
          <p:sp>
            <p:nvSpPr>
              <p:cNvPr id="56" name="Google Shape;56;g3da8f2e7afe_0_386"/>
              <p:cNvSpPr/>
              <p:nvPr/>
            </p:nvSpPr>
            <p:spPr>
              <a:xfrm rot="10800000">
                <a:off x="1063183" y="3419"/>
                <a:ext cx="316800" cy="6885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57" name="Google Shape;57;g3da8f2e7afe_0_386"/>
              <p:cNvSpPr/>
              <p:nvPr/>
            </p:nvSpPr>
            <p:spPr>
              <a:xfrm rot="10800000">
                <a:off x="1063183" y="3406"/>
                <a:ext cx="316800" cy="3405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58" name="Google Shape;58;g3da8f2e7afe_0_386"/>
            <p:cNvGrpSpPr/>
            <p:nvPr/>
          </p:nvGrpSpPr>
          <p:grpSpPr>
            <a:xfrm>
              <a:off x="604976" y="3406"/>
              <a:ext cx="316800" cy="1036524"/>
              <a:chOff x="604976" y="3406"/>
              <a:chExt cx="316800" cy="1036524"/>
            </a:xfrm>
          </p:grpSpPr>
          <p:sp>
            <p:nvSpPr>
              <p:cNvPr id="59" name="Google Shape;59;g3da8f2e7afe_0_386"/>
              <p:cNvSpPr/>
              <p:nvPr/>
            </p:nvSpPr>
            <p:spPr>
              <a:xfrm rot="10800000">
                <a:off x="604976" y="3419"/>
                <a:ext cx="316800" cy="6885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60" name="Google Shape;60;g3da8f2e7afe_0_386"/>
              <p:cNvSpPr/>
              <p:nvPr/>
            </p:nvSpPr>
            <p:spPr>
              <a:xfrm rot="10800000">
                <a:off x="604976" y="3430"/>
                <a:ext cx="316800" cy="10365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61" name="Google Shape;61;g3da8f2e7afe_0_386"/>
              <p:cNvSpPr/>
              <p:nvPr/>
            </p:nvSpPr>
            <p:spPr>
              <a:xfrm rot="10800000">
                <a:off x="604976" y="3406"/>
                <a:ext cx="316800" cy="3405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62" name="Google Shape;62;g3da8f2e7afe_0_386"/>
            <p:cNvGrpSpPr/>
            <p:nvPr/>
          </p:nvGrpSpPr>
          <p:grpSpPr>
            <a:xfrm>
              <a:off x="146769" y="3406"/>
              <a:ext cx="316800" cy="1384535"/>
              <a:chOff x="146769" y="3406"/>
              <a:chExt cx="316800" cy="1384535"/>
            </a:xfrm>
          </p:grpSpPr>
          <p:sp>
            <p:nvSpPr>
              <p:cNvPr id="63" name="Google Shape;63;g3da8f2e7afe_0_386"/>
              <p:cNvSpPr/>
              <p:nvPr/>
            </p:nvSpPr>
            <p:spPr>
              <a:xfrm rot="10800000">
                <a:off x="146769" y="3419"/>
                <a:ext cx="316800" cy="6885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64" name="Google Shape;64;g3da8f2e7afe_0_386"/>
              <p:cNvSpPr/>
              <p:nvPr/>
            </p:nvSpPr>
            <p:spPr>
              <a:xfrm rot="10800000">
                <a:off x="146769" y="3441"/>
                <a:ext cx="316800" cy="13845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65" name="Google Shape;65;g3da8f2e7afe_0_386"/>
              <p:cNvSpPr/>
              <p:nvPr/>
            </p:nvSpPr>
            <p:spPr>
              <a:xfrm rot="10800000">
                <a:off x="146769" y="3430"/>
                <a:ext cx="316800" cy="10365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66" name="Google Shape;66;g3da8f2e7afe_0_386"/>
              <p:cNvSpPr/>
              <p:nvPr/>
            </p:nvSpPr>
            <p:spPr>
              <a:xfrm rot="10800000">
                <a:off x="146769" y="3406"/>
                <a:ext cx="316800" cy="3405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grpSp>
        <p:nvGrpSpPr>
          <p:cNvPr id="67" name="Google Shape;67;g3da8f2e7afe_0_386"/>
          <p:cNvGrpSpPr/>
          <p:nvPr/>
        </p:nvGrpSpPr>
        <p:grpSpPr>
          <a:xfrm>
            <a:off x="13550167" y="5808017"/>
            <a:ext cx="4372295" cy="4479000"/>
            <a:chOff x="6775084" y="2904008"/>
            <a:chExt cx="2186148" cy="2239500"/>
          </a:xfrm>
        </p:grpSpPr>
        <p:grpSp>
          <p:nvGrpSpPr>
            <p:cNvPr id="68" name="Google Shape;68;g3da8f2e7afe_0_386"/>
            <p:cNvGrpSpPr/>
            <p:nvPr/>
          </p:nvGrpSpPr>
          <p:grpSpPr>
            <a:xfrm>
              <a:off x="6775084" y="4253708"/>
              <a:ext cx="409500" cy="889800"/>
              <a:chOff x="6775084" y="4253708"/>
              <a:chExt cx="409500" cy="889800"/>
            </a:xfrm>
          </p:grpSpPr>
          <p:sp>
            <p:nvSpPr>
              <p:cNvPr id="69" name="Google Shape;69;g3da8f2e7afe_0_386"/>
              <p:cNvSpPr/>
              <p:nvPr/>
            </p:nvSpPr>
            <p:spPr>
              <a:xfrm>
                <a:off x="6775084" y="4253708"/>
                <a:ext cx="409500" cy="8898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70" name="Google Shape;70;g3da8f2e7afe_0_386"/>
              <p:cNvSpPr/>
              <p:nvPr/>
            </p:nvSpPr>
            <p:spPr>
              <a:xfrm>
                <a:off x="6775084" y="4703408"/>
                <a:ext cx="409500" cy="4401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71" name="Google Shape;71;g3da8f2e7afe_0_386"/>
            <p:cNvGrpSpPr/>
            <p:nvPr/>
          </p:nvGrpSpPr>
          <p:grpSpPr>
            <a:xfrm>
              <a:off x="7367299" y="3804008"/>
              <a:ext cx="409500" cy="1339500"/>
              <a:chOff x="7367299" y="3804008"/>
              <a:chExt cx="409500" cy="1339500"/>
            </a:xfrm>
          </p:grpSpPr>
          <p:sp>
            <p:nvSpPr>
              <p:cNvPr id="72" name="Google Shape;72;g3da8f2e7afe_0_386"/>
              <p:cNvSpPr/>
              <p:nvPr/>
            </p:nvSpPr>
            <p:spPr>
              <a:xfrm>
                <a:off x="7367299" y="4253708"/>
                <a:ext cx="409500" cy="8898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73" name="Google Shape;73;g3da8f2e7afe_0_386"/>
              <p:cNvSpPr/>
              <p:nvPr/>
            </p:nvSpPr>
            <p:spPr>
              <a:xfrm>
                <a:off x="7367299" y="3804008"/>
                <a:ext cx="409500" cy="13395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74" name="Google Shape;74;g3da8f2e7afe_0_386"/>
              <p:cNvSpPr/>
              <p:nvPr/>
            </p:nvSpPr>
            <p:spPr>
              <a:xfrm>
                <a:off x="7367299" y="4703408"/>
                <a:ext cx="409500" cy="4401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75" name="Google Shape;75;g3da8f2e7afe_0_386"/>
            <p:cNvGrpSpPr/>
            <p:nvPr/>
          </p:nvGrpSpPr>
          <p:grpSpPr>
            <a:xfrm>
              <a:off x="7959516" y="3354008"/>
              <a:ext cx="409500" cy="1789500"/>
              <a:chOff x="7959516" y="3354008"/>
              <a:chExt cx="409500" cy="1789500"/>
            </a:xfrm>
          </p:grpSpPr>
          <p:sp>
            <p:nvSpPr>
              <p:cNvPr id="76" name="Google Shape;76;g3da8f2e7afe_0_386"/>
              <p:cNvSpPr/>
              <p:nvPr/>
            </p:nvSpPr>
            <p:spPr>
              <a:xfrm>
                <a:off x="7959516" y="4253708"/>
                <a:ext cx="409500" cy="8898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77" name="Google Shape;77;g3da8f2e7afe_0_386"/>
              <p:cNvSpPr/>
              <p:nvPr/>
            </p:nvSpPr>
            <p:spPr>
              <a:xfrm>
                <a:off x="7959516" y="3354008"/>
                <a:ext cx="409500" cy="17895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78" name="Google Shape;78;g3da8f2e7afe_0_386"/>
              <p:cNvSpPr/>
              <p:nvPr/>
            </p:nvSpPr>
            <p:spPr>
              <a:xfrm>
                <a:off x="7959516" y="3804008"/>
                <a:ext cx="409500" cy="13395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79" name="Google Shape;79;g3da8f2e7afe_0_386"/>
              <p:cNvSpPr/>
              <p:nvPr/>
            </p:nvSpPr>
            <p:spPr>
              <a:xfrm>
                <a:off x="7959516" y="4703408"/>
                <a:ext cx="409500" cy="4401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80" name="Google Shape;80;g3da8f2e7afe_0_386"/>
            <p:cNvGrpSpPr/>
            <p:nvPr/>
          </p:nvGrpSpPr>
          <p:grpSpPr>
            <a:xfrm>
              <a:off x="8551731" y="2904008"/>
              <a:ext cx="409500" cy="2239500"/>
              <a:chOff x="8551731" y="2904008"/>
              <a:chExt cx="409500" cy="2239500"/>
            </a:xfrm>
          </p:grpSpPr>
          <p:sp>
            <p:nvSpPr>
              <p:cNvPr id="81" name="Google Shape;81;g3da8f2e7afe_0_386"/>
              <p:cNvSpPr/>
              <p:nvPr/>
            </p:nvSpPr>
            <p:spPr>
              <a:xfrm>
                <a:off x="8551731" y="4253708"/>
                <a:ext cx="409500" cy="8898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82" name="Google Shape;82;g3da8f2e7afe_0_386"/>
              <p:cNvSpPr/>
              <p:nvPr/>
            </p:nvSpPr>
            <p:spPr>
              <a:xfrm>
                <a:off x="8551731" y="3354008"/>
                <a:ext cx="409500" cy="17895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83" name="Google Shape;83;g3da8f2e7afe_0_386"/>
              <p:cNvSpPr/>
              <p:nvPr/>
            </p:nvSpPr>
            <p:spPr>
              <a:xfrm>
                <a:off x="8551731" y="3804008"/>
                <a:ext cx="409500" cy="13395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84" name="Google Shape;84;g3da8f2e7afe_0_386"/>
              <p:cNvSpPr/>
              <p:nvPr/>
            </p:nvSpPr>
            <p:spPr>
              <a:xfrm>
                <a:off x="8551731" y="2904008"/>
                <a:ext cx="409500" cy="22395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85" name="Google Shape;85;g3da8f2e7afe_0_386"/>
              <p:cNvSpPr/>
              <p:nvPr/>
            </p:nvSpPr>
            <p:spPr>
              <a:xfrm>
                <a:off x="8551731" y="4703408"/>
                <a:ext cx="409500" cy="4401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sp>
        <p:nvSpPr>
          <p:cNvPr id="86" name="Google Shape;86;g3da8f2e7afe_0_386"/>
          <p:cNvSpPr txBox="1"/>
          <p:nvPr>
            <p:ph type="title"/>
          </p:nvPr>
        </p:nvSpPr>
        <p:spPr>
          <a:xfrm>
            <a:off x="1648000" y="3227650"/>
            <a:ext cx="11715600" cy="3745800"/>
          </a:xfrm>
          <a:prstGeom prst="rect">
            <a:avLst/>
          </a:prstGeom>
        </p:spPr>
        <p:txBody>
          <a:bodyPr anchorCtr="0" anchor="ctr" bIns="182850" lIns="182850" spcFirstLastPara="1" rIns="182850" wrap="square" tIns="182850">
            <a:normAutofit/>
          </a:bodyPr>
          <a:lstStyle>
            <a:lvl1pPr lvl="0">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87" name="Google Shape;87;g3da8f2e7afe_0_386"/>
          <p:cNvSpPr txBox="1"/>
          <p:nvPr>
            <p:ph idx="12" type="sldNum"/>
          </p:nvPr>
        </p:nvSpPr>
        <p:spPr>
          <a:xfrm>
            <a:off x="16902092" y="9473952"/>
            <a:ext cx="1097400" cy="787200"/>
          </a:xfrm>
          <a:prstGeom prst="rect">
            <a:avLst/>
          </a:prstGeom>
        </p:spPr>
        <p:txBody>
          <a:bodyPr anchorCtr="0" anchor="ctr" bIns="182850" lIns="182850" spcFirstLastPara="1" rIns="182850" wrap="square" tIns="18285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88" name="Shape 88"/>
        <p:cNvGrpSpPr/>
        <p:nvPr/>
      </p:nvGrpSpPr>
      <p:grpSpPr>
        <a:xfrm>
          <a:off x="0" y="0"/>
          <a:ext cx="0" cy="0"/>
          <a:chOff x="0" y="0"/>
          <a:chExt cx="0" cy="0"/>
        </a:xfrm>
      </p:grpSpPr>
      <p:grpSp>
        <p:nvGrpSpPr>
          <p:cNvPr id="89" name="Google Shape;89;g3da8f2e7afe_0_421"/>
          <p:cNvGrpSpPr/>
          <p:nvPr/>
        </p:nvGrpSpPr>
        <p:grpSpPr>
          <a:xfrm>
            <a:off x="1251932" y="598753"/>
            <a:ext cx="1998624" cy="1998624"/>
            <a:chOff x="348199" y="179450"/>
            <a:chExt cx="1116300" cy="1116300"/>
          </a:xfrm>
        </p:grpSpPr>
        <p:sp>
          <p:nvSpPr>
            <p:cNvPr id="90" name="Google Shape;90;g3da8f2e7afe_0_421"/>
            <p:cNvSpPr/>
            <p:nvPr/>
          </p:nvSpPr>
          <p:spPr>
            <a:xfrm rot="-5400000">
              <a:off x="574557" y="405788"/>
              <a:ext cx="663600" cy="663600"/>
            </a:xfrm>
            <a:prstGeom prst="pie">
              <a:avLst>
                <a:gd fmla="val 10792838" name="adj1"/>
                <a:gd fmla="val 16200000" name="adj2"/>
              </a:avLst>
            </a:prstGeom>
            <a:solidFill>
              <a:schemeClr val="dk2">
                <a:alpha val="12549"/>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91" name="Google Shape;91;g3da8f2e7afe_0_421"/>
            <p:cNvSpPr/>
            <p:nvPr/>
          </p:nvSpPr>
          <p:spPr>
            <a:xfrm rot="-5400000">
              <a:off x="348199" y="179450"/>
              <a:ext cx="1116300" cy="1116300"/>
            </a:xfrm>
            <a:prstGeom prst="pie">
              <a:avLst>
                <a:gd fmla="val 10792838" name="adj1"/>
                <a:gd fmla="val 16200000" name="adj2"/>
              </a:avLst>
            </a:prstGeom>
            <a:solidFill>
              <a:schemeClr val="dk2">
                <a:alpha val="12549"/>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sp>
        <p:nvSpPr>
          <p:cNvPr id="92" name="Google Shape;92;g3da8f2e7afe_0_421"/>
          <p:cNvSpPr txBox="1"/>
          <p:nvPr>
            <p:ph type="title"/>
          </p:nvPr>
        </p:nvSpPr>
        <p:spPr>
          <a:xfrm>
            <a:off x="2607600" y="1197150"/>
            <a:ext cx="14061000" cy="1998600"/>
          </a:xfrm>
          <a:prstGeom prst="rect">
            <a:avLst/>
          </a:prstGeom>
        </p:spPr>
        <p:txBody>
          <a:bodyPr anchorCtr="0" anchor="t" bIns="182850" lIns="182850" spcFirstLastPara="1" rIns="182850" wrap="square" tIns="182850">
            <a:normAutofit/>
          </a:bodyPr>
          <a:lstStyle>
            <a:lvl1pPr lvl="0">
              <a:spcBef>
                <a:spcPts val="0"/>
              </a:spcBef>
              <a:spcAft>
                <a:spcPts val="0"/>
              </a:spcAft>
              <a:buSzPts val="5600"/>
              <a:buNone/>
              <a:defRPr/>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93" name="Google Shape;93;g3da8f2e7afe_0_421"/>
          <p:cNvSpPr txBox="1"/>
          <p:nvPr>
            <p:ph idx="1" type="body"/>
          </p:nvPr>
        </p:nvSpPr>
        <p:spPr>
          <a:xfrm>
            <a:off x="2607600" y="3980100"/>
            <a:ext cx="14061000" cy="5083200"/>
          </a:xfrm>
          <a:prstGeom prst="rect">
            <a:avLst/>
          </a:prstGeom>
        </p:spPr>
        <p:txBody>
          <a:bodyPr anchorCtr="0" anchor="t" bIns="182850" lIns="182850" spcFirstLastPara="1" rIns="182850" wrap="square" tIns="182850">
            <a:normAutofit/>
          </a:bodyPr>
          <a:lstStyle>
            <a:lvl1pPr indent="-393700" lvl="0" marL="457200">
              <a:spcBef>
                <a:spcPts val="0"/>
              </a:spcBef>
              <a:spcAft>
                <a:spcPts val="0"/>
              </a:spcAft>
              <a:buSzPts val="2600"/>
              <a:buChar char="●"/>
              <a:defRPr/>
            </a:lvl1pPr>
            <a:lvl2pPr indent="-368300" lvl="1" marL="914400">
              <a:spcBef>
                <a:spcPts val="0"/>
              </a:spcBef>
              <a:spcAft>
                <a:spcPts val="0"/>
              </a:spcAft>
              <a:buSzPts val="2200"/>
              <a:buChar char="○"/>
              <a:defRPr/>
            </a:lvl2pPr>
            <a:lvl3pPr indent="-368300" lvl="2" marL="1371600">
              <a:spcBef>
                <a:spcPts val="0"/>
              </a:spcBef>
              <a:spcAft>
                <a:spcPts val="0"/>
              </a:spcAft>
              <a:buSzPts val="2200"/>
              <a:buChar char="■"/>
              <a:defRPr/>
            </a:lvl3pPr>
            <a:lvl4pPr indent="-368300" lvl="3" marL="1828800">
              <a:spcBef>
                <a:spcPts val="0"/>
              </a:spcBef>
              <a:spcAft>
                <a:spcPts val="0"/>
              </a:spcAft>
              <a:buSzPts val="2200"/>
              <a:buChar char="●"/>
              <a:defRPr/>
            </a:lvl4pPr>
            <a:lvl5pPr indent="-368300" lvl="4" marL="2286000">
              <a:spcBef>
                <a:spcPts val="0"/>
              </a:spcBef>
              <a:spcAft>
                <a:spcPts val="0"/>
              </a:spcAft>
              <a:buSzPts val="2200"/>
              <a:buChar char="○"/>
              <a:defRPr/>
            </a:lvl5pPr>
            <a:lvl6pPr indent="-368300" lvl="5" marL="2743200">
              <a:spcBef>
                <a:spcPts val="0"/>
              </a:spcBef>
              <a:spcAft>
                <a:spcPts val="0"/>
              </a:spcAft>
              <a:buSzPts val="2200"/>
              <a:buChar char="■"/>
              <a:defRPr/>
            </a:lvl6pPr>
            <a:lvl7pPr indent="-368300" lvl="6" marL="3200400">
              <a:spcBef>
                <a:spcPts val="0"/>
              </a:spcBef>
              <a:spcAft>
                <a:spcPts val="0"/>
              </a:spcAft>
              <a:buSzPts val="2200"/>
              <a:buChar char="●"/>
              <a:defRPr/>
            </a:lvl7pPr>
            <a:lvl8pPr indent="-368300" lvl="7" marL="3657600">
              <a:spcBef>
                <a:spcPts val="0"/>
              </a:spcBef>
              <a:spcAft>
                <a:spcPts val="0"/>
              </a:spcAft>
              <a:buSzPts val="2200"/>
              <a:buChar char="○"/>
              <a:defRPr/>
            </a:lvl8pPr>
            <a:lvl9pPr indent="-368300" lvl="8" marL="4114800">
              <a:spcBef>
                <a:spcPts val="0"/>
              </a:spcBef>
              <a:spcAft>
                <a:spcPts val="0"/>
              </a:spcAft>
              <a:buSzPts val="2200"/>
              <a:buChar char="■"/>
              <a:defRPr/>
            </a:lvl9pPr>
          </a:lstStyle>
          <a:p/>
        </p:txBody>
      </p:sp>
      <p:sp>
        <p:nvSpPr>
          <p:cNvPr id="94" name="Google Shape;94;g3da8f2e7afe_0_421"/>
          <p:cNvSpPr txBox="1"/>
          <p:nvPr>
            <p:ph idx="12" type="sldNum"/>
          </p:nvPr>
        </p:nvSpPr>
        <p:spPr>
          <a:xfrm>
            <a:off x="16902092" y="9473952"/>
            <a:ext cx="1097400" cy="787200"/>
          </a:xfrm>
          <a:prstGeom prst="rect">
            <a:avLst/>
          </a:prstGeom>
        </p:spPr>
        <p:txBody>
          <a:bodyPr anchorCtr="0" anchor="ctr" bIns="182850" lIns="182850" spcFirstLastPara="1" rIns="182850" wrap="square" tIns="18285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grpSp>
        <p:nvGrpSpPr>
          <p:cNvPr id="96" name="Google Shape;96;g3da8f2e7afe_0_428"/>
          <p:cNvGrpSpPr/>
          <p:nvPr/>
        </p:nvGrpSpPr>
        <p:grpSpPr>
          <a:xfrm>
            <a:off x="1251932" y="598753"/>
            <a:ext cx="1998624" cy="1998624"/>
            <a:chOff x="348199" y="179450"/>
            <a:chExt cx="1116300" cy="1116300"/>
          </a:xfrm>
        </p:grpSpPr>
        <p:sp>
          <p:nvSpPr>
            <p:cNvPr id="97" name="Google Shape;97;g3da8f2e7afe_0_428"/>
            <p:cNvSpPr/>
            <p:nvPr/>
          </p:nvSpPr>
          <p:spPr>
            <a:xfrm rot="-5400000">
              <a:off x="574557" y="405788"/>
              <a:ext cx="663600" cy="663600"/>
            </a:xfrm>
            <a:prstGeom prst="pie">
              <a:avLst>
                <a:gd fmla="val 10792838" name="adj1"/>
                <a:gd fmla="val 16200000" name="adj2"/>
              </a:avLst>
            </a:prstGeom>
            <a:solidFill>
              <a:schemeClr val="dk2">
                <a:alpha val="12549"/>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98" name="Google Shape;98;g3da8f2e7afe_0_428"/>
            <p:cNvSpPr/>
            <p:nvPr/>
          </p:nvSpPr>
          <p:spPr>
            <a:xfrm rot="-5400000">
              <a:off x="348199" y="179450"/>
              <a:ext cx="1116300" cy="1116300"/>
            </a:xfrm>
            <a:prstGeom prst="pie">
              <a:avLst>
                <a:gd fmla="val 10792838" name="adj1"/>
                <a:gd fmla="val 16200000" name="adj2"/>
              </a:avLst>
            </a:prstGeom>
            <a:solidFill>
              <a:schemeClr val="dk2">
                <a:alpha val="12549"/>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sp>
        <p:nvSpPr>
          <p:cNvPr id="99" name="Google Shape;99;g3da8f2e7afe_0_428"/>
          <p:cNvSpPr txBox="1"/>
          <p:nvPr>
            <p:ph type="title"/>
          </p:nvPr>
        </p:nvSpPr>
        <p:spPr>
          <a:xfrm>
            <a:off x="2607600" y="1197150"/>
            <a:ext cx="14061000" cy="1998600"/>
          </a:xfrm>
          <a:prstGeom prst="rect">
            <a:avLst/>
          </a:prstGeom>
        </p:spPr>
        <p:txBody>
          <a:bodyPr anchorCtr="0" anchor="t" bIns="182850" lIns="182850" spcFirstLastPara="1" rIns="182850" wrap="square" tIns="182850">
            <a:normAutofit/>
          </a:bodyPr>
          <a:lstStyle>
            <a:lvl1pPr lvl="0">
              <a:spcBef>
                <a:spcPts val="0"/>
              </a:spcBef>
              <a:spcAft>
                <a:spcPts val="0"/>
              </a:spcAft>
              <a:buSzPts val="5600"/>
              <a:buNone/>
              <a:defRPr/>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00" name="Google Shape;100;g3da8f2e7afe_0_428"/>
          <p:cNvSpPr txBox="1"/>
          <p:nvPr>
            <p:ph idx="1" type="body"/>
          </p:nvPr>
        </p:nvSpPr>
        <p:spPr>
          <a:xfrm>
            <a:off x="2607600" y="3980100"/>
            <a:ext cx="6861000" cy="5083200"/>
          </a:xfrm>
          <a:prstGeom prst="rect">
            <a:avLst/>
          </a:prstGeom>
        </p:spPr>
        <p:txBody>
          <a:bodyPr anchorCtr="0" anchor="t" bIns="182850" lIns="182850" spcFirstLastPara="1" rIns="182850" wrap="square" tIns="182850">
            <a:normAutofit/>
          </a:bodyPr>
          <a:lstStyle>
            <a:lvl1pPr indent="-393700" lvl="0" marL="457200">
              <a:spcBef>
                <a:spcPts val="0"/>
              </a:spcBef>
              <a:spcAft>
                <a:spcPts val="0"/>
              </a:spcAft>
              <a:buSzPts val="2600"/>
              <a:buChar char="●"/>
              <a:defRPr/>
            </a:lvl1pPr>
            <a:lvl2pPr indent="-368300" lvl="1" marL="914400">
              <a:spcBef>
                <a:spcPts val="0"/>
              </a:spcBef>
              <a:spcAft>
                <a:spcPts val="0"/>
              </a:spcAft>
              <a:buSzPts val="2200"/>
              <a:buChar char="○"/>
              <a:defRPr/>
            </a:lvl2pPr>
            <a:lvl3pPr indent="-368300" lvl="2" marL="1371600">
              <a:spcBef>
                <a:spcPts val="0"/>
              </a:spcBef>
              <a:spcAft>
                <a:spcPts val="0"/>
              </a:spcAft>
              <a:buSzPts val="2200"/>
              <a:buChar char="■"/>
              <a:defRPr/>
            </a:lvl3pPr>
            <a:lvl4pPr indent="-368300" lvl="3" marL="1828800">
              <a:spcBef>
                <a:spcPts val="0"/>
              </a:spcBef>
              <a:spcAft>
                <a:spcPts val="0"/>
              </a:spcAft>
              <a:buSzPts val="2200"/>
              <a:buChar char="●"/>
              <a:defRPr/>
            </a:lvl4pPr>
            <a:lvl5pPr indent="-368300" lvl="4" marL="2286000">
              <a:spcBef>
                <a:spcPts val="0"/>
              </a:spcBef>
              <a:spcAft>
                <a:spcPts val="0"/>
              </a:spcAft>
              <a:buSzPts val="2200"/>
              <a:buChar char="○"/>
              <a:defRPr/>
            </a:lvl5pPr>
            <a:lvl6pPr indent="-368300" lvl="5" marL="2743200">
              <a:spcBef>
                <a:spcPts val="0"/>
              </a:spcBef>
              <a:spcAft>
                <a:spcPts val="0"/>
              </a:spcAft>
              <a:buSzPts val="2200"/>
              <a:buChar char="■"/>
              <a:defRPr/>
            </a:lvl6pPr>
            <a:lvl7pPr indent="-368300" lvl="6" marL="3200400">
              <a:spcBef>
                <a:spcPts val="0"/>
              </a:spcBef>
              <a:spcAft>
                <a:spcPts val="0"/>
              </a:spcAft>
              <a:buSzPts val="2200"/>
              <a:buChar char="●"/>
              <a:defRPr/>
            </a:lvl7pPr>
            <a:lvl8pPr indent="-368300" lvl="7" marL="3657600">
              <a:spcBef>
                <a:spcPts val="0"/>
              </a:spcBef>
              <a:spcAft>
                <a:spcPts val="0"/>
              </a:spcAft>
              <a:buSzPts val="2200"/>
              <a:buChar char="○"/>
              <a:defRPr/>
            </a:lvl8pPr>
            <a:lvl9pPr indent="-368300" lvl="8" marL="4114800">
              <a:spcBef>
                <a:spcPts val="0"/>
              </a:spcBef>
              <a:spcAft>
                <a:spcPts val="0"/>
              </a:spcAft>
              <a:buSzPts val="2200"/>
              <a:buChar char="■"/>
              <a:defRPr/>
            </a:lvl9pPr>
          </a:lstStyle>
          <a:p/>
        </p:txBody>
      </p:sp>
      <p:sp>
        <p:nvSpPr>
          <p:cNvPr id="101" name="Google Shape;101;g3da8f2e7afe_0_428"/>
          <p:cNvSpPr txBox="1"/>
          <p:nvPr>
            <p:ph idx="2" type="body"/>
          </p:nvPr>
        </p:nvSpPr>
        <p:spPr>
          <a:xfrm>
            <a:off x="9807300" y="3980100"/>
            <a:ext cx="6861000" cy="5083200"/>
          </a:xfrm>
          <a:prstGeom prst="rect">
            <a:avLst/>
          </a:prstGeom>
        </p:spPr>
        <p:txBody>
          <a:bodyPr anchorCtr="0" anchor="t" bIns="182850" lIns="182850" spcFirstLastPara="1" rIns="182850" wrap="square" tIns="182850">
            <a:normAutofit/>
          </a:bodyPr>
          <a:lstStyle>
            <a:lvl1pPr indent="-393700" lvl="0" marL="457200">
              <a:spcBef>
                <a:spcPts val="0"/>
              </a:spcBef>
              <a:spcAft>
                <a:spcPts val="0"/>
              </a:spcAft>
              <a:buSzPts val="2600"/>
              <a:buChar char="●"/>
              <a:defRPr/>
            </a:lvl1pPr>
            <a:lvl2pPr indent="-368300" lvl="1" marL="914400">
              <a:spcBef>
                <a:spcPts val="0"/>
              </a:spcBef>
              <a:spcAft>
                <a:spcPts val="0"/>
              </a:spcAft>
              <a:buSzPts val="2200"/>
              <a:buChar char="○"/>
              <a:defRPr/>
            </a:lvl2pPr>
            <a:lvl3pPr indent="-368300" lvl="2" marL="1371600">
              <a:spcBef>
                <a:spcPts val="0"/>
              </a:spcBef>
              <a:spcAft>
                <a:spcPts val="0"/>
              </a:spcAft>
              <a:buSzPts val="2200"/>
              <a:buChar char="■"/>
              <a:defRPr/>
            </a:lvl3pPr>
            <a:lvl4pPr indent="-368300" lvl="3" marL="1828800">
              <a:spcBef>
                <a:spcPts val="0"/>
              </a:spcBef>
              <a:spcAft>
                <a:spcPts val="0"/>
              </a:spcAft>
              <a:buSzPts val="2200"/>
              <a:buChar char="●"/>
              <a:defRPr/>
            </a:lvl4pPr>
            <a:lvl5pPr indent="-368300" lvl="4" marL="2286000">
              <a:spcBef>
                <a:spcPts val="0"/>
              </a:spcBef>
              <a:spcAft>
                <a:spcPts val="0"/>
              </a:spcAft>
              <a:buSzPts val="2200"/>
              <a:buChar char="○"/>
              <a:defRPr/>
            </a:lvl5pPr>
            <a:lvl6pPr indent="-368300" lvl="5" marL="2743200">
              <a:spcBef>
                <a:spcPts val="0"/>
              </a:spcBef>
              <a:spcAft>
                <a:spcPts val="0"/>
              </a:spcAft>
              <a:buSzPts val="2200"/>
              <a:buChar char="■"/>
              <a:defRPr/>
            </a:lvl6pPr>
            <a:lvl7pPr indent="-368300" lvl="6" marL="3200400">
              <a:spcBef>
                <a:spcPts val="0"/>
              </a:spcBef>
              <a:spcAft>
                <a:spcPts val="0"/>
              </a:spcAft>
              <a:buSzPts val="2200"/>
              <a:buChar char="●"/>
              <a:defRPr/>
            </a:lvl7pPr>
            <a:lvl8pPr indent="-368300" lvl="7" marL="3657600">
              <a:spcBef>
                <a:spcPts val="0"/>
              </a:spcBef>
              <a:spcAft>
                <a:spcPts val="0"/>
              </a:spcAft>
              <a:buSzPts val="2200"/>
              <a:buChar char="○"/>
              <a:defRPr/>
            </a:lvl8pPr>
            <a:lvl9pPr indent="-368300" lvl="8" marL="4114800">
              <a:spcBef>
                <a:spcPts val="0"/>
              </a:spcBef>
              <a:spcAft>
                <a:spcPts val="0"/>
              </a:spcAft>
              <a:buSzPts val="2200"/>
              <a:buChar char="■"/>
              <a:defRPr/>
            </a:lvl9pPr>
          </a:lstStyle>
          <a:p/>
        </p:txBody>
      </p:sp>
      <p:sp>
        <p:nvSpPr>
          <p:cNvPr id="102" name="Google Shape;102;g3da8f2e7afe_0_428"/>
          <p:cNvSpPr txBox="1"/>
          <p:nvPr>
            <p:ph idx="12" type="sldNum"/>
          </p:nvPr>
        </p:nvSpPr>
        <p:spPr>
          <a:xfrm>
            <a:off x="16902092" y="9473952"/>
            <a:ext cx="1097400" cy="787200"/>
          </a:xfrm>
          <a:prstGeom prst="rect">
            <a:avLst/>
          </a:prstGeom>
        </p:spPr>
        <p:txBody>
          <a:bodyPr anchorCtr="0" anchor="ctr" bIns="182850" lIns="182850" spcFirstLastPara="1" rIns="182850" wrap="square" tIns="18285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03" name="Shape 103"/>
        <p:cNvGrpSpPr/>
        <p:nvPr/>
      </p:nvGrpSpPr>
      <p:grpSpPr>
        <a:xfrm>
          <a:off x="0" y="0"/>
          <a:ext cx="0" cy="0"/>
          <a:chOff x="0" y="0"/>
          <a:chExt cx="0" cy="0"/>
        </a:xfrm>
      </p:grpSpPr>
      <p:grpSp>
        <p:nvGrpSpPr>
          <p:cNvPr id="104" name="Google Shape;104;g3da8f2e7afe_0_436"/>
          <p:cNvGrpSpPr/>
          <p:nvPr/>
        </p:nvGrpSpPr>
        <p:grpSpPr>
          <a:xfrm>
            <a:off x="1251932" y="598753"/>
            <a:ext cx="1998624" cy="1998624"/>
            <a:chOff x="348199" y="179450"/>
            <a:chExt cx="1116300" cy="1116300"/>
          </a:xfrm>
        </p:grpSpPr>
        <p:sp>
          <p:nvSpPr>
            <p:cNvPr id="105" name="Google Shape;105;g3da8f2e7afe_0_436"/>
            <p:cNvSpPr/>
            <p:nvPr/>
          </p:nvSpPr>
          <p:spPr>
            <a:xfrm rot="-5400000">
              <a:off x="574557" y="405788"/>
              <a:ext cx="663600" cy="663600"/>
            </a:xfrm>
            <a:prstGeom prst="pie">
              <a:avLst>
                <a:gd fmla="val 10792838" name="adj1"/>
                <a:gd fmla="val 16200000" name="adj2"/>
              </a:avLst>
            </a:prstGeom>
            <a:solidFill>
              <a:schemeClr val="dk2">
                <a:alpha val="12549"/>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06" name="Google Shape;106;g3da8f2e7afe_0_436"/>
            <p:cNvSpPr/>
            <p:nvPr/>
          </p:nvSpPr>
          <p:spPr>
            <a:xfrm rot="-5400000">
              <a:off x="348199" y="179450"/>
              <a:ext cx="1116300" cy="1116300"/>
            </a:xfrm>
            <a:prstGeom prst="pie">
              <a:avLst>
                <a:gd fmla="val 10792838" name="adj1"/>
                <a:gd fmla="val 16200000" name="adj2"/>
              </a:avLst>
            </a:prstGeom>
            <a:solidFill>
              <a:schemeClr val="dk2">
                <a:alpha val="12549"/>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sp>
        <p:nvSpPr>
          <p:cNvPr id="107" name="Google Shape;107;g3da8f2e7afe_0_436"/>
          <p:cNvSpPr txBox="1"/>
          <p:nvPr>
            <p:ph type="title"/>
          </p:nvPr>
        </p:nvSpPr>
        <p:spPr>
          <a:xfrm>
            <a:off x="2607600" y="1197150"/>
            <a:ext cx="14061000" cy="1998600"/>
          </a:xfrm>
          <a:prstGeom prst="rect">
            <a:avLst/>
          </a:prstGeom>
        </p:spPr>
        <p:txBody>
          <a:bodyPr anchorCtr="0" anchor="t" bIns="182850" lIns="182850" spcFirstLastPara="1" rIns="182850" wrap="square" tIns="182850">
            <a:normAutofit/>
          </a:bodyPr>
          <a:lstStyle>
            <a:lvl1pPr lvl="0">
              <a:spcBef>
                <a:spcPts val="0"/>
              </a:spcBef>
              <a:spcAft>
                <a:spcPts val="0"/>
              </a:spcAft>
              <a:buSzPts val="5600"/>
              <a:buNone/>
              <a:defRPr/>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08" name="Google Shape;108;g3da8f2e7afe_0_436"/>
          <p:cNvSpPr txBox="1"/>
          <p:nvPr>
            <p:ph idx="12" type="sldNum"/>
          </p:nvPr>
        </p:nvSpPr>
        <p:spPr>
          <a:xfrm>
            <a:off x="16902092" y="9473952"/>
            <a:ext cx="1097400" cy="787200"/>
          </a:xfrm>
          <a:prstGeom prst="rect">
            <a:avLst/>
          </a:prstGeom>
        </p:spPr>
        <p:txBody>
          <a:bodyPr anchorCtr="0" anchor="ctr" bIns="182850" lIns="182850" spcFirstLastPara="1" rIns="182850" wrap="square" tIns="18285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09" name="Shape 109"/>
        <p:cNvGrpSpPr/>
        <p:nvPr/>
      </p:nvGrpSpPr>
      <p:grpSpPr>
        <a:xfrm>
          <a:off x="0" y="0"/>
          <a:ext cx="0" cy="0"/>
          <a:chOff x="0" y="0"/>
          <a:chExt cx="0" cy="0"/>
        </a:xfrm>
      </p:grpSpPr>
      <p:grpSp>
        <p:nvGrpSpPr>
          <p:cNvPr id="110" name="Google Shape;110;g3da8f2e7afe_0_442"/>
          <p:cNvGrpSpPr/>
          <p:nvPr/>
        </p:nvGrpSpPr>
        <p:grpSpPr>
          <a:xfrm>
            <a:off x="1251932" y="598753"/>
            <a:ext cx="1998624" cy="1998624"/>
            <a:chOff x="348199" y="179450"/>
            <a:chExt cx="1116300" cy="1116300"/>
          </a:xfrm>
        </p:grpSpPr>
        <p:sp>
          <p:nvSpPr>
            <p:cNvPr id="111" name="Google Shape;111;g3da8f2e7afe_0_442"/>
            <p:cNvSpPr/>
            <p:nvPr/>
          </p:nvSpPr>
          <p:spPr>
            <a:xfrm rot="-5400000">
              <a:off x="574557" y="405788"/>
              <a:ext cx="663600" cy="663600"/>
            </a:xfrm>
            <a:prstGeom prst="pie">
              <a:avLst>
                <a:gd fmla="val 10792838" name="adj1"/>
                <a:gd fmla="val 16200000" name="adj2"/>
              </a:avLst>
            </a:prstGeom>
            <a:solidFill>
              <a:schemeClr val="dk2">
                <a:alpha val="12549"/>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12" name="Google Shape;112;g3da8f2e7afe_0_442"/>
            <p:cNvSpPr/>
            <p:nvPr/>
          </p:nvSpPr>
          <p:spPr>
            <a:xfrm rot="-5400000">
              <a:off x="348199" y="179450"/>
              <a:ext cx="1116300" cy="1116300"/>
            </a:xfrm>
            <a:prstGeom prst="pie">
              <a:avLst>
                <a:gd fmla="val 10792838" name="adj1"/>
                <a:gd fmla="val 16200000" name="adj2"/>
              </a:avLst>
            </a:prstGeom>
            <a:solidFill>
              <a:schemeClr val="dk2">
                <a:alpha val="12549"/>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sp>
        <p:nvSpPr>
          <p:cNvPr id="113" name="Google Shape;113;g3da8f2e7afe_0_442"/>
          <p:cNvSpPr txBox="1"/>
          <p:nvPr>
            <p:ph type="title"/>
          </p:nvPr>
        </p:nvSpPr>
        <p:spPr>
          <a:xfrm>
            <a:off x="2607600" y="1197150"/>
            <a:ext cx="6624000" cy="3180000"/>
          </a:xfrm>
          <a:prstGeom prst="rect">
            <a:avLst/>
          </a:prstGeom>
        </p:spPr>
        <p:txBody>
          <a:bodyPr anchorCtr="0" anchor="t" bIns="182850" lIns="182850" spcFirstLastPara="1" rIns="182850" wrap="square" tIns="182850">
            <a:normAutofit/>
          </a:bodyPr>
          <a:lstStyle>
            <a:lvl1pPr lvl="0">
              <a:spcBef>
                <a:spcPts val="0"/>
              </a:spcBef>
              <a:spcAft>
                <a:spcPts val="0"/>
              </a:spcAft>
              <a:buSzPts val="5600"/>
              <a:buNone/>
              <a:defRPr/>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14" name="Google Shape;114;g3da8f2e7afe_0_442"/>
          <p:cNvSpPr txBox="1"/>
          <p:nvPr>
            <p:ph idx="1" type="body"/>
          </p:nvPr>
        </p:nvSpPr>
        <p:spPr>
          <a:xfrm>
            <a:off x="2607600" y="4619350"/>
            <a:ext cx="6624000" cy="4443600"/>
          </a:xfrm>
          <a:prstGeom prst="rect">
            <a:avLst/>
          </a:prstGeom>
        </p:spPr>
        <p:txBody>
          <a:bodyPr anchorCtr="0" anchor="t" bIns="182850" lIns="182850" spcFirstLastPara="1" rIns="182850" wrap="square" tIns="182850">
            <a:normAutofit/>
          </a:bodyPr>
          <a:lstStyle>
            <a:lvl1pPr indent="-393700" lvl="0" marL="457200">
              <a:spcBef>
                <a:spcPts val="0"/>
              </a:spcBef>
              <a:spcAft>
                <a:spcPts val="0"/>
              </a:spcAft>
              <a:buSzPts val="2600"/>
              <a:buChar char="●"/>
              <a:defRPr/>
            </a:lvl1pPr>
            <a:lvl2pPr indent="-368300" lvl="1" marL="914400">
              <a:spcBef>
                <a:spcPts val="0"/>
              </a:spcBef>
              <a:spcAft>
                <a:spcPts val="0"/>
              </a:spcAft>
              <a:buSzPts val="2200"/>
              <a:buChar char="○"/>
              <a:defRPr/>
            </a:lvl2pPr>
            <a:lvl3pPr indent="-368300" lvl="2" marL="1371600">
              <a:spcBef>
                <a:spcPts val="0"/>
              </a:spcBef>
              <a:spcAft>
                <a:spcPts val="0"/>
              </a:spcAft>
              <a:buSzPts val="2200"/>
              <a:buChar char="■"/>
              <a:defRPr/>
            </a:lvl3pPr>
            <a:lvl4pPr indent="-368300" lvl="3" marL="1828800">
              <a:spcBef>
                <a:spcPts val="0"/>
              </a:spcBef>
              <a:spcAft>
                <a:spcPts val="0"/>
              </a:spcAft>
              <a:buSzPts val="2200"/>
              <a:buChar char="●"/>
              <a:defRPr/>
            </a:lvl4pPr>
            <a:lvl5pPr indent="-368300" lvl="4" marL="2286000">
              <a:spcBef>
                <a:spcPts val="0"/>
              </a:spcBef>
              <a:spcAft>
                <a:spcPts val="0"/>
              </a:spcAft>
              <a:buSzPts val="2200"/>
              <a:buChar char="○"/>
              <a:defRPr/>
            </a:lvl5pPr>
            <a:lvl6pPr indent="-368300" lvl="5" marL="2743200">
              <a:spcBef>
                <a:spcPts val="0"/>
              </a:spcBef>
              <a:spcAft>
                <a:spcPts val="0"/>
              </a:spcAft>
              <a:buSzPts val="2200"/>
              <a:buChar char="■"/>
              <a:defRPr/>
            </a:lvl6pPr>
            <a:lvl7pPr indent="-368300" lvl="6" marL="3200400">
              <a:spcBef>
                <a:spcPts val="0"/>
              </a:spcBef>
              <a:spcAft>
                <a:spcPts val="0"/>
              </a:spcAft>
              <a:buSzPts val="2200"/>
              <a:buChar char="●"/>
              <a:defRPr/>
            </a:lvl7pPr>
            <a:lvl8pPr indent="-368300" lvl="7" marL="3657600">
              <a:spcBef>
                <a:spcPts val="0"/>
              </a:spcBef>
              <a:spcAft>
                <a:spcPts val="0"/>
              </a:spcAft>
              <a:buSzPts val="2200"/>
              <a:buChar char="○"/>
              <a:defRPr/>
            </a:lvl8pPr>
            <a:lvl9pPr indent="-368300" lvl="8" marL="4114800">
              <a:spcBef>
                <a:spcPts val="0"/>
              </a:spcBef>
              <a:spcAft>
                <a:spcPts val="0"/>
              </a:spcAft>
              <a:buSzPts val="2200"/>
              <a:buChar char="■"/>
              <a:defRPr/>
            </a:lvl9pPr>
          </a:lstStyle>
          <a:p/>
        </p:txBody>
      </p:sp>
      <p:sp>
        <p:nvSpPr>
          <p:cNvPr id="115" name="Google Shape;115;g3da8f2e7afe_0_442"/>
          <p:cNvSpPr txBox="1"/>
          <p:nvPr>
            <p:ph idx="12" type="sldNum"/>
          </p:nvPr>
        </p:nvSpPr>
        <p:spPr>
          <a:xfrm>
            <a:off x="16902092" y="9473952"/>
            <a:ext cx="1097400" cy="787200"/>
          </a:xfrm>
          <a:prstGeom prst="rect">
            <a:avLst/>
          </a:prstGeom>
        </p:spPr>
        <p:txBody>
          <a:bodyPr anchorCtr="0" anchor="ctr" bIns="182850" lIns="182850" spcFirstLastPara="1" rIns="182850" wrap="square" tIns="18285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dk1"/>
        </a:solidFill>
      </p:bgPr>
    </p:bg>
    <p:spTree>
      <p:nvGrpSpPr>
        <p:cNvPr id="116" name="Shape 116"/>
        <p:cNvGrpSpPr/>
        <p:nvPr/>
      </p:nvGrpSpPr>
      <p:grpSpPr>
        <a:xfrm>
          <a:off x="0" y="0"/>
          <a:ext cx="0" cy="0"/>
          <a:chOff x="0" y="0"/>
          <a:chExt cx="0" cy="0"/>
        </a:xfrm>
      </p:grpSpPr>
      <p:grpSp>
        <p:nvGrpSpPr>
          <p:cNvPr id="117" name="Google Shape;117;g3da8f2e7afe_0_449"/>
          <p:cNvGrpSpPr/>
          <p:nvPr/>
        </p:nvGrpSpPr>
        <p:grpSpPr>
          <a:xfrm>
            <a:off x="13733428" y="2613"/>
            <a:ext cx="4534902" cy="5203379"/>
            <a:chOff x="6790514" y="1306"/>
            <a:chExt cx="2267451" cy="2601690"/>
          </a:xfrm>
        </p:grpSpPr>
        <p:grpSp>
          <p:nvGrpSpPr>
            <p:cNvPr id="118" name="Google Shape;118;g3da8f2e7afe_0_449"/>
            <p:cNvGrpSpPr/>
            <p:nvPr/>
          </p:nvGrpSpPr>
          <p:grpSpPr>
            <a:xfrm>
              <a:off x="7067465" y="1306"/>
              <a:ext cx="1990500" cy="1990200"/>
              <a:chOff x="7067465" y="1306"/>
              <a:chExt cx="1990500" cy="1990200"/>
            </a:xfrm>
          </p:grpSpPr>
          <p:sp>
            <p:nvSpPr>
              <p:cNvPr id="119" name="Google Shape;119;g3da8f2e7afe_0_449"/>
              <p:cNvSpPr/>
              <p:nvPr/>
            </p:nvSpPr>
            <p:spPr>
              <a:xfrm rot="-8648551">
                <a:off x="7594313" y="527721"/>
                <a:ext cx="937226" cy="937226"/>
              </a:xfrm>
              <a:prstGeom prst="ellipse">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20" name="Google Shape;120;g3da8f2e7afe_0_449"/>
              <p:cNvSpPr/>
              <p:nvPr/>
            </p:nvSpPr>
            <p:spPr>
              <a:xfrm rot="-8648551">
                <a:off x="7594313" y="527721"/>
                <a:ext cx="937226" cy="937226"/>
              </a:xfrm>
              <a:prstGeom prst="pie">
                <a:avLst>
                  <a:gd fmla="val 19376841" name="adj1"/>
                  <a:gd fmla="val 12313574"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21" name="Google Shape;121;g3da8f2e7afe_0_449"/>
              <p:cNvSpPr/>
              <p:nvPr/>
            </p:nvSpPr>
            <p:spPr>
              <a:xfrm rot="-8649154">
                <a:off x="7349891" y="283705"/>
                <a:ext cx="1425647" cy="1425404"/>
              </a:xfrm>
              <a:prstGeom prst="ellipse">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122" name="Google Shape;122;g3da8f2e7afe_0_449"/>
            <p:cNvGrpSpPr/>
            <p:nvPr/>
          </p:nvGrpSpPr>
          <p:grpSpPr>
            <a:xfrm>
              <a:off x="8207126" y="1807996"/>
              <a:ext cx="795000" cy="795000"/>
              <a:chOff x="8207126" y="1807996"/>
              <a:chExt cx="795000" cy="795000"/>
            </a:xfrm>
          </p:grpSpPr>
          <p:sp>
            <p:nvSpPr>
              <p:cNvPr id="123" name="Google Shape;123;g3da8f2e7afe_0_449"/>
              <p:cNvSpPr/>
              <p:nvPr/>
            </p:nvSpPr>
            <p:spPr>
              <a:xfrm rot="2152054">
                <a:off x="8319942" y="1920813"/>
                <a:ext cx="569367" cy="569367"/>
              </a:xfrm>
              <a:prstGeom prst="ellipse">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24" name="Google Shape;124;g3da8f2e7afe_0_449"/>
              <p:cNvSpPr/>
              <p:nvPr/>
            </p:nvSpPr>
            <p:spPr>
              <a:xfrm rot="2150259">
                <a:off x="8408218" y="2008610"/>
                <a:ext cx="393004" cy="393004"/>
              </a:xfrm>
              <a:prstGeom prst="ellipse">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25" name="Google Shape;125;g3da8f2e7afe_0_449"/>
              <p:cNvSpPr/>
              <p:nvPr/>
            </p:nvSpPr>
            <p:spPr>
              <a:xfrm rot="2150259">
                <a:off x="8408218" y="2008610"/>
                <a:ext cx="393004" cy="393004"/>
              </a:xfrm>
              <a:prstGeom prst="pie">
                <a:avLst>
                  <a:gd fmla="val 5699893" name="adj1"/>
                  <a:gd fmla="val 12313574"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126" name="Google Shape;126;g3da8f2e7afe_0_449"/>
            <p:cNvGrpSpPr/>
            <p:nvPr/>
          </p:nvGrpSpPr>
          <p:grpSpPr>
            <a:xfrm>
              <a:off x="6790514" y="118857"/>
              <a:ext cx="548700" cy="548700"/>
              <a:chOff x="6790514" y="118857"/>
              <a:chExt cx="548700" cy="548700"/>
            </a:xfrm>
          </p:grpSpPr>
          <p:sp>
            <p:nvSpPr>
              <p:cNvPr id="127" name="Google Shape;127;g3da8f2e7afe_0_449"/>
              <p:cNvSpPr/>
              <p:nvPr/>
            </p:nvSpPr>
            <p:spPr>
              <a:xfrm rot="2150259">
                <a:off x="6868362" y="196705"/>
                <a:ext cx="393004" cy="393004"/>
              </a:xfrm>
              <a:prstGeom prst="ellipse">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28" name="Google Shape;128;g3da8f2e7afe_0_449"/>
              <p:cNvSpPr/>
              <p:nvPr/>
            </p:nvSpPr>
            <p:spPr>
              <a:xfrm rot="2150259">
                <a:off x="6868362" y="196705"/>
                <a:ext cx="393004" cy="393004"/>
              </a:xfrm>
              <a:prstGeom prst="pie">
                <a:avLst>
                  <a:gd fmla="val 5699893" name="adj1"/>
                  <a:gd fmla="val 12313574"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sp>
        <p:nvSpPr>
          <p:cNvPr id="129" name="Google Shape;129;g3da8f2e7afe_0_449"/>
          <p:cNvSpPr txBox="1"/>
          <p:nvPr>
            <p:ph type="title"/>
          </p:nvPr>
        </p:nvSpPr>
        <p:spPr>
          <a:xfrm>
            <a:off x="1648000" y="1527200"/>
            <a:ext cx="11715600" cy="7146600"/>
          </a:xfrm>
          <a:prstGeom prst="rect">
            <a:avLst/>
          </a:prstGeom>
        </p:spPr>
        <p:txBody>
          <a:bodyPr anchorCtr="0" anchor="ctr" bIns="182850" lIns="182850" spcFirstLastPara="1" rIns="182850" wrap="square" tIns="182850">
            <a:normAutofit/>
          </a:bodyPr>
          <a:lstStyle>
            <a:lvl1pPr lvl="0">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130" name="Google Shape;130;g3da8f2e7afe_0_449"/>
          <p:cNvSpPr txBox="1"/>
          <p:nvPr>
            <p:ph idx="12" type="sldNum"/>
          </p:nvPr>
        </p:nvSpPr>
        <p:spPr>
          <a:xfrm>
            <a:off x="16902092" y="9473952"/>
            <a:ext cx="1097400" cy="787200"/>
          </a:xfrm>
          <a:prstGeom prst="rect">
            <a:avLst/>
          </a:prstGeom>
        </p:spPr>
        <p:txBody>
          <a:bodyPr anchorCtr="0" anchor="ctr" bIns="182850" lIns="182850" spcFirstLastPara="1" rIns="182850" wrap="square" tIns="18285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31" name="Shape 131"/>
        <p:cNvGrpSpPr/>
        <p:nvPr/>
      </p:nvGrpSpPr>
      <p:grpSpPr>
        <a:xfrm>
          <a:off x="0" y="0"/>
          <a:ext cx="0" cy="0"/>
          <a:chOff x="0" y="0"/>
          <a:chExt cx="0" cy="0"/>
        </a:xfrm>
      </p:grpSpPr>
      <p:grpSp>
        <p:nvGrpSpPr>
          <p:cNvPr id="132" name="Google Shape;132;g3da8f2e7afe_0_464"/>
          <p:cNvGrpSpPr/>
          <p:nvPr/>
        </p:nvGrpSpPr>
        <p:grpSpPr>
          <a:xfrm>
            <a:off x="1251932" y="598753"/>
            <a:ext cx="1998624" cy="1998624"/>
            <a:chOff x="348199" y="179450"/>
            <a:chExt cx="1116300" cy="1116300"/>
          </a:xfrm>
        </p:grpSpPr>
        <p:sp>
          <p:nvSpPr>
            <p:cNvPr id="133" name="Google Shape;133;g3da8f2e7afe_0_464"/>
            <p:cNvSpPr/>
            <p:nvPr/>
          </p:nvSpPr>
          <p:spPr>
            <a:xfrm rot="-5400000">
              <a:off x="574557" y="405788"/>
              <a:ext cx="663600" cy="663600"/>
            </a:xfrm>
            <a:prstGeom prst="pie">
              <a:avLst>
                <a:gd fmla="val 10792838" name="adj1"/>
                <a:gd fmla="val 16200000" name="adj2"/>
              </a:avLst>
            </a:prstGeom>
            <a:solidFill>
              <a:schemeClr val="dk2">
                <a:alpha val="12549"/>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34" name="Google Shape;134;g3da8f2e7afe_0_464"/>
            <p:cNvSpPr/>
            <p:nvPr/>
          </p:nvSpPr>
          <p:spPr>
            <a:xfrm rot="-5400000">
              <a:off x="348199" y="179450"/>
              <a:ext cx="1116300" cy="1116300"/>
            </a:xfrm>
            <a:prstGeom prst="pie">
              <a:avLst>
                <a:gd fmla="val 10792838" name="adj1"/>
                <a:gd fmla="val 16200000" name="adj2"/>
              </a:avLst>
            </a:prstGeom>
            <a:solidFill>
              <a:schemeClr val="dk2">
                <a:alpha val="12549"/>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sp>
        <p:nvSpPr>
          <p:cNvPr id="135" name="Google Shape;135;g3da8f2e7afe_0_464"/>
          <p:cNvSpPr txBox="1"/>
          <p:nvPr>
            <p:ph type="title"/>
          </p:nvPr>
        </p:nvSpPr>
        <p:spPr>
          <a:xfrm>
            <a:off x="2607600" y="1197150"/>
            <a:ext cx="6861000" cy="3980400"/>
          </a:xfrm>
          <a:prstGeom prst="rect">
            <a:avLst/>
          </a:prstGeom>
          <a:ln cap="flat" cmpd="sng" w="9525">
            <a:solidFill>
              <a:schemeClr val="lt1"/>
            </a:solidFill>
            <a:prstDash val="solid"/>
            <a:round/>
            <a:headEnd len="sm" w="sm" type="none"/>
            <a:tailEnd len="sm" w="sm" type="none"/>
          </a:ln>
        </p:spPr>
        <p:txBody>
          <a:bodyPr anchorCtr="0" anchor="t" bIns="182850" lIns="182850" spcFirstLastPara="1" rIns="182850" wrap="square" tIns="182850">
            <a:normAutofit/>
          </a:bodyPr>
          <a:lstStyle>
            <a:lvl1pPr lvl="0">
              <a:spcBef>
                <a:spcPts val="0"/>
              </a:spcBef>
              <a:spcAft>
                <a:spcPts val="0"/>
              </a:spcAft>
              <a:buSzPts val="5600"/>
              <a:buNone/>
              <a:defRPr/>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36" name="Google Shape;136;g3da8f2e7afe_0_464"/>
          <p:cNvSpPr txBox="1"/>
          <p:nvPr>
            <p:ph idx="1" type="subTitle"/>
          </p:nvPr>
        </p:nvSpPr>
        <p:spPr>
          <a:xfrm>
            <a:off x="2607600" y="5486405"/>
            <a:ext cx="6861000" cy="1452000"/>
          </a:xfrm>
          <a:prstGeom prst="rect">
            <a:avLst/>
          </a:prstGeom>
          <a:ln cap="flat" cmpd="sng" w="9525">
            <a:solidFill>
              <a:schemeClr val="lt1"/>
            </a:solidFill>
            <a:prstDash val="solid"/>
            <a:round/>
            <a:headEnd len="sm" w="sm" type="none"/>
            <a:tailEnd len="sm" w="sm" type="none"/>
          </a:ln>
        </p:spPr>
        <p:txBody>
          <a:bodyPr anchorCtr="0" anchor="t" bIns="182850" lIns="182850" spcFirstLastPara="1" rIns="182850" wrap="square" tIns="182850">
            <a:normAutofit/>
          </a:bodyPr>
          <a:lstStyle>
            <a:lvl1pPr lvl="0">
              <a:lnSpc>
                <a:spcPct val="100000"/>
              </a:lnSpc>
              <a:spcBef>
                <a:spcPts val="0"/>
              </a:spcBef>
              <a:spcAft>
                <a:spcPts val="0"/>
              </a:spcAft>
              <a:buSzPts val="3200"/>
              <a:buNone/>
              <a:defRPr sz="3200"/>
            </a:lvl1pPr>
            <a:lvl2pPr lvl="1">
              <a:lnSpc>
                <a:spcPct val="100000"/>
              </a:lnSpc>
              <a:spcBef>
                <a:spcPts val="0"/>
              </a:spcBef>
              <a:spcAft>
                <a:spcPts val="0"/>
              </a:spcAft>
              <a:buSzPts val="3200"/>
              <a:buNone/>
              <a:defRPr sz="3200"/>
            </a:lvl2pPr>
            <a:lvl3pPr lvl="2">
              <a:lnSpc>
                <a:spcPct val="100000"/>
              </a:lnSpc>
              <a:spcBef>
                <a:spcPts val="0"/>
              </a:spcBef>
              <a:spcAft>
                <a:spcPts val="0"/>
              </a:spcAft>
              <a:buSzPts val="3200"/>
              <a:buNone/>
              <a:defRPr sz="3200"/>
            </a:lvl3pPr>
            <a:lvl4pPr lvl="3">
              <a:lnSpc>
                <a:spcPct val="100000"/>
              </a:lnSpc>
              <a:spcBef>
                <a:spcPts val="0"/>
              </a:spcBef>
              <a:spcAft>
                <a:spcPts val="0"/>
              </a:spcAft>
              <a:buSzPts val="3200"/>
              <a:buNone/>
              <a:defRPr sz="3200"/>
            </a:lvl4pPr>
            <a:lvl5pPr lvl="4">
              <a:lnSpc>
                <a:spcPct val="100000"/>
              </a:lnSpc>
              <a:spcBef>
                <a:spcPts val="0"/>
              </a:spcBef>
              <a:spcAft>
                <a:spcPts val="0"/>
              </a:spcAft>
              <a:buSzPts val="3200"/>
              <a:buNone/>
              <a:defRPr sz="3200"/>
            </a:lvl5pPr>
            <a:lvl6pPr lvl="5">
              <a:lnSpc>
                <a:spcPct val="100000"/>
              </a:lnSpc>
              <a:spcBef>
                <a:spcPts val="0"/>
              </a:spcBef>
              <a:spcAft>
                <a:spcPts val="0"/>
              </a:spcAft>
              <a:buSzPts val="3200"/>
              <a:buNone/>
              <a:defRPr sz="3200"/>
            </a:lvl6pPr>
            <a:lvl7pPr lvl="6">
              <a:lnSpc>
                <a:spcPct val="100000"/>
              </a:lnSpc>
              <a:spcBef>
                <a:spcPts val="0"/>
              </a:spcBef>
              <a:spcAft>
                <a:spcPts val="0"/>
              </a:spcAft>
              <a:buSzPts val="3200"/>
              <a:buNone/>
              <a:defRPr sz="3200"/>
            </a:lvl7pPr>
            <a:lvl8pPr lvl="7">
              <a:lnSpc>
                <a:spcPct val="100000"/>
              </a:lnSpc>
              <a:spcBef>
                <a:spcPts val="0"/>
              </a:spcBef>
              <a:spcAft>
                <a:spcPts val="0"/>
              </a:spcAft>
              <a:buSzPts val="3200"/>
              <a:buNone/>
              <a:defRPr sz="3200"/>
            </a:lvl8pPr>
            <a:lvl9pPr lvl="8">
              <a:lnSpc>
                <a:spcPct val="100000"/>
              </a:lnSpc>
              <a:spcBef>
                <a:spcPts val="0"/>
              </a:spcBef>
              <a:spcAft>
                <a:spcPts val="0"/>
              </a:spcAft>
              <a:buSzPts val="3200"/>
              <a:buNone/>
              <a:defRPr sz="3200"/>
            </a:lvl9pPr>
          </a:lstStyle>
          <a:p/>
        </p:txBody>
      </p:sp>
      <p:sp>
        <p:nvSpPr>
          <p:cNvPr id="137" name="Google Shape;137;g3da8f2e7afe_0_464"/>
          <p:cNvSpPr txBox="1"/>
          <p:nvPr>
            <p:ph idx="2" type="body"/>
          </p:nvPr>
        </p:nvSpPr>
        <p:spPr>
          <a:xfrm>
            <a:off x="9807400" y="1322000"/>
            <a:ext cx="6861000" cy="7741200"/>
          </a:xfrm>
          <a:prstGeom prst="rect">
            <a:avLst/>
          </a:prstGeom>
          <a:ln cap="flat" cmpd="sng" w="9525">
            <a:solidFill>
              <a:schemeClr val="lt1"/>
            </a:solidFill>
            <a:prstDash val="solid"/>
            <a:round/>
            <a:headEnd len="sm" w="sm" type="none"/>
            <a:tailEnd len="sm" w="sm" type="none"/>
          </a:ln>
        </p:spPr>
        <p:txBody>
          <a:bodyPr anchorCtr="0" anchor="t" bIns="182850" lIns="182850" spcFirstLastPara="1" rIns="182850" wrap="square" tIns="182850">
            <a:normAutofit/>
          </a:bodyPr>
          <a:lstStyle>
            <a:lvl1pPr indent="-393700" lvl="0" marL="457200">
              <a:spcBef>
                <a:spcPts val="0"/>
              </a:spcBef>
              <a:spcAft>
                <a:spcPts val="0"/>
              </a:spcAft>
              <a:buSzPts val="2600"/>
              <a:buChar char="●"/>
              <a:defRPr/>
            </a:lvl1pPr>
            <a:lvl2pPr indent="-368300" lvl="1" marL="914400">
              <a:spcBef>
                <a:spcPts val="0"/>
              </a:spcBef>
              <a:spcAft>
                <a:spcPts val="0"/>
              </a:spcAft>
              <a:buSzPts val="2200"/>
              <a:buChar char="○"/>
              <a:defRPr/>
            </a:lvl2pPr>
            <a:lvl3pPr indent="-368300" lvl="2" marL="1371600">
              <a:spcBef>
                <a:spcPts val="0"/>
              </a:spcBef>
              <a:spcAft>
                <a:spcPts val="0"/>
              </a:spcAft>
              <a:buSzPts val="2200"/>
              <a:buChar char="■"/>
              <a:defRPr/>
            </a:lvl3pPr>
            <a:lvl4pPr indent="-368300" lvl="3" marL="1828800">
              <a:spcBef>
                <a:spcPts val="0"/>
              </a:spcBef>
              <a:spcAft>
                <a:spcPts val="0"/>
              </a:spcAft>
              <a:buSzPts val="2200"/>
              <a:buChar char="●"/>
              <a:defRPr/>
            </a:lvl4pPr>
            <a:lvl5pPr indent="-368300" lvl="4" marL="2286000">
              <a:spcBef>
                <a:spcPts val="0"/>
              </a:spcBef>
              <a:spcAft>
                <a:spcPts val="0"/>
              </a:spcAft>
              <a:buSzPts val="2200"/>
              <a:buChar char="○"/>
              <a:defRPr/>
            </a:lvl5pPr>
            <a:lvl6pPr indent="-368300" lvl="5" marL="2743200">
              <a:spcBef>
                <a:spcPts val="0"/>
              </a:spcBef>
              <a:spcAft>
                <a:spcPts val="0"/>
              </a:spcAft>
              <a:buSzPts val="2200"/>
              <a:buChar char="■"/>
              <a:defRPr/>
            </a:lvl6pPr>
            <a:lvl7pPr indent="-368300" lvl="6" marL="3200400">
              <a:spcBef>
                <a:spcPts val="0"/>
              </a:spcBef>
              <a:spcAft>
                <a:spcPts val="0"/>
              </a:spcAft>
              <a:buSzPts val="2200"/>
              <a:buChar char="●"/>
              <a:defRPr/>
            </a:lvl7pPr>
            <a:lvl8pPr indent="-368300" lvl="7" marL="3657600">
              <a:spcBef>
                <a:spcPts val="0"/>
              </a:spcBef>
              <a:spcAft>
                <a:spcPts val="0"/>
              </a:spcAft>
              <a:buSzPts val="2200"/>
              <a:buChar char="○"/>
              <a:defRPr/>
            </a:lvl8pPr>
            <a:lvl9pPr indent="-368300" lvl="8" marL="4114800">
              <a:spcBef>
                <a:spcPts val="0"/>
              </a:spcBef>
              <a:spcAft>
                <a:spcPts val="0"/>
              </a:spcAft>
              <a:buSzPts val="2200"/>
              <a:buChar char="■"/>
              <a:defRPr/>
            </a:lvl9pPr>
          </a:lstStyle>
          <a:p/>
        </p:txBody>
      </p:sp>
      <p:sp>
        <p:nvSpPr>
          <p:cNvPr id="138" name="Google Shape;138;g3da8f2e7afe_0_464"/>
          <p:cNvSpPr txBox="1"/>
          <p:nvPr>
            <p:ph idx="12" type="sldNum"/>
          </p:nvPr>
        </p:nvSpPr>
        <p:spPr>
          <a:xfrm>
            <a:off x="16902092" y="9473952"/>
            <a:ext cx="1097400" cy="787200"/>
          </a:xfrm>
          <a:prstGeom prst="rect">
            <a:avLst/>
          </a:prstGeom>
        </p:spPr>
        <p:txBody>
          <a:bodyPr anchorCtr="0" anchor="ctr" bIns="182850" lIns="182850" spcFirstLastPara="1" rIns="182850" wrap="square" tIns="18285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39" name="Shape 139"/>
        <p:cNvGrpSpPr/>
        <p:nvPr/>
      </p:nvGrpSpPr>
      <p:grpSpPr>
        <a:xfrm>
          <a:off x="0" y="0"/>
          <a:ext cx="0" cy="0"/>
          <a:chOff x="0" y="0"/>
          <a:chExt cx="0" cy="0"/>
        </a:xfrm>
      </p:grpSpPr>
      <p:grpSp>
        <p:nvGrpSpPr>
          <p:cNvPr id="140" name="Google Shape;140;g3da8f2e7afe_0_472"/>
          <p:cNvGrpSpPr/>
          <p:nvPr/>
        </p:nvGrpSpPr>
        <p:grpSpPr>
          <a:xfrm>
            <a:off x="1426746" y="7694237"/>
            <a:ext cx="1650784" cy="1650784"/>
            <a:chOff x="348199" y="179450"/>
            <a:chExt cx="1116300" cy="1116300"/>
          </a:xfrm>
        </p:grpSpPr>
        <p:sp>
          <p:nvSpPr>
            <p:cNvPr id="141" name="Google Shape;141;g3da8f2e7afe_0_472"/>
            <p:cNvSpPr/>
            <p:nvPr/>
          </p:nvSpPr>
          <p:spPr>
            <a:xfrm rot="-5400000">
              <a:off x="574557" y="405788"/>
              <a:ext cx="663600" cy="663600"/>
            </a:xfrm>
            <a:prstGeom prst="pie">
              <a:avLst>
                <a:gd fmla="val 10792838" name="adj1"/>
                <a:gd fmla="val 16200000" name="adj2"/>
              </a:avLst>
            </a:prstGeom>
            <a:solidFill>
              <a:schemeClr val="dk2">
                <a:alpha val="12549"/>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42" name="Google Shape;142;g3da8f2e7afe_0_472"/>
            <p:cNvSpPr/>
            <p:nvPr/>
          </p:nvSpPr>
          <p:spPr>
            <a:xfrm rot="-5400000">
              <a:off x="348199" y="179450"/>
              <a:ext cx="1116300" cy="1116300"/>
            </a:xfrm>
            <a:prstGeom prst="pie">
              <a:avLst>
                <a:gd fmla="val 10792838" name="adj1"/>
                <a:gd fmla="val 16200000" name="adj2"/>
              </a:avLst>
            </a:prstGeom>
            <a:solidFill>
              <a:schemeClr val="dk2">
                <a:alpha val="12549"/>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sp>
        <p:nvSpPr>
          <p:cNvPr id="143" name="Google Shape;143;g3da8f2e7afe_0_472"/>
          <p:cNvSpPr txBox="1"/>
          <p:nvPr>
            <p:ph idx="1" type="body"/>
          </p:nvPr>
        </p:nvSpPr>
        <p:spPr>
          <a:xfrm>
            <a:off x="2607600" y="8277950"/>
            <a:ext cx="11686200" cy="1069800"/>
          </a:xfrm>
          <a:prstGeom prst="rect">
            <a:avLst/>
          </a:prstGeom>
        </p:spPr>
        <p:txBody>
          <a:bodyPr anchorCtr="0" anchor="t" bIns="182850" lIns="182850" spcFirstLastPara="1" rIns="182850" wrap="square" tIns="182850">
            <a:normAutofit/>
          </a:bodyPr>
          <a:lstStyle>
            <a:lvl1pPr indent="-228600" lvl="0" marL="457200">
              <a:lnSpc>
                <a:spcPct val="100000"/>
              </a:lnSpc>
              <a:spcBef>
                <a:spcPts val="0"/>
              </a:spcBef>
              <a:spcAft>
                <a:spcPts val="0"/>
              </a:spcAft>
              <a:buSzPts val="2600"/>
              <a:buNone/>
              <a:defRPr/>
            </a:lvl1pPr>
          </a:lstStyle>
          <a:p/>
        </p:txBody>
      </p:sp>
      <p:sp>
        <p:nvSpPr>
          <p:cNvPr id="144" name="Google Shape;144;g3da8f2e7afe_0_472"/>
          <p:cNvSpPr txBox="1"/>
          <p:nvPr>
            <p:ph idx="12" type="sldNum"/>
          </p:nvPr>
        </p:nvSpPr>
        <p:spPr>
          <a:xfrm>
            <a:off x="16902092" y="9473952"/>
            <a:ext cx="1097400" cy="787200"/>
          </a:xfrm>
          <a:prstGeom prst="rect">
            <a:avLst/>
          </a:prstGeom>
        </p:spPr>
        <p:txBody>
          <a:bodyPr anchorCtr="0" anchor="ctr" bIns="182850" lIns="182850" spcFirstLastPara="1" rIns="182850" wrap="square" tIns="18285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accent3"/>
        </a:solidFill>
      </p:bgPr>
    </p:bg>
    <p:spTree>
      <p:nvGrpSpPr>
        <p:cNvPr id="145" name="Shape 145"/>
        <p:cNvGrpSpPr/>
        <p:nvPr/>
      </p:nvGrpSpPr>
      <p:grpSpPr>
        <a:xfrm>
          <a:off x="0" y="0"/>
          <a:ext cx="0" cy="0"/>
          <a:chOff x="0" y="0"/>
          <a:chExt cx="0" cy="0"/>
        </a:xfrm>
      </p:grpSpPr>
      <p:grpSp>
        <p:nvGrpSpPr>
          <p:cNvPr id="146" name="Google Shape;146;g3da8f2e7afe_0_478"/>
          <p:cNvGrpSpPr/>
          <p:nvPr/>
        </p:nvGrpSpPr>
        <p:grpSpPr>
          <a:xfrm>
            <a:off x="104" y="8198400"/>
            <a:ext cx="18288071" cy="2088600"/>
            <a:chOff x="52" y="4099200"/>
            <a:chExt cx="9144036" cy="1044300"/>
          </a:xfrm>
        </p:grpSpPr>
        <p:grpSp>
          <p:nvGrpSpPr>
            <p:cNvPr id="147" name="Google Shape;147;g3da8f2e7afe_0_478"/>
            <p:cNvGrpSpPr/>
            <p:nvPr/>
          </p:nvGrpSpPr>
          <p:grpSpPr>
            <a:xfrm>
              <a:off x="52" y="4309200"/>
              <a:ext cx="231622" cy="834300"/>
              <a:chOff x="2688737" y="4301380"/>
              <a:chExt cx="231900" cy="834300"/>
            </a:xfrm>
          </p:grpSpPr>
          <p:sp>
            <p:nvSpPr>
              <p:cNvPr id="148" name="Google Shape;148;g3da8f2e7afe_0_478"/>
              <p:cNvSpPr/>
              <p:nvPr/>
            </p:nvSpPr>
            <p:spPr>
              <a:xfrm flipH="1">
                <a:off x="2688737" y="4720780"/>
                <a:ext cx="2319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49" name="Google Shape;149;g3da8f2e7afe_0_478"/>
              <p:cNvSpPr/>
              <p:nvPr/>
            </p:nvSpPr>
            <p:spPr>
              <a:xfrm flipH="1">
                <a:off x="2688737" y="4301380"/>
                <a:ext cx="231900" cy="83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50" name="Google Shape;150;g3da8f2e7afe_0_478"/>
              <p:cNvSpPr/>
              <p:nvPr/>
            </p:nvSpPr>
            <p:spPr>
              <a:xfrm flipH="1">
                <a:off x="2688737" y="4511080"/>
                <a:ext cx="2319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51" name="Google Shape;151;g3da8f2e7afe_0_478"/>
              <p:cNvSpPr/>
              <p:nvPr/>
            </p:nvSpPr>
            <p:spPr>
              <a:xfrm flipH="1">
                <a:off x="2688737" y="4930480"/>
                <a:ext cx="2319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152" name="Google Shape;152;g3da8f2e7afe_0_478"/>
            <p:cNvGrpSpPr/>
            <p:nvPr/>
          </p:nvGrpSpPr>
          <p:grpSpPr>
            <a:xfrm>
              <a:off x="371406" y="4099200"/>
              <a:ext cx="231622" cy="1044300"/>
              <a:chOff x="2688737" y="4091380"/>
              <a:chExt cx="231900" cy="1044300"/>
            </a:xfrm>
          </p:grpSpPr>
          <p:sp>
            <p:nvSpPr>
              <p:cNvPr id="153" name="Google Shape;153;g3da8f2e7afe_0_478"/>
              <p:cNvSpPr/>
              <p:nvPr/>
            </p:nvSpPr>
            <p:spPr>
              <a:xfrm flipH="1">
                <a:off x="2688737" y="4720780"/>
                <a:ext cx="2319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54" name="Google Shape;154;g3da8f2e7afe_0_478"/>
              <p:cNvSpPr/>
              <p:nvPr/>
            </p:nvSpPr>
            <p:spPr>
              <a:xfrm flipH="1">
                <a:off x="2688737" y="4301380"/>
                <a:ext cx="231900" cy="83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55" name="Google Shape;155;g3da8f2e7afe_0_478"/>
              <p:cNvSpPr/>
              <p:nvPr/>
            </p:nvSpPr>
            <p:spPr>
              <a:xfrm flipH="1">
                <a:off x="2688737" y="4511080"/>
                <a:ext cx="2319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56" name="Google Shape;156;g3da8f2e7afe_0_478"/>
              <p:cNvSpPr/>
              <p:nvPr/>
            </p:nvSpPr>
            <p:spPr>
              <a:xfrm flipH="1">
                <a:off x="2688737" y="4091380"/>
                <a:ext cx="231900" cy="104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57" name="Google Shape;157;g3da8f2e7afe_0_478"/>
              <p:cNvSpPr/>
              <p:nvPr/>
            </p:nvSpPr>
            <p:spPr>
              <a:xfrm flipH="1">
                <a:off x="2688737" y="4930480"/>
                <a:ext cx="2319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158" name="Google Shape;158;g3da8f2e7afe_0_478"/>
            <p:cNvGrpSpPr/>
            <p:nvPr/>
          </p:nvGrpSpPr>
          <p:grpSpPr>
            <a:xfrm>
              <a:off x="742761" y="4309200"/>
              <a:ext cx="231622" cy="834300"/>
              <a:chOff x="2688737" y="4301380"/>
              <a:chExt cx="231900" cy="834300"/>
            </a:xfrm>
          </p:grpSpPr>
          <p:sp>
            <p:nvSpPr>
              <p:cNvPr id="159" name="Google Shape;159;g3da8f2e7afe_0_478"/>
              <p:cNvSpPr/>
              <p:nvPr/>
            </p:nvSpPr>
            <p:spPr>
              <a:xfrm flipH="1">
                <a:off x="2688737" y="4720780"/>
                <a:ext cx="2319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60" name="Google Shape;160;g3da8f2e7afe_0_478"/>
              <p:cNvSpPr/>
              <p:nvPr/>
            </p:nvSpPr>
            <p:spPr>
              <a:xfrm flipH="1">
                <a:off x="2688737" y="4301380"/>
                <a:ext cx="231900" cy="83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61" name="Google Shape;161;g3da8f2e7afe_0_478"/>
              <p:cNvSpPr/>
              <p:nvPr/>
            </p:nvSpPr>
            <p:spPr>
              <a:xfrm flipH="1">
                <a:off x="2688737" y="4511080"/>
                <a:ext cx="2319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62" name="Google Shape;162;g3da8f2e7afe_0_478"/>
              <p:cNvSpPr/>
              <p:nvPr/>
            </p:nvSpPr>
            <p:spPr>
              <a:xfrm flipH="1">
                <a:off x="2688737" y="4930480"/>
                <a:ext cx="2319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163" name="Google Shape;163;g3da8f2e7afe_0_478"/>
            <p:cNvGrpSpPr/>
            <p:nvPr/>
          </p:nvGrpSpPr>
          <p:grpSpPr>
            <a:xfrm>
              <a:off x="1114115" y="4518900"/>
              <a:ext cx="231622" cy="624600"/>
              <a:chOff x="2688737" y="4511080"/>
              <a:chExt cx="231900" cy="624600"/>
            </a:xfrm>
          </p:grpSpPr>
          <p:sp>
            <p:nvSpPr>
              <p:cNvPr id="164" name="Google Shape;164;g3da8f2e7afe_0_478"/>
              <p:cNvSpPr/>
              <p:nvPr/>
            </p:nvSpPr>
            <p:spPr>
              <a:xfrm flipH="1">
                <a:off x="2688737" y="4720780"/>
                <a:ext cx="2319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65" name="Google Shape;165;g3da8f2e7afe_0_478"/>
              <p:cNvSpPr/>
              <p:nvPr/>
            </p:nvSpPr>
            <p:spPr>
              <a:xfrm flipH="1">
                <a:off x="2688737" y="4511080"/>
                <a:ext cx="2319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66" name="Google Shape;166;g3da8f2e7afe_0_478"/>
              <p:cNvSpPr/>
              <p:nvPr/>
            </p:nvSpPr>
            <p:spPr>
              <a:xfrm flipH="1">
                <a:off x="2688737" y="4930480"/>
                <a:ext cx="2319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167" name="Google Shape;167;g3da8f2e7afe_0_478"/>
            <p:cNvGrpSpPr/>
            <p:nvPr/>
          </p:nvGrpSpPr>
          <p:grpSpPr>
            <a:xfrm>
              <a:off x="1856753" y="4099200"/>
              <a:ext cx="231600" cy="1044300"/>
              <a:chOff x="1856753" y="4099200"/>
              <a:chExt cx="231600" cy="1044300"/>
            </a:xfrm>
          </p:grpSpPr>
          <p:sp>
            <p:nvSpPr>
              <p:cNvPr id="168" name="Google Shape;168;g3da8f2e7afe_0_478"/>
              <p:cNvSpPr/>
              <p:nvPr/>
            </p:nvSpPr>
            <p:spPr>
              <a:xfrm flipH="1">
                <a:off x="1856753" y="4728600"/>
                <a:ext cx="2316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69" name="Google Shape;169;g3da8f2e7afe_0_478"/>
              <p:cNvSpPr/>
              <p:nvPr/>
            </p:nvSpPr>
            <p:spPr>
              <a:xfrm flipH="1">
                <a:off x="1856753" y="4309200"/>
                <a:ext cx="231600" cy="83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70" name="Google Shape;170;g3da8f2e7afe_0_478"/>
              <p:cNvSpPr/>
              <p:nvPr/>
            </p:nvSpPr>
            <p:spPr>
              <a:xfrm flipH="1">
                <a:off x="1856753" y="4518900"/>
                <a:ext cx="2316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71" name="Google Shape;171;g3da8f2e7afe_0_478"/>
              <p:cNvSpPr/>
              <p:nvPr/>
            </p:nvSpPr>
            <p:spPr>
              <a:xfrm flipH="1">
                <a:off x="1856753" y="4099200"/>
                <a:ext cx="231600" cy="104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72" name="Google Shape;172;g3da8f2e7afe_0_478"/>
              <p:cNvSpPr/>
              <p:nvPr/>
            </p:nvSpPr>
            <p:spPr>
              <a:xfrm flipH="1">
                <a:off x="1856753" y="4938300"/>
                <a:ext cx="2316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173" name="Google Shape;173;g3da8f2e7afe_0_478"/>
            <p:cNvGrpSpPr/>
            <p:nvPr/>
          </p:nvGrpSpPr>
          <p:grpSpPr>
            <a:xfrm>
              <a:off x="2228107" y="4309200"/>
              <a:ext cx="231600" cy="834300"/>
              <a:chOff x="2228107" y="4309200"/>
              <a:chExt cx="231600" cy="834300"/>
            </a:xfrm>
          </p:grpSpPr>
          <p:sp>
            <p:nvSpPr>
              <p:cNvPr id="174" name="Google Shape;174;g3da8f2e7afe_0_478"/>
              <p:cNvSpPr/>
              <p:nvPr/>
            </p:nvSpPr>
            <p:spPr>
              <a:xfrm flipH="1">
                <a:off x="2228107" y="4728600"/>
                <a:ext cx="2316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75" name="Google Shape;175;g3da8f2e7afe_0_478"/>
              <p:cNvSpPr/>
              <p:nvPr/>
            </p:nvSpPr>
            <p:spPr>
              <a:xfrm flipH="1">
                <a:off x="2228107" y="4309200"/>
                <a:ext cx="231600" cy="83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76" name="Google Shape;176;g3da8f2e7afe_0_478"/>
              <p:cNvSpPr/>
              <p:nvPr/>
            </p:nvSpPr>
            <p:spPr>
              <a:xfrm flipH="1">
                <a:off x="2228107" y="4518900"/>
                <a:ext cx="2316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77" name="Google Shape;177;g3da8f2e7afe_0_478"/>
              <p:cNvSpPr/>
              <p:nvPr/>
            </p:nvSpPr>
            <p:spPr>
              <a:xfrm flipH="1">
                <a:off x="2228107" y="4938300"/>
                <a:ext cx="2316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178" name="Google Shape;178;g3da8f2e7afe_0_478"/>
            <p:cNvGrpSpPr/>
            <p:nvPr/>
          </p:nvGrpSpPr>
          <p:grpSpPr>
            <a:xfrm>
              <a:off x="2599462" y="4518900"/>
              <a:ext cx="231600" cy="624600"/>
              <a:chOff x="2599462" y="4518900"/>
              <a:chExt cx="231600" cy="624600"/>
            </a:xfrm>
          </p:grpSpPr>
          <p:sp>
            <p:nvSpPr>
              <p:cNvPr id="179" name="Google Shape;179;g3da8f2e7afe_0_478"/>
              <p:cNvSpPr/>
              <p:nvPr/>
            </p:nvSpPr>
            <p:spPr>
              <a:xfrm flipH="1">
                <a:off x="2599462" y="4728600"/>
                <a:ext cx="2316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80" name="Google Shape;180;g3da8f2e7afe_0_478"/>
              <p:cNvSpPr/>
              <p:nvPr/>
            </p:nvSpPr>
            <p:spPr>
              <a:xfrm flipH="1">
                <a:off x="2599462" y="4518900"/>
                <a:ext cx="2316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81" name="Google Shape;181;g3da8f2e7afe_0_478"/>
              <p:cNvSpPr/>
              <p:nvPr/>
            </p:nvSpPr>
            <p:spPr>
              <a:xfrm flipH="1">
                <a:off x="2599462" y="4938300"/>
                <a:ext cx="2316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182" name="Google Shape;182;g3da8f2e7afe_0_478"/>
            <p:cNvGrpSpPr/>
            <p:nvPr/>
          </p:nvGrpSpPr>
          <p:grpSpPr>
            <a:xfrm>
              <a:off x="3342171" y="4099200"/>
              <a:ext cx="231600" cy="1044300"/>
              <a:chOff x="3342171" y="4099200"/>
              <a:chExt cx="231600" cy="1044300"/>
            </a:xfrm>
          </p:grpSpPr>
          <p:sp>
            <p:nvSpPr>
              <p:cNvPr id="183" name="Google Shape;183;g3da8f2e7afe_0_478"/>
              <p:cNvSpPr/>
              <p:nvPr/>
            </p:nvSpPr>
            <p:spPr>
              <a:xfrm flipH="1">
                <a:off x="3342171" y="4728600"/>
                <a:ext cx="2316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84" name="Google Shape;184;g3da8f2e7afe_0_478"/>
              <p:cNvSpPr/>
              <p:nvPr/>
            </p:nvSpPr>
            <p:spPr>
              <a:xfrm flipH="1">
                <a:off x="3342171" y="4309200"/>
                <a:ext cx="231600" cy="83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85" name="Google Shape;185;g3da8f2e7afe_0_478"/>
              <p:cNvSpPr/>
              <p:nvPr/>
            </p:nvSpPr>
            <p:spPr>
              <a:xfrm flipH="1">
                <a:off x="3342171" y="4518900"/>
                <a:ext cx="2316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86" name="Google Shape;186;g3da8f2e7afe_0_478"/>
              <p:cNvSpPr/>
              <p:nvPr/>
            </p:nvSpPr>
            <p:spPr>
              <a:xfrm flipH="1">
                <a:off x="3342171" y="4099200"/>
                <a:ext cx="231600" cy="104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87" name="Google Shape;187;g3da8f2e7afe_0_478"/>
              <p:cNvSpPr/>
              <p:nvPr/>
            </p:nvSpPr>
            <p:spPr>
              <a:xfrm flipH="1">
                <a:off x="3342171" y="4938300"/>
                <a:ext cx="2316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188" name="Google Shape;188;g3da8f2e7afe_0_478"/>
            <p:cNvGrpSpPr/>
            <p:nvPr/>
          </p:nvGrpSpPr>
          <p:grpSpPr>
            <a:xfrm>
              <a:off x="3713525" y="4309200"/>
              <a:ext cx="231600" cy="834300"/>
              <a:chOff x="3713525" y="4309200"/>
              <a:chExt cx="231600" cy="834300"/>
            </a:xfrm>
          </p:grpSpPr>
          <p:sp>
            <p:nvSpPr>
              <p:cNvPr id="189" name="Google Shape;189;g3da8f2e7afe_0_478"/>
              <p:cNvSpPr/>
              <p:nvPr/>
            </p:nvSpPr>
            <p:spPr>
              <a:xfrm flipH="1">
                <a:off x="3713525" y="4728600"/>
                <a:ext cx="2316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90" name="Google Shape;190;g3da8f2e7afe_0_478"/>
              <p:cNvSpPr/>
              <p:nvPr/>
            </p:nvSpPr>
            <p:spPr>
              <a:xfrm flipH="1">
                <a:off x="3713525" y="4309200"/>
                <a:ext cx="231600" cy="83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91" name="Google Shape;191;g3da8f2e7afe_0_478"/>
              <p:cNvSpPr/>
              <p:nvPr/>
            </p:nvSpPr>
            <p:spPr>
              <a:xfrm flipH="1">
                <a:off x="3713525" y="4518900"/>
                <a:ext cx="2316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92" name="Google Shape;192;g3da8f2e7afe_0_478"/>
              <p:cNvSpPr/>
              <p:nvPr/>
            </p:nvSpPr>
            <p:spPr>
              <a:xfrm flipH="1">
                <a:off x="3713525" y="4938300"/>
                <a:ext cx="2316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193" name="Google Shape;193;g3da8f2e7afe_0_478"/>
            <p:cNvGrpSpPr/>
            <p:nvPr/>
          </p:nvGrpSpPr>
          <p:grpSpPr>
            <a:xfrm>
              <a:off x="1485398" y="4309200"/>
              <a:ext cx="231600" cy="834300"/>
              <a:chOff x="1485398" y="4309200"/>
              <a:chExt cx="231600" cy="834300"/>
            </a:xfrm>
          </p:grpSpPr>
          <p:sp>
            <p:nvSpPr>
              <p:cNvPr id="194" name="Google Shape;194;g3da8f2e7afe_0_478"/>
              <p:cNvSpPr/>
              <p:nvPr/>
            </p:nvSpPr>
            <p:spPr>
              <a:xfrm flipH="1">
                <a:off x="1485398" y="4728600"/>
                <a:ext cx="2316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95" name="Google Shape;195;g3da8f2e7afe_0_478"/>
              <p:cNvSpPr/>
              <p:nvPr/>
            </p:nvSpPr>
            <p:spPr>
              <a:xfrm flipH="1">
                <a:off x="1485398" y="4309200"/>
                <a:ext cx="231600" cy="83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96" name="Google Shape;196;g3da8f2e7afe_0_478"/>
              <p:cNvSpPr/>
              <p:nvPr/>
            </p:nvSpPr>
            <p:spPr>
              <a:xfrm flipH="1">
                <a:off x="1485398" y="4518900"/>
                <a:ext cx="2316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197" name="Google Shape;197;g3da8f2e7afe_0_478"/>
              <p:cNvSpPr/>
              <p:nvPr/>
            </p:nvSpPr>
            <p:spPr>
              <a:xfrm flipH="1">
                <a:off x="1485398" y="4938300"/>
                <a:ext cx="2316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198" name="Google Shape;198;g3da8f2e7afe_0_478"/>
            <p:cNvGrpSpPr/>
            <p:nvPr/>
          </p:nvGrpSpPr>
          <p:grpSpPr>
            <a:xfrm>
              <a:off x="4084879" y="4518900"/>
              <a:ext cx="231600" cy="624600"/>
              <a:chOff x="4084879" y="4518900"/>
              <a:chExt cx="231600" cy="624600"/>
            </a:xfrm>
          </p:grpSpPr>
          <p:sp>
            <p:nvSpPr>
              <p:cNvPr id="199" name="Google Shape;199;g3da8f2e7afe_0_478"/>
              <p:cNvSpPr/>
              <p:nvPr/>
            </p:nvSpPr>
            <p:spPr>
              <a:xfrm flipH="1">
                <a:off x="4084879" y="4728600"/>
                <a:ext cx="2316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00" name="Google Shape;200;g3da8f2e7afe_0_478"/>
              <p:cNvSpPr/>
              <p:nvPr/>
            </p:nvSpPr>
            <p:spPr>
              <a:xfrm flipH="1">
                <a:off x="4084879" y="4518900"/>
                <a:ext cx="2316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01" name="Google Shape;201;g3da8f2e7afe_0_478"/>
              <p:cNvSpPr/>
              <p:nvPr/>
            </p:nvSpPr>
            <p:spPr>
              <a:xfrm flipH="1">
                <a:off x="4084879" y="4938300"/>
                <a:ext cx="2316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202" name="Google Shape;202;g3da8f2e7afe_0_478"/>
            <p:cNvGrpSpPr/>
            <p:nvPr/>
          </p:nvGrpSpPr>
          <p:grpSpPr>
            <a:xfrm>
              <a:off x="2970816" y="4309200"/>
              <a:ext cx="231600" cy="834300"/>
              <a:chOff x="2970816" y="4309200"/>
              <a:chExt cx="231600" cy="834300"/>
            </a:xfrm>
          </p:grpSpPr>
          <p:sp>
            <p:nvSpPr>
              <p:cNvPr id="203" name="Google Shape;203;g3da8f2e7afe_0_478"/>
              <p:cNvSpPr/>
              <p:nvPr/>
            </p:nvSpPr>
            <p:spPr>
              <a:xfrm flipH="1">
                <a:off x="2970816" y="4728600"/>
                <a:ext cx="2316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04" name="Google Shape;204;g3da8f2e7afe_0_478"/>
              <p:cNvSpPr/>
              <p:nvPr/>
            </p:nvSpPr>
            <p:spPr>
              <a:xfrm flipH="1">
                <a:off x="2970816" y="4309200"/>
                <a:ext cx="231600" cy="83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05" name="Google Shape;205;g3da8f2e7afe_0_478"/>
              <p:cNvSpPr/>
              <p:nvPr/>
            </p:nvSpPr>
            <p:spPr>
              <a:xfrm flipH="1">
                <a:off x="2970816" y="4518900"/>
                <a:ext cx="2316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06" name="Google Shape;206;g3da8f2e7afe_0_478"/>
              <p:cNvSpPr/>
              <p:nvPr/>
            </p:nvSpPr>
            <p:spPr>
              <a:xfrm flipH="1">
                <a:off x="2970816" y="4938300"/>
                <a:ext cx="2316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207" name="Google Shape;207;g3da8f2e7afe_0_478"/>
            <p:cNvGrpSpPr/>
            <p:nvPr/>
          </p:nvGrpSpPr>
          <p:grpSpPr>
            <a:xfrm>
              <a:off x="4456234" y="4309200"/>
              <a:ext cx="231600" cy="834300"/>
              <a:chOff x="4456234" y="4309200"/>
              <a:chExt cx="231600" cy="834300"/>
            </a:xfrm>
          </p:grpSpPr>
          <p:sp>
            <p:nvSpPr>
              <p:cNvPr id="208" name="Google Shape;208;g3da8f2e7afe_0_478"/>
              <p:cNvSpPr/>
              <p:nvPr/>
            </p:nvSpPr>
            <p:spPr>
              <a:xfrm flipH="1">
                <a:off x="4456234" y="4728600"/>
                <a:ext cx="2316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09" name="Google Shape;209;g3da8f2e7afe_0_478"/>
              <p:cNvSpPr/>
              <p:nvPr/>
            </p:nvSpPr>
            <p:spPr>
              <a:xfrm flipH="1">
                <a:off x="4456234" y="4309200"/>
                <a:ext cx="231600" cy="83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10" name="Google Shape;210;g3da8f2e7afe_0_478"/>
              <p:cNvSpPr/>
              <p:nvPr/>
            </p:nvSpPr>
            <p:spPr>
              <a:xfrm flipH="1">
                <a:off x="4456234" y="4518900"/>
                <a:ext cx="2316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11" name="Google Shape;211;g3da8f2e7afe_0_478"/>
              <p:cNvSpPr/>
              <p:nvPr/>
            </p:nvSpPr>
            <p:spPr>
              <a:xfrm flipH="1">
                <a:off x="4456234" y="4938300"/>
                <a:ext cx="2316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212" name="Google Shape;212;g3da8f2e7afe_0_478"/>
            <p:cNvGrpSpPr/>
            <p:nvPr/>
          </p:nvGrpSpPr>
          <p:grpSpPr>
            <a:xfrm>
              <a:off x="4827588" y="4099200"/>
              <a:ext cx="231600" cy="1044300"/>
              <a:chOff x="4827588" y="4099200"/>
              <a:chExt cx="231600" cy="1044300"/>
            </a:xfrm>
          </p:grpSpPr>
          <p:sp>
            <p:nvSpPr>
              <p:cNvPr id="213" name="Google Shape;213;g3da8f2e7afe_0_478"/>
              <p:cNvSpPr/>
              <p:nvPr/>
            </p:nvSpPr>
            <p:spPr>
              <a:xfrm flipH="1">
                <a:off x="4827588" y="4728600"/>
                <a:ext cx="2316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14" name="Google Shape;214;g3da8f2e7afe_0_478"/>
              <p:cNvSpPr/>
              <p:nvPr/>
            </p:nvSpPr>
            <p:spPr>
              <a:xfrm flipH="1">
                <a:off x="4827588" y="4309200"/>
                <a:ext cx="231600" cy="83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15" name="Google Shape;215;g3da8f2e7afe_0_478"/>
              <p:cNvSpPr/>
              <p:nvPr/>
            </p:nvSpPr>
            <p:spPr>
              <a:xfrm flipH="1">
                <a:off x="4827588" y="4518900"/>
                <a:ext cx="2316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16" name="Google Shape;216;g3da8f2e7afe_0_478"/>
              <p:cNvSpPr/>
              <p:nvPr/>
            </p:nvSpPr>
            <p:spPr>
              <a:xfrm flipH="1">
                <a:off x="4827588" y="4099200"/>
                <a:ext cx="231600" cy="104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17" name="Google Shape;217;g3da8f2e7afe_0_478"/>
              <p:cNvSpPr/>
              <p:nvPr/>
            </p:nvSpPr>
            <p:spPr>
              <a:xfrm flipH="1">
                <a:off x="4827588" y="4938300"/>
                <a:ext cx="2316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218" name="Google Shape;218;g3da8f2e7afe_0_478"/>
            <p:cNvGrpSpPr/>
            <p:nvPr/>
          </p:nvGrpSpPr>
          <p:grpSpPr>
            <a:xfrm>
              <a:off x="5198943" y="4309200"/>
              <a:ext cx="231600" cy="834300"/>
              <a:chOff x="5198943" y="4309200"/>
              <a:chExt cx="231600" cy="834300"/>
            </a:xfrm>
          </p:grpSpPr>
          <p:sp>
            <p:nvSpPr>
              <p:cNvPr id="219" name="Google Shape;219;g3da8f2e7afe_0_478"/>
              <p:cNvSpPr/>
              <p:nvPr/>
            </p:nvSpPr>
            <p:spPr>
              <a:xfrm flipH="1">
                <a:off x="5198943" y="4728600"/>
                <a:ext cx="2316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20" name="Google Shape;220;g3da8f2e7afe_0_478"/>
              <p:cNvSpPr/>
              <p:nvPr/>
            </p:nvSpPr>
            <p:spPr>
              <a:xfrm flipH="1">
                <a:off x="5198943" y="4309200"/>
                <a:ext cx="231600" cy="83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21" name="Google Shape;221;g3da8f2e7afe_0_478"/>
              <p:cNvSpPr/>
              <p:nvPr/>
            </p:nvSpPr>
            <p:spPr>
              <a:xfrm flipH="1">
                <a:off x="5198943" y="4518900"/>
                <a:ext cx="2316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22" name="Google Shape;222;g3da8f2e7afe_0_478"/>
              <p:cNvSpPr/>
              <p:nvPr/>
            </p:nvSpPr>
            <p:spPr>
              <a:xfrm flipH="1">
                <a:off x="5198943" y="4938300"/>
                <a:ext cx="2316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223" name="Google Shape;223;g3da8f2e7afe_0_478"/>
            <p:cNvGrpSpPr/>
            <p:nvPr/>
          </p:nvGrpSpPr>
          <p:grpSpPr>
            <a:xfrm>
              <a:off x="5570297" y="4518900"/>
              <a:ext cx="231600" cy="624600"/>
              <a:chOff x="5570297" y="4518900"/>
              <a:chExt cx="231600" cy="624600"/>
            </a:xfrm>
          </p:grpSpPr>
          <p:sp>
            <p:nvSpPr>
              <p:cNvPr id="224" name="Google Shape;224;g3da8f2e7afe_0_478"/>
              <p:cNvSpPr/>
              <p:nvPr/>
            </p:nvSpPr>
            <p:spPr>
              <a:xfrm flipH="1">
                <a:off x="5570297" y="4728600"/>
                <a:ext cx="2316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25" name="Google Shape;225;g3da8f2e7afe_0_478"/>
              <p:cNvSpPr/>
              <p:nvPr/>
            </p:nvSpPr>
            <p:spPr>
              <a:xfrm flipH="1">
                <a:off x="5570297" y="4518900"/>
                <a:ext cx="2316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26" name="Google Shape;226;g3da8f2e7afe_0_478"/>
              <p:cNvSpPr/>
              <p:nvPr/>
            </p:nvSpPr>
            <p:spPr>
              <a:xfrm flipH="1">
                <a:off x="5570297" y="4938300"/>
                <a:ext cx="2316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227" name="Google Shape;227;g3da8f2e7afe_0_478"/>
            <p:cNvGrpSpPr/>
            <p:nvPr/>
          </p:nvGrpSpPr>
          <p:grpSpPr>
            <a:xfrm>
              <a:off x="5941652" y="4309200"/>
              <a:ext cx="231600" cy="834300"/>
              <a:chOff x="5941652" y="4309200"/>
              <a:chExt cx="231600" cy="834300"/>
            </a:xfrm>
          </p:grpSpPr>
          <p:sp>
            <p:nvSpPr>
              <p:cNvPr id="228" name="Google Shape;228;g3da8f2e7afe_0_478"/>
              <p:cNvSpPr/>
              <p:nvPr/>
            </p:nvSpPr>
            <p:spPr>
              <a:xfrm flipH="1">
                <a:off x="5941652" y="4728600"/>
                <a:ext cx="2316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29" name="Google Shape;229;g3da8f2e7afe_0_478"/>
              <p:cNvSpPr/>
              <p:nvPr/>
            </p:nvSpPr>
            <p:spPr>
              <a:xfrm flipH="1">
                <a:off x="5941652" y="4309200"/>
                <a:ext cx="231600" cy="83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30" name="Google Shape;230;g3da8f2e7afe_0_478"/>
              <p:cNvSpPr/>
              <p:nvPr/>
            </p:nvSpPr>
            <p:spPr>
              <a:xfrm flipH="1">
                <a:off x="5941652" y="4518900"/>
                <a:ext cx="2316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31" name="Google Shape;231;g3da8f2e7afe_0_478"/>
              <p:cNvSpPr/>
              <p:nvPr/>
            </p:nvSpPr>
            <p:spPr>
              <a:xfrm flipH="1">
                <a:off x="5941652" y="4938300"/>
                <a:ext cx="2316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232" name="Google Shape;232;g3da8f2e7afe_0_478"/>
            <p:cNvGrpSpPr/>
            <p:nvPr/>
          </p:nvGrpSpPr>
          <p:grpSpPr>
            <a:xfrm>
              <a:off x="6313006" y="4099200"/>
              <a:ext cx="231600" cy="1044300"/>
              <a:chOff x="6313006" y="4099200"/>
              <a:chExt cx="231600" cy="1044300"/>
            </a:xfrm>
          </p:grpSpPr>
          <p:sp>
            <p:nvSpPr>
              <p:cNvPr id="233" name="Google Shape;233;g3da8f2e7afe_0_478"/>
              <p:cNvSpPr/>
              <p:nvPr/>
            </p:nvSpPr>
            <p:spPr>
              <a:xfrm flipH="1">
                <a:off x="6313006" y="4728600"/>
                <a:ext cx="2316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34" name="Google Shape;234;g3da8f2e7afe_0_478"/>
              <p:cNvSpPr/>
              <p:nvPr/>
            </p:nvSpPr>
            <p:spPr>
              <a:xfrm flipH="1">
                <a:off x="6313006" y="4309200"/>
                <a:ext cx="231600" cy="83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35" name="Google Shape;235;g3da8f2e7afe_0_478"/>
              <p:cNvSpPr/>
              <p:nvPr/>
            </p:nvSpPr>
            <p:spPr>
              <a:xfrm flipH="1">
                <a:off x="6313006" y="4518900"/>
                <a:ext cx="2316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36" name="Google Shape;236;g3da8f2e7afe_0_478"/>
              <p:cNvSpPr/>
              <p:nvPr/>
            </p:nvSpPr>
            <p:spPr>
              <a:xfrm flipH="1">
                <a:off x="6313006" y="4099200"/>
                <a:ext cx="231600" cy="104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37" name="Google Shape;237;g3da8f2e7afe_0_478"/>
              <p:cNvSpPr/>
              <p:nvPr/>
            </p:nvSpPr>
            <p:spPr>
              <a:xfrm flipH="1">
                <a:off x="6313006" y="4938300"/>
                <a:ext cx="2316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238" name="Google Shape;238;g3da8f2e7afe_0_478"/>
            <p:cNvGrpSpPr/>
            <p:nvPr/>
          </p:nvGrpSpPr>
          <p:grpSpPr>
            <a:xfrm>
              <a:off x="6684361" y="4309200"/>
              <a:ext cx="231600" cy="834300"/>
              <a:chOff x="6684361" y="4309200"/>
              <a:chExt cx="231600" cy="834300"/>
            </a:xfrm>
          </p:grpSpPr>
          <p:sp>
            <p:nvSpPr>
              <p:cNvPr id="239" name="Google Shape;239;g3da8f2e7afe_0_478"/>
              <p:cNvSpPr/>
              <p:nvPr/>
            </p:nvSpPr>
            <p:spPr>
              <a:xfrm flipH="1">
                <a:off x="6684361" y="4728600"/>
                <a:ext cx="2316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40" name="Google Shape;240;g3da8f2e7afe_0_478"/>
              <p:cNvSpPr/>
              <p:nvPr/>
            </p:nvSpPr>
            <p:spPr>
              <a:xfrm flipH="1">
                <a:off x="6684361" y="4309200"/>
                <a:ext cx="231600" cy="83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41" name="Google Shape;241;g3da8f2e7afe_0_478"/>
              <p:cNvSpPr/>
              <p:nvPr/>
            </p:nvSpPr>
            <p:spPr>
              <a:xfrm flipH="1">
                <a:off x="6684361" y="4518900"/>
                <a:ext cx="2316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42" name="Google Shape;242;g3da8f2e7afe_0_478"/>
              <p:cNvSpPr/>
              <p:nvPr/>
            </p:nvSpPr>
            <p:spPr>
              <a:xfrm flipH="1">
                <a:off x="6684361" y="4938300"/>
                <a:ext cx="2316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243" name="Google Shape;243;g3da8f2e7afe_0_478"/>
            <p:cNvGrpSpPr/>
            <p:nvPr/>
          </p:nvGrpSpPr>
          <p:grpSpPr>
            <a:xfrm>
              <a:off x="7055715" y="4518900"/>
              <a:ext cx="231600" cy="624600"/>
              <a:chOff x="7055715" y="4518900"/>
              <a:chExt cx="231600" cy="624600"/>
            </a:xfrm>
          </p:grpSpPr>
          <p:sp>
            <p:nvSpPr>
              <p:cNvPr id="244" name="Google Shape;244;g3da8f2e7afe_0_478"/>
              <p:cNvSpPr/>
              <p:nvPr/>
            </p:nvSpPr>
            <p:spPr>
              <a:xfrm flipH="1">
                <a:off x="7055715" y="4728600"/>
                <a:ext cx="2316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45" name="Google Shape;245;g3da8f2e7afe_0_478"/>
              <p:cNvSpPr/>
              <p:nvPr/>
            </p:nvSpPr>
            <p:spPr>
              <a:xfrm flipH="1">
                <a:off x="7055715" y="4518900"/>
                <a:ext cx="2316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46" name="Google Shape;246;g3da8f2e7afe_0_478"/>
              <p:cNvSpPr/>
              <p:nvPr/>
            </p:nvSpPr>
            <p:spPr>
              <a:xfrm flipH="1">
                <a:off x="7055715" y="4938300"/>
                <a:ext cx="2316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247" name="Google Shape;247;g3da8f2e7afe_0_478"/>
            <p:cNvGrpSpPr/>
            <p:nvPr/>
          </p:nvGrpSpPr>
          <p:grpSpPr>
            <a:xfrm>
              <a:off x="7798424" y="4099200"/>
              <a:ext cx="231600" cy="1044300"/>
              <a:chOff x="7798424" y="4099200"/>
              <a:chExt cx="231600" cy="1044300"/>
            </a:xfrm>
          </p:grpSpPr>
          <p:sp>
            <p:nvSpPr>
              <p:cNvPr id="248" name="Google Shape;248;g3da8f2e7afe_0_478"/>
              <p:cNvSpPr/>
              <p:nvPr/>
            </p:nvSpPr>
            <p:spPr>
              <a:xfrm flipH="1">
                <a:off x="7798424" y="4728600"/>
                <a:ext cx="2316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49" name="Google Shape;249;g3da8f2e7afe_0_478"/>
              <p:cNvSpPr/>
              <p:nvPr/>
            </p:nvSpPr>
            <p:spPr>
              <a:xfrm flipH="1">
                <a:off x="7798424" y="4309200"/>
                <a:ext cx="231600" cy="83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50" name="Google Shape;250;g3da8f2e7afe_0_478"/>
              <p:cNvSpPr/>
              <p:nvPr/>
            </p:nvSpPr>
            <p:spPr>
              <a:xfrm flipH="1">
                <a:off x="7798424" y="4518900"/>
                <a:ext cx="2316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51" name="Google Shape;251;g3da8f2e7afe_0_478"/>
              <p:cNvSpPr/>
              <p:nvPr/>
            </p:nvSpPr>
            <p:spPr>
              <a:xfrm flipH="1">
                <a:off x="7798424" y="4099200"/>
                <a:ext cx="231600" cy="104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52" name="Google Shape;252;g3da8f2e7afe_0_478"/>
              <p:cNvSpPr/>
              <p:nvPr/>
            </p:nvSpPr>
            <p:spPr>
              <a:xfrm flipH="1">
                <a:off x="7798424" y="4938300"/>
                <a:ext cx="2316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253" name="Google Shape;253;g3da8f2e7afe_0_478"/>
            <p:cNvGrpSpPr/>
            <p:nvPr/>
          </p:nvGrpSpPr>
          <p:grpSpPr>
            <a:xfrm>
              <a:off x="8169779" y="4309200"/>
              <a:ext cx="231600" cy="834300"/>
              <a:chOff x="8169779" y="4309200"/>
              <a:chExt cx="231600" cy="834300"/>
            </a:xfrm>
          </p:grpSpPr>
          <p:sp>
            <p:nvSpPr>
              <p:cNvPr id="254" name="Google Shape;254;g3da8f2e7afe_0_478"/>
              <p:cNvSpPr/>
              <p:nvPr/>
            </p:nvSpPr>
            <p:spPr>
              <a:xfrm flipH="1">
                <a:off x="8169779" y="4728600"/>
                <a:ext cx="2316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55" name="Google Shape;255;g3da8f2e7afe_0_478"/>
              <p:cNvSpPr/>
              <p:nvPr/>
            </p:nvSpPr>
            <p:spPr>
              <a:xfrm flipH="1">
                <a:off x="8169779" y="4309200"/>
                <a:ext cx="231600" cy="83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56" name="Google Shape;256;g3da8f2e7afe_0_478"/>
              <p:cNvSpPr/>
              <p:nvPr/>
            </p:nvSpPr>
            <p:spPr>
              <a:xfrm flipH="1">
                <a:off x="8169779" y="4518900"/>
                <a:ext cx="2316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57" name="Google Shape;257;g3da8f2e7afe_0_478"/>
              <p:cNvSpPr/>
              <p:nvPr/>
            </p:nvSpPr>
            <p:spPr>
              <a:xfrm flipH="1">
                <a:off x="8169779" y="4938300"/>
                <a:ext cx="2316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258" name="Google Shape;258;g3da8f2e7afe_0_478"/>
            <p:cNvGrpSpPr/>
            <p:nvPr/>
          </p:nvGrpSpPr>
          <p:grpSpPr>
            <a:xfrm>
              <a:off x="7427070" y="4309200"/>
              <a:ext cx="231600" cy="834300"/>
              <a:chOff x="7427070" y="4309200"/>
              <a:chExt cx="231600" cy="834300"/>
            </a:xfrm>
          </p:grpSpPr>
          <p:sp>
            <p:nvSpPr>
              <p:cNvPr id="259" name="Google Shape;259;g3da8f2e7afe_0_478"/>
              <p:cNvSpPr/>
              <p:nvPr/>
            </p:nvSpPr>
            <p:spPr>
              <a:xfrm flipH="1">
                <a:off x="7427070" y="4728600"/>
                <a:ext cx="2316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60" name="Google Shape;260;g3da8f2e7afe_0_478"/>
              <p:cNvSpPr/>
              <p:nvPr/>
            </p:nvSpPr>
            <p:spPr>
              <a:xfrm flipH="1">
                <a:off x="7427070" y="4309200"/>
                <a:ext cx="231600" cy="83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61" name="Google Shape;261;g3da8f2e7afe_0_478"/>
              <p:cNvSpPr/>
              <p:nvPr/>
            </p:nvSpPr>
            <p:spPr>
              <a:xfrm flipH="1">
                <a:off x="7427070" y="4518900"/>
                <a:ext cx="2316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62" name="Google Shape;262;g3da8f2e7afe_0_478"/>
              <p:cNvSpPr/>
              <p:nvPr/>
            </p:nvSpPr>
            <p:spPr>
              <a:xfrm flipH="1">
                <a:off x="7427070" y="4938300"/>
                <a:ext cx="2316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263" name="Google Shape;263;g3da8f2e7afe_0_478"/>
            <p:cNvGrpSpPr/>
            <p:nvPr/>
          </p:nvGrpSpPr>
          <p:grpSpPr>
            <a:xfrm>
              <a:off x="8541133" y="4518900"/>
              <a:ext cx="231600" cy="624600"/>
              <a:chOff x="8541133" y="4518900"/>
              <a:chExt cx="231600" cy="624600"/>
            </a:xfrm>
          </p:grpSpPr>
          <p:sp>
            <p:nvSpPr>
              <p:cNvPr id="264" name="Google Shape;264;g3da8f2e7afe_0_478"/>
              <p:cNvSpPr/>
              <p:nvPr/>
            </p:nvSpPr>
            <p:spPr>
              <a:xfrm flipH="1">
                <a:off x="8541133" y="4728600"/>
                <a:ext cx="2316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65" name="Google Shape;265;g3da8f2e7afe_0_478"/>
              <p:cNvSpPr/>
              <p:nvPr/>
            </p:nvSpPr>
            <p:spPr>
              <a:xfrm flipH="1">
                <a:off x="8541133" y="4518900"/>
                <a:ext cx="2316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66" name="Google Shape;266;g3da8f2e7afe_0_478"/>
              <p:cNvSpPr/>
              <p:nvPr/>
            </p:nvSpPr>
            <p:spPr>
              <a:xfrm flipH="1">
                <a:off x="8541133" y="4938300"/>
                <a:ext cx="2316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nvGrpSpPr>
            <p:cNvPr id="267" name="Google Shape;267;g3da8f2e7afe_0_478"/>
            <p:cNvGrpSpPr/>
            <p:nvPr/>
          </p:nvGrpSpPr>
          <p:grpSpPr>
            <a:xfrm>
              <a:off x="8912488" y="4309200"/>
              <a:ext cx="231600" cy="834300"/>
              <a:chOff x="8912488" y="4309200"/>
              <a:chExt cx="231600" cy="834300"/>
            </a:xfrm>
          </p:grpSpPr>
          <p:sp>
            <p:nvSpPr>
              <p:cNvPr id="268" name="Google Shape;268;g3da8f2e7afe_0_478"/>
              <p:cNvSpPr/>
              <p:nvPr/>
            </p:nvSpPr>
            <p:spPr>
              <a:xfrm flipH="1">
                <a:off x="8912488" y="4728600"/>
                <a:ext cx="231600" cy="4149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69" name="Google Shape;269;g3da8f2e7afe_0_478"/>
              <p:cNvSpPr/>
              <p:nvPr/>
            </p:nvSpPr>
            <p:spPr>
              <a:xfrm flipH="1">
                <a:off x="8912488" y="4309200"/>
                <a:ext cx="231600" cy="8343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70" name="Google Shape;270;g3da8f2e7afe_0_478"/>
              <p:cNvSpPr/>
              <p:nvPr/>
            </p:nvSpPr>
            <p:spPr>
              <a:xfrm flipH="1">
                <a:off x="8912488" y="4518900"/>
                <a:ext cx="231600" cy="6246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271" name="Google Shape;271;g3da8f2e7afe_0_478"/>
              <p:cNvSpPr/>
              <p:nvPr/>
            </p:nvSpPr>
            <p:spPr>
              <a:xfrm flipH="1">
                <a:off x="8912488" y="4938300"/>
                <a:ext cx="231600" cy="205200"/>
              </a:xfrm>
              <a:prstGeom prst="round2SameRect">
                <a:avLst>
                  <a:gd fmla="val 50000" name="adj1"/>
                  <a:gd fmla="val 0" name="adj2"/>
                </a:avLst>
              </a:prstGeom>
              <a:solidFill>
                <a:schemeClr val="lt1">
                  <a:alpha val="9020"/>
                </a:schemeClr>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grpSp>
      </p:grpSp>
      <p:sp>
        <p:nvSpPr>
          <p:cNvPr id="272" name="Google Shape;272;g3da8f2e7afe_0_478"/>
          <p:cNvSpPr txBox="1"/>
          <p:nvPr>
            <p:ph hasCustomPrompt="1" type="title"/>
          </p:nvPr>
        </p:nvSpPr>
        <p:spPr>
          <a:xfrm>
            <a:off x="2777250" y="1545450"/>
            <a:ext cx="12733800" cy="3726600"/>
          </a:xfrm>
          <a:prstGeom prst="rect">
            <a:avLst/>
          </a:prstGeom>
        </p:spPr>
        <p:txBody>
          <a:bodyPr anchorCtr="0" anchor="ctr" bIns="182850" lIns="182850" spcFirstLastPara="1" rIns="182850" wrap="square" tIns="182850">
            <a:normAutofit/>
          </a:bodyPr>
          <a:lstStyle>
            <a:lvl1pPr lvl="0" algn="ctr">
              <a:spcBef>
                <a:spcPts val="0"/>
              </a:spcBef>
              <a:spcAft>
                <a:spcPts val="0"/>
              </a:spcAft>
              <a:buClr>
                <a:schemeClr val="lt1"/>
              </a:buClr>
              <a:buSzPts val="16000"/>
              <a:buNone/>
              <a:defRPr sz="16000">
                <a:solidFill>
                  <a:schemeClr val="lt1"/>
                </a:solidFill>
              </a:defRPr>
            </a:lvl1pPr>
            <a:lvl2pPr lvl="1" algn="ctr">
              <a:spcBef>
                <a:spcPts val="0"/>
              </a:spcBef>
              <a:spcAft>
                <a:spcPts val="0"/>
              </a:spcAft>
              <a:buClr>
                <a:schemeClr val="lt1"/>
              </a:buClr>
              <a:buSzPts val="16000"/>
              <a:buNone/>
              <a:defRPr sz="16000">
                <a:solidFill>
                  <a:schemeClr val="lt1"/>
                </a:solidFill>
              </a:defRPr>
            </a:lvl2pPr>
            <a:lvl3pPr lvl="2" algn="ctr">
              <a:spcBef>
                <a:spcPts val="0"/>
              </a:spcBef>
              <a:spcAft>
                <a:spcPts val="0"/>
              </a:spcAft>
              <a:buClr>
                <a:schemeClr val="lt1"/>
              </a:buClr>
              <a:buSzPts val="16000"/>
              <a:buNone/>
              <a:defRPr sz="16000">
                <a:solidFill>
                  <a:schemeClr val="lt1"/>
                </a:solidFill>
              </a:defRPr>
            </a:lvl3pPr>
            <a:lvl4pPr lvl="3" algn="ctr">
              <a:spcBef>
                <a:spcPts val="0"/>
              </a:spcBef>
              <a:spcAft>
                <a:spcPts val="0"/>
              </a:spcAft>
              <a:buClr>
                <a:schemeClr val="lt1"/>
              </a:buClr>
              <a:buSzPts val="16000"/>
              <a:buNone/>
              <a:defRPr sz="16000">
                <a:solidFill>
                  <a:schemeClr val="lt1"/>
                </a:solidFill>
              </a:defRPr>
            </a:lvl4pPr>
            <a:lvl5pPr lvl="4" algn="ctr">
              <a:spcBef>
                <a:spcPts val="0"/>
              </a:spcBef>
              <a:spcAft>
                <a:spcPts val="0"/>
              </a:spcAft>
              <a:buClr>
                <a:schemeClr val="lt1"/>
              </a:buClr>
              <a:buSzPts val="16000"/>
              <a:buNone/>
              <a:defRPr sz="16000">
                <a:solidFill>
                  <a:schemeClr val="lt1"/>
                </a:solidFill>
              </a:defRPr>
            </a:lvl5pPr>
            <a:lvl6pPr lvl="5" algn="ctr">
              <a:spcBef>
                <a:spcPts val="0"/>
              </a:spcBef>
              <a:spcAft>
                <a:spcPts val="0"/>
              </a:spcAft>
              <a:buClr>
                <a:schemeClr val="lt1"/>
              </a:buClr>
              <a:buSzPts val="16000"/>
              <a:buNone/>
              <a:defRPr sz="16000">
                <a:solidFill>
                  <a:schemeClr val="lt1"/>
                </a:solidFill>
              </a:defRPr>
            </a:lvl6pPr>
            <a:lvl7pPr lvl="6" algn="ctr">
              <a:spcBef>
                <a:spcPts val="0"/>
              </a:spcBef>
              <a:spcAft>
                <a:spcPts val="0"/>
              </a:spcAft>
              <a:buClr>
                <a:schemeClr val="lt1"/>
              </a:buClr>
              <a:buSzPts val="16000"/>
              <a:buNone/>
              <a:defRPr sz="16000">
                <a:solidFill>
                  <a:schemeClr val="lt1"/>
                </a:solidFill>
              </a:defRPr>
            </a:lvl7pPr>
            <a:lvl8pPr lvl="7" algn="ctr">
              <a:spcBef>
                <a:spcPts val="0"/>
              </a:spcBef>
              <a:spcAft>
                <a:spcPts val="0"/>
              </a:spcAft>
              <a:buClr>
                <a:schemeClr val="lt1"/>
              </a:buClr>
              <a:buSzPts val="16000"/>
              <a:buNone/>
              <a:defRPr sz="16000">
                <a:solidFill>
                  <a:schemeClr val="lt1"/>
                </a:solidFill>
              </a:defRPr>
            </a:lvl8pPr>
            <a:lvl9pPr lvl="8" algn="ctr">
              <a:spcBef>
                <a:spcPts val="0"/>
              </a:spcBef>
              <a:spcAft>
                <a:spcPts val="0"/>
              </a:spcAft>
              <a:buClr>
                <a:schemeClr val="lt1"/>
              </a:buClr>
              <a:buSzPts val="16000"/>
              <a:buNone/>
              <a:defRPr sz="16000">
                <a:solidFill>
                  <a:schemeClr val="lt1"/>
                </a:solidFill>
              </a:defRPr>
            </a:lvl9pPr>
          </a:lstStyle>
          <a:p>
            <a:r>
              <a:t>xx%</a:t>
            </a:r>
          </a:p>
        </p:txBody>
      </p:sp>
      <p:sp>
        <p:nvSpPr>
          <p:cNvPr id="273" name="Google Shape;273;g3da8f2e7afe_0_478"/>
          <p:cNvSpPr txBox="1"/>
          <p:nvPr>
            <p:ph idx="1" type="body"/>
          </p:nvPr>
        </p:nvSpPr>
        <p:spPr>
          <a:xfrm>
            <a:off x="2777250" y="5424600"/>
            <a:ext cx="12733800" cy="2222400"/>
          </a:xfrm>
          <a:prstGeom prst="rect">
            <a:avLst/>
          </a:prstGeom>
        </p:spPr>
        <p:txBody>
          <a:bodyPr anchorCtr="0" anchor="t" bIns="182850" lIns="182850" spcFirstLastPara="1" rIns="182850" wrap="square" tIns="182850">
            <a:normAutofit/>
          </a:bodyPr>
          <a:lstStyle>
            <a:lvl1pPr indent="-393700" lvl="0" marL="457200" algn="ctr">
              <a:spcBef>
                <a:spcPts val="0"/>
              </a:spcBef>
              <a:spcAft>
                <a:spcPts val="0"/>
              </a:spcAft>
              <a:buClr>
                <a:schemeClr val="lt1"/>
              </a:buClr>
              <a:buSzPts val="2600"/>
              <a:buChar char="●"/>
              <a:defRPr>
                <a:solidFill>
                  <a:schemeClr val="lt1"/>
                </a:solidFill>
              </a:defRPr>
            </a:lvl1pPr>
            <a:lvl2pPr indent="-368300" lvl="1" marL="914400" algn="ctr">
              <a:spcBef>
                <a:spcPts val="0"/>
              </a:spcBef>
              <a:spcAft>
                <a:spcPts val="0"/>
              </a:spcAft>
              <a:buClr>
                <a:schemeClr val="lt1"/>
              </a:buClr>
              <a:buSzPts val="2200"/>
              <a:buChar char="○"/>
              <a:defRPr>
                <a:solidFill>
                  <a:schemeClr val="lt1"/>
                </a:solidFill>
              </a:defRPr>
            </a:lvl2pPr>
            <a:lvl3pPr indent="-368300" lvl="2" marL="1371600" algn="ctr">
              <a:spcBef>
                <a:spcPts val="0"/>
              </a:spcBef>
              <a:spcAft>
                <a:spcPts val="0"/>
              </a:spcAft>
              <a:buClr>
                <a:schemeClr val="lt1"/>
              </a:buClr>
              <a:buSzPts val="2200"/>
              <a:buChar char="■"/>
              <a:defRPr>
                <a:solidFill>
                  <a:schemeClr val="lt1"/>
                </a:solidFill>
              </a:defRPr>
            </a:lvl3pPr>
            <a:lvl4pPr indent="-368300" lvl="3" marL="1828800" algn="ctr">
              <a:spcBef>
                <a:spcPts val="0"/>
              </a:spcBef>
              <a:spcAft>
                <a:spcPts val="0"/>
              </a:spcAft>
              <a:buClr>
                <a:schemeClr val="lt1"/>
              </a:buClr>
              <a:buSzPts val="2200"/>
              <a:buChar char="●"/>
              <a:defRPr>
                <a:solidFill>
                  <a:schemeClr val="lt1"/>
                </a:solidFill>
              </a:defRPr>
            </a:lvl4pPr>
            <a:lvl5pPr indent="-368300" lvl="4" marL="2286000" algn="ctr">
              <a:spcBef>
                <a:spcPts val="0"/>
              </a:spcBef>
              <a:spcAft>
                <a:spcPts val="0"/>
              </a:spcAft>
              <a:buClr>
                <a:schemeClr val="lt1"/>
              </a:buClr>
              <a:buSzPts val="2200"/>
              <a:buChar char="○"/>
              <a:defRPr>
                <a:solidFill>
                  <a:schemeClr val="lt1"/>
                </a:solidFill>
              </a:defRPr>
            </a:lvl5pPr>
            <a:lvl6pPr indent="-368300" lvl="5" marL="2743200" algn="ctr">
              <a:spcBef>
                <a:spcPts val="0"/>
              </a:spcBef>
              <a:spcAft>
                <a:spcPts val="0"/>
              </a:spcAft>
              <a:buClr>
                <a:schemeClr val="lt1"/>
              </a:buClr>
              <a:buSzPts val="2200"/>
              <a:buChar char="■"/>
              <a:defRPr>
                <a:solidFill>
                  <a:schemeClr val="lt1"/>
                </a:solidFill>
              </a:defRPr>
            </a:lvl6pPr>
            <a:lvl7pPr indent="-368300" lvl="6" marL="3200400" algn="ctr">
              <a:spcBef>
                <a:spcPts val="0"/>
              </a:spcBef>
              <a:spcAft>
                <a:spcPts val="0"/>
              </a:spcAft>
              <a:buClr>
                <a:schemeClr val="lt1"/>
              </a:buClr>
              <a:buSzPts val="2200"/>
              <a:buChar char="●"/>
              <a:defRPr>
                <a:solidFill>
                  <a:schemeClr val="lt1"/>
                </a:solidFill>
              </a:defRPr>
            </a:lvl7pPr>
            <a:lvl8pPr indent="-368300" lvl="7" marL="3657600" algn="ctr">
              <a:spcBef>
                <a:spcPts val="0"/>
              </a:spcBef>
              <a:spcAft>
                <a:spcPts val="0"/>
              </a:spcAft>
              <a:buClr>
                <a:schemeClr val="lt1"/>
              </a:buClr>
              <a:buSzPts val="2200"/>
              <a:buChar char="○"/>
              <a:defRPr>
                <a:solidFill>
                  <a:schemeClr val="lt1"/>
                </a:solidFill>
              </a:defRPr>
            </a:lvl8pPr>
            <a:lvl9pPr indent="-368300" lvl="8" marL="4114800" algn="ctr">
              <a:spcBef>
                <a:spcPts val="0"/>
              </a:spcBef>
              <a:spcAft>
                <a:spcPts val="0"/>
              </a:spcAft>
              <a:buClr>
                <a:schemeClr val="lt1"/>
              </a:buClr>
              <a:buSzPts val="2200"/>
              <a:buChar char="■"/>
              <a:defRPr>
                <a:solidFill>
                  <a:schemeClr val="lt1"/>
                </a:solidFill>
              </a:defRPr>
            </a:lvl9pPr>
          </a:lstStyle>
          <a:p/>
        </p:txBody>
      </p:sp>
      <p:sp>
        <p:nvSpPr>
          <p:cNvPr id="274" name="Google Shape;274;g3da8f2e7afe_0_478"/>
          <p:cNvSpPr txBox="1"/>
          <p:nvPr>
            <p:ph idx="12" type="sldNum"/>
          </p:nvPr>
        </p:nvSpPr>
        <p:spPr>
          <a:xfrm>
            <a:off x="16902092" y="9473952"/>
            <a:ext cx="1097400" cy="787200"/>
          </a:xfrm>
          <a:prstGeom prst="rect">
            <a:avLst/>
          </a:prstGeom>
        </p:spPr>
        <p:txBody>
          <a:bodyPr anchorCtr="0" anchor="ctr" bIns="182850" lIns="182850" spcFirstLastPara="1" rIns="182850" wrap="square" tIns="18285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75" name="Shape 275"/>
        <p:cNvGrpSpPr/>
        <p:nvPr/>
      </p:nvGrpSpPr>
      <p:grpSpPr>
        <a:xfrm>
          <a:off x="0" y="0"/>
          <a:ext cx="0" cy="0"/>
          <a:chOff x="0" y="0"/>
          <a:chExt cx="0" cy="0"/>
        </a:xfrm>
      </p:grpSpPr>
      <p:sp>
        <p:nvSpPr>
          <p:cNvPr id="276" name="Google Shape;276;g3da8f2e7afe_0_608"/>
          <p:cNvSpPr txBox="1"/>
          <p:nvPr>
            <p:ph idx="12" type="sldNum"/>
          </p:nvPr>
        </p:nvSpPr>
        <p:spPr>
          <a:xfrm>
            <a:off x="16902092" y="9473952"/>
            <a:ext cx="1097400" cy="787200"/>
          </a:xfrm>
          <a:prstGeom prst="rect">
            <a:avLst/>
          </a:prstGeom>
        </p:spPr>
        <p:txBody>
          <a:bodyPr anchorCtr="0" anchor="ctr" bIns="182850" lIns="182850" spcFirstLastPara="1" rIns="182850" wrap="square" tIns="18285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277" name="Shape 277"/>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1.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momentum">
    <p:bg>
      <p:bgPr>
        <a:solidFill>
          <a:schemeClr val="lt1"/>
        </a:solidFill>
      </p:bgPr>
    </p:bg>
    <p:spTree>
      <p:nvGrpSpPr>
        <p:cNvPr id="9" name="Shape 9"/>
        <p:cNvGrpSpPr/>
        <p:nvPr/>
      </p:nvGrpSpPr>
      <p:grpSpPr>
        <a:xfrm>
          <a:off x="0" y="0"/>
          <a:ext cx="0" cy="0"/>
          <a:chOff x="0" y="0"/>
          <a:chExt cx="0" cy="0"/>
        </a:xfrm>
      </p:grpSpPr>
      <p:sp>
        <p:nvSpPr>
          <p:cNvPr id="10" name="Google Shape;10;g3da8f2e7afe_0_342"/>
          <p:cNvSpPr txBox="1"/>
          <p:nvPr>
            <p:ph type="title"/>
          </p:nvPr>
        </p:nvSpPr>
        <p:spPr>
          <a:xfrm>
            <a:off x="623400" y="890050"/>
            <a:ext cx="17041200" cy="1145400"/>
          </a:xfrm>
          <a:prstGeom prst="rect">
            <a:avLst/>
          </a:prstGeom>
          <a:noFill/>
          <a:ln>
            <a:noFill/>
          </a:ln>
        </p:spPr>
        <p:txBody>
          <a:bodyPr anchorCtr="0" anchor="t" bIns="182850" lIns="182850" spcFirstLastPara="1" rIns="182850" wrap="square" tIns="182850">
            <a:normAutofit/>
          </a:bodyPr>
          <a:lstStyle>
            <a:lvl1pPr lvl="0">
              <a:spcBef>
                <a:spcPts val="0"/>
              </a:spcBef>
              <a:spcAft>
                <a:spcPts val="0"/>
              </a:spcAft>
              <a:buClr>
                <a:schemeClr val="dk2"/>
              </a:buClr>
              <a:buSzPts val="5600"/>
              <a:buFont typeface="Maven Pro"/>
              <a:buNone/>
              <a:defRPr b="1" sz="5600">
                <a:solidFill>
                  <a:schemeClr val="dk2"/>
                </a:solidFill>
                <a:latin typeface="Maven Pro"/>
                <a:ea typeface="Maven Pro"/>
                <a:cs typeface="Maven Pro"/>
                <a:sym typeface="Maven Pro"/>
              </a:defRPr>
            </a:lvl1pPr>
            <a:lvl2pPr lvl="1">
              <a:spcBef>
                <a:spcPts val="0"/>
              </a:spcBef>
              <a:spcAft>
                <a:spcPts val="0"/>
              </a:spcAft>
              <a:buClr>
                <a:schemeClr val="dk2"/>
              </a:buClr>
              <a:buSzPts val="5600"/>
              <a:buFont typeface="Maven Pro"/>
              <a:buNone/>
              <a:defRPr b="1" sz="5600">
                <a:solidFill>
                  <a:schemeClr val="dk2"/>
                </a:solidFill>
                <a:latin typeface="Maven Pro"/>
                <a:ea typeface="Maven Pro"/>
                <a:cs typeface="Maven Pro"/>
                <a:sym typeface="Maven Pro"/>
              </a:defRPr>
            </a:lvl2pPr>
            <a:lvl3pPr lvl="2">
              <a:spcBef>
                <a:spcPts val="0"/>
              </a:spcBef>
              <a:spcAft>
                <a:spcPts val="0"/>
              </a:spcAft>
              <a:buClr>
                <a:schemeClr val="dk2"/>
              </a:buClr>
              <a:buSzPts val="5600"/>
              <a:buFont typeface="Maven Pro"/>
              <a:buNone/>
              <a:defRPr b="1" sz="5600">
                <a:solidFill>
                  <a:schemeClr val="dk2"/>
                </a:solidFill>
                <a:latin typeface="Maven Pro"/>
                <a:ea typeface="Maven Pro"/>
                <a:cs typeface="Maven Pro"/>
                <a:sym typeface="Maven Pro"/>
              </a:defRPr>
            </a:lvl3pPr>
            <a:lvl4pPr lvl="3">
              <a:spcBef>
                <a:spcPts val="0"/>
              </a:spcBef>
              <a:spcAft>
                <a:spcPts val="0"/>
              </a:spcAft>
              <a:buClr>
                <a:schemeClr val="dk2"/>
              </a:buClr>
              <a:buSzPts val="5600"/>
              <a:buFont typeface="Maven Pro"/>
              <a:buNone/>
              <a:defRPr b="1" sz="5600">
                <a:solidFill>
                  <a:schemeClr val="dk2"/>
                </a:solidFill>
                <a:latin typeface="Maven Pro"/>
                <a:ea typeface="Maven Pro"/>
                <a:cs typeface="Maven Pro"/>
                <a:sym typeface="Maven Pro"/>
              </a:defRPr>
            </a:lvl4pPr>
            <a:lvl5pPr lvl="4">
              <a:spcBef>
                <a:spcPts val="0"/>
              </a:spcBef>
              <a:spcAft>
                <a:spcPts val="0"/>
              </a:spcAft>
              <a:buClr>
                <a:schemeClr val="dk2"/>
              </a:buClr>
              <a:buSzPts val="5600"/>
              <a:buFont typeface="Maven Pro"/>
              <a:buNone/>
              <a:defRPr b="1" sz="5600">
                <a:solidFill>
                  <a:schemeClr val="dk2"/>
                </a:solidFill>
                <a:latin typeface="Maven Pro"/>
                <a:ea typeface="Maven Pro"/>
                <a:cs typeface="Maven Pro"/>
                <a:sym typeface="Maven Pro"/>
              </a:defRPr>
            </a:lvl5pPr>
            <a:lvl6pPr lvl="5">
              <a:spcBef>
                <a:spcPts val="0"/>
              </a:spcBef>
              <a:spcAft>
                <a:spcPts val="0"/>
              </a:spcAft>
              <a:buClr>
                <a:schemeClr val="dk2"/>
              </a:buClr>
              <a:buSzPts val="5600"/>
              <a:buFont typeface="Maven Pro"/>
              <a:buNone/>
              <a:defRPr b="1" sz="5600">
                <a:solidFill>
                  <a:schemeClr val="dk2"/>
                </a:solidFill>
                <a:latin typeface="Maven Pro"/>
                <a:ea typeface="Maven Pro"/>
                <a:cs typeface="Maven Pro"/>
                <a:sym typeface="Maven Pro"/>
              </a:defRPr>
            </a:lvl6pPr>
            <a:lvl7pPr lvl="6">
              <a:spcBef>
                <a:spcPts val="0"/>
              </a:spcBef>
              <a:spcAft>
                <a:spcPts val="0"/>
              </a:spcAft>
              <a:buClr>
                <a:schemeClr val="dk2"/>
              </a:buClr>
              <a:buSzPts val="5600"/>
              <a:buFont typeface="Maven Pro"/>
              <a:buNone/>
              <a:defRPr b="1" sz="5600">
                <a:solidFill>
                  <a:schemeClr val="dk2"/>
                </a:solidFill>
                <a:latin typeface="Maven Pro"/>
                <a:ea typeface="Maven Pro"/>
                <a:cs typeface="Maven Pro"/>
                <a:sym typeface="Maven Pro"/>
              </a:defRPr>
            </a:lvl7pPr>
            <a:lvl8pPr lvl="7">
              <a:spcBef>
                <a:spcPts val="0"/>
              </a:spcBef>
              <a:spcAft>
                <a:spcPts val="0"/>
              </a:spcAft>
              <a:buClr>
                <a:schemeClr val="dk2"/>
              </a:buClr>
              <a:buSzPts val="5600"/>
              <a:buFont typeface="Maven Pro"/>
              <a:buNone/>
              <a:defRPr b="1" sz="5600">
                <a:solidFill>
                  <a:schemeClr val="dk2"/>
                </a:solidFill>
                <a:latin typeface="Maven Pro"/>
                <a:ea typeface="Maven Pro"/>
                <a:cs typeface="Maven Pro"/>
                <a:sym typeface="Maven Pro"/>
              </a:defRPr>
            </a:lvl8pPr>
            <a:lvl9pPr lvl="8">
              <a:spcBef>
                <a:spcPts val="0"/>
              </a:spcBef>
              <a:spcAft>
                <a:spcPts val="0"/>
              </a:spcAft>
              <a:buClr>
                <a:schemeClr val="dk2"/>
              </a:buClr>
              <a:buSzPts val="5600"/>
              <a:buFont typeface="Maven Pro"/>
              <a:buNone/>
              <a:defRPr b="1" sz="5600">
                <a:solidFill>
                  <a:schemeClr val="dk2"/>
                </a:solidFill>
                <a:latin typeface="Maven Pro"/>
                <a:ea typeface="Maven Pro"/>
                <a:cs typeface="Maven Pro"/>
                <a:sym typeface="Maven Pro"/>
              </a:defRPr>
            </a:lvl9pPr>
          </a:lstStyle>
          <a:p/>
        </p:txBody>
      </p:sp>
      <p:sp>
        <p:nvSpPr>
          <p:cNvPr id="11" name="Google Shape;11;g3da8f2e7afe_0_342"/>
          <p:cNvSpPr txBox="1"/>
          <p:nvPr>
            <p:ph idx="1" type="body"/>
          </p:nvPr>
        </p:nvSpPr>
        <p:spPr>
          <a:xfrm>
            <a:off x="623400" y="2304950"/>
            <a:ext cx="17041200" cy="6832800"/>
          </a:xfrm>
          <a:prstGeom prst="rect">
            <a:avLst/>
          </a:prstGeom>
          <a:noFill/>
          <a:ln>
            <a:noFill/>
          </a:ln>
        </p:spPr>
        <p:txBody>
          <a:bodyPr anchorCtr="0" anchor="t" bIns="182850" lIns="182850" spcFirstLastPara="1" rIns="182850" wrap="square" tIns="182850">
            <a:normAutofit/>
          </a:bodyPr>
          <a:lstStyle>
            <a:lvl1pPr indent="-393700" lvl="0" marL="457200">
              <a:lnSpc>
                <a:spcPct val="115000"/>
              </a:lnSpc>
              <a:spcBef>
                <a:spcPts val="0"/>
              </a:spcBef>
              <a:spcAft>
                <a:spcPts val="0"/>
              </a:spcAft>
              <a:buClr>
                <a:schemeClr val="dk2"/>
              </a:buClr>
              <a:buSzPts val="2600"/>
              <a:buFont typeface="Nunito"/>
              <a:buChar char="●"/>
              <a:defRPr sz="2600">
                <a:solidFill>
                  <a:schemeClr val="dk2"/>
                </a:solidFill>
                <a:latin typeface="Nunito"/>
                <a:ea typeface="Nunito"/>
                <a:cs typeface="Nunito"/>
                <a:sym typeface="Nunito"/>
              </a:defRPr>
            </a:lvl1pPr>
            <a:lvl2pPr indent="-368300" lvl="1" marL="914400">
              <a:lnSpc>
                <a:spcPct val="115000"/>
              </a:lnSpc>
              <a:spcBef>
                <a:spcPts val="0"/>
              </a:spcBef>
              <a:spcAft>
                <a:spcPts val="0"/>
              </a:spcAft>
              <a:buClr>
                <a:schemeClr val="dk2"/>
              </a:buClr>
              <a:buSzPts val="2200"/>
              <a:buFont typeface="Nunito"/>
              <a:buChar char="○"/>
              <a:defRPr sz="2200">
                <a:solidFill>
                  <a:schemeClr val="dk2"/>
                </a:solidFill>
                <a:latin typeface="Nunito"/>
                <a:ea typeface="Nunito"/>
                <a:cs typeface="Nunito"/>
                <a:sym typeface="Nunito"/>
              </a:defRPr>
            </a:lvl2pPr>
            <a:lvl3pPr indent="-368300" lvl="2" marL="1371600">
              <a:lnSpc>
                <a:spcPct val="115000"/>
              </a:lnSpc>
              <a:spcBef>
                <a:spcPts val="0"/>
              </a:spcBef>
              <a:spcAft>
                <a:spcPts val="0"/>
              </a:spcAft>
              <a:buClr>
                <a:schemeClr val="dk2"/>
              </a:buClr>
              <a:buSzPts val="2200"/>
              <a:buFont typeface="Nunito"/>
              <a:buChar char="■"/>
              <a:defRPr sz="2200">
                <a:solidFill>
                  <a:schemeClr val="dk2"/>
                </a:solidFill>
                <a:latin typeface="Nunito"/>
                <a:ea typeface="Nunito"/>
                <a:cs typeface="Nunito"/>
                <a:sym typeface="Nunito"/>
              </a:defRPr>
            </a:lvl3pPr>
            <a:lvl4pPr indent="-368300" lvl="3" marL="1828800">
              <a:lnSpc>
                <a:spcPct val="115000"/>
              </a:lnSpc>
              <a:spcBef>
                <a:spcPts val="0"/>
              </a:spcBef>
              <a:spcAft>
                <a:spcPts val="0"/>
              </a:spcAft>
              <a:buClr>
                <a:schemeClr val="dk2"/>
              </a:buClr>
              <a:buSzPts val="2200"/>
              <a:buFont typeface="Nunito"/>
              <a:buChar char="●"/>
              <a:defRPr sz="2200">
                <a:solidFill>
                  <a:schemeClr val="dk2"/>
                </a:solidFill>
                <a:latin typeface="Nunito"/>
                <a:ea typeface="Nunito"/>
                <a:cs typeface="Nunito"/>
                <a:sym typeface="Nunito"/>
              </a:defRPr>
            </a:lvl4pPr>
            <a:lvl5pPr indent="-368300" lvl="4" marL="2286000">
              <a:lnSpc>
                <a:spcPct val="115000"/>
              </a:lnSpc>
              <a:spcBef>
                <a:spcPts val="0"/>
              </a:spcBef>
              <a:spcAft>
                <a:spcPts val="0"/>
              </a:spcAft>
              <a:buClr>
                <a:schemeClr val="dk2"/>
              </a:buClr>
              <a:buSzPts val="2200"/>
              <a:buFont typeface="Nunito"/>
              <a:buChar char="○"/>
              <a:defRPr sz="2200">
                <a:solidFill>
                  <a:schemeClr val="dk2"/>
                </a:solidFill>
                <a:latin typeface="Nunito"/>
                <a:ea typeface="Nunito"/>
                <a:cs typeface="Nunito"/>
                <a:sym typeface="Nunito"/>
              </a:defRPr>
            </a:lvl5pPr>
            <a:lvl6pPr indent="-368300" lvl="5" marL="2743200">
              <a:lnSpc>
                <a:spcPct val="115000"/>
              </a:lnSpc>
              <a:spcBef>
                <a:spcPts val="0"/>
              </a:spcBef>
              <a:spcAft>
                <a:spcPts val="0"/>
              </a:spcAft>
              <a:buClr>
                <a:schemeClr val="dk2"/>
              </a:buClr>
              <a:buSzPts val="2200"/>
              <a:buFont typeface="Nunito"/>
              <a:buChar char="■"/>
              <a:defRPr sz="2200">
                <a:solidFill>
                  <a:schemeClr val="dk2"/>
                </a:solidFill>
                <a:latin typeface="Nunito"/>
                <a:ea typeface="Nunito"/>
                <a:cs typeface="Nunito"/>
                <a:sym typeface="Nunito"/>
              </a:defRPr>
            </a:lvl6pPr>
            <a:lvl7pPr indent="-368300" lvl="6" marL="3200400">
              <a:lnSpc>
                <a:spcPct val="115000"/>
              </a:lnSpc>
              <a:spcBef>
                <a:spcPts val="0"/>
              </a:spcBef>
              <a:spcAft>
                <a:spcPts val="0"/>
              </a:spcAft>
              <a:buClr>
                <a:schemeClr val="dk2"/>
              </a:buClr>
              <a:buSzPts val="2200"/>
              <a:buFont typeface="Nunito"/>
              <a:buChar char="●"/>
              <a:defRPr sz="2200">
                <a:solidFill>
                  <a:schemeClr val="dk2"/>
                </a:solidFill>
                <a:latin typeface="Nunito"/>
                <a:ea typeface="Nunito"/>
                <a:cs typeface="Nunito"/>
                <a:sym typeface="Nunito"/>
              </a:defRPr>
            </a:lvl7pPr>
            <a:lvl8pPr indent="-368300" lvl="7" marL="3657600">
              <a:lnSpc>
                <a:spcPct val="115000"/>
              </a:lnSpc>
              <a:spcBef>
                <a:spcPts val="0"/>
              </a:spcBef>
              <a:spcAft>
                <a:spcPts val="0"/>
              </a:spcAft>
              <a:buClr>
                <a:schemeClr val="dk2"/>
              </a:buClr>
              <a:buSzPts val="2200"/>
              <a:buFont typeface="Nunito"/>
              <a:buChar char="○"/>
              <a:defRPr sz="2200">
                <a:solidFill>
                  <a:schemeClr val="dk2"/>
                </a:solidFill>
                <a:latin typeface="Nunito"/>
                <a:ea typeface="Nunito"/>
                <a:cs typeface="Nunito"/>
                <a:sym typeface="Nunito"/>
              </a:defRPr>
            </a:lvl8pPr>
            <a:lvl9pPr indent="-368300" lvl="8" marL="4114800">
              <a:lnSpc>
                <a:spcPct val="115000"/>
              </a:lnSpc>
              <a:spcBef>
                <a:spcPts val="0"/>
              </a:spcBef>
              <a:spcAft>
                <a:spcPts val="0"/>
              </a:spcAft>
              <a:buClr>
                <a:schemeClr val="dk2"/>
              </a:buClr>
              <a:buSzPts val="2200"/>
              <a:buFont typeface="Nunito"/>
              <a:buChar char="■"/>
              <a:defRPr sz="2200">
                <a:solidFill>
                  <a:schemeClr val="dk2"/>
                </a:solidFill>
                <a:latin typeface="Nunito"/>
                <a:ea typeface="Nunito"/>
                <a:cs typeface="Nunito"/>
                <a:sym typeface="Nunito"/>
              </a:defRPr>
            </a:lvl9pPr>
          </a:lstStyle>
          <a:p/>
        </p:txBody>
      </p:sp>
      <p:sp>
        <p:nvSpPr>
          <p:cNvPr id="12" name="Google Shape;12;g3da8f2e7afe_0_342"/>
          <p:cNvSpPr txBox="1"/>
          <p:nvPr>
            <p:ph idx="12" type="sldNum"/>
          </p:nvPr>
        </p:nvSpPr>
        <p:spPr>
          <a:xfrm>
            <a:off x="16902092" y="9473952"/>
            <a:ext cx="1097400" cy="787200"/>
          </a:xfrm>
          <a:prstGeom prst="rect">
            <a:avLst/>
          </a:prstGeom>
          <a:noFill/>
          <a:ln>
            <a:noFill/>
          </a:ln>
        </p:spPr>
        <p:txBody>
          <a:bodyPr anchorCtr="0" anchor="ctr" bIns="182850" lIns="182850" spcFirstLastPara="1" rIns="182850" wrap="square" tIns="182850">
            <a:normAutofit/>
          </a:bodyPr>
          <a:lstStyle>
            <a:lvl1pPr lvl="0" algn="r">
              <a:buNone/>
              <a:defRPr sz="1800">
                <a:solidFill>
                  <a:schemeClr val="dk2"/>
                </a:solidFill>
                <a:latin typeface="Nunito"/>
                <a:ea typeface="Nunito"/>
                <a:cs typeface="Nunito"/>
                <a:sym typeface="Nunito"/>
              </a:defRPr>
            </a:lvl1pPr>
            <a:lvl2pPr lvl="1" algn="r">
              <a:buNone/>
              <a:defRPr sz="1800">
                <a:solidFill>
                  <a:schemeClr val="dk2"/>
                </a:solidFill>
                <a:latin typeface="Nunito"/>
                <a:ea typeface="Nunito"/>
                <a:cs typeface="Nunito"/>
                <a:sym typeface="Nunito"/>
              </a:defRPr>
            </a:lvl2pPr>
            <a:lvl3pPr lvl="2" algn="r">
              <a:buNone/>
              <a:defRPr sz="1800">
                <a:solidFill>
                  <a:schemeClr val="dk2"/>
                </a:solidFill>
                <a:latin typeface="Nunito"/>
                <a:ea typeface="Nunito"/>
                <a:cs typeface="Nunito"/>
                <a:sym typeface="Nunito"/>
              </a:defRPr>
            </a:lvl3pPr>
            <a:lvl4pPr lvl="3" algn="r">
              <a:buNone/>
              <a:defRPr sz="1800">
                <a:solidFill>
                  <a:schemeClr val="dk2"/>
                </a:solidFill>
                <a:latin typeface="Nunito"/>
                <a:ea typeface="Nunito"/>
                <a:cs typeface="Nunito"/>
                <a:sym typeface="Nunito"/>
              </a:defRPr>
            </a:lvl4pPr>
            <a:lvl5pPr lvl="4" algn="r">
              <a:buNone/>
              <a:defRPr sz="1800">
                <a:solidFill>
                  <a:schemeClr val="dk2"/>
                </a:solidFill>
                <a:latin typeface="Nunito"/>
                <a:ea typeface="Nunito"/>
                <a:cs typeface="Nunito"/>
                <a:sym typeface="Nunito"/>
              </a:defRPr>
            </a:lvl5pPr>
            <a:lvl6pPr lvl="5" algn="r">
              <a:buNone/>
              <a:defRPr sz="1800">
                <a:solidFill>
                  <a:schemeClr val="dk2"/>
                </a:solidFill>
                <a:latin typeface="Nunito"/>
                <a:ea typeface="Nunito"/>
                <a:cs typeface="Nunito"/>
                <a:sym typeface="Nunito"/>
              </a:defRPr>
            </a:lvl6pPr>
            <a:lvl7pPr lvl="6" algn="r">
              <a:buNone/>
              <a:defRPr sz="1800">
                <a:solidFill>
                  <a:schemeClr val="dk2"/>
                </a:solidFill>
                <a:latin typeface="Nunito"/>
                <a:ea typeface="Nunito"/>
                <a:cs typeface="Nunito"/>
                <a:sym typeface="Nunito"/>
              </a:defRPr>
            </a:lvl7pPr>
            <a:lvl8pPr lvl="7" algn="r">
              <a:buNone/>
              <a:defRPr sz="1800">
                <a:solidFill>
                  <a:schemeClr val="dk2"/>
                </a:solidFill>
                <a:latin typeface="Nunito"/>
                <a:ea typeface="Nunito"/>
                <a:cs typeface="Nunito"/>
                <a:sym typeface="Nunito"/>
              </a:defRPr>
            </a:lvl8pPr>
            <a:lvl9pPr lvl="8" algn="r">
              <a:buNone/>
              <a:defRPr sz="1800">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7.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2" name="Shape 282"/>
        <p:cNvGrpSpPr/>
        <p:nvPr/>
      </p:nvGrpSpPr>
      <p:grpSpPr>
        <a:xfrm>
          <a:off x="0" y="0"/>
          <a:ext cx="0" cy="0"/>
          <a:chOff x="0" y="0"/>
          <a:chExt cx="0" cy="0"/>
        </a:xfrm>
      </p:grpSpPr>
      <p:sp>
        <p:nvSpPr>
          <p:cNvPr id="283" name="Google Shape;283;p1"/>
          <p:cNvSpPr/>
          <p:nvPr/>
        </p:nvSpPr>
        <p:spPr>
          <a:xfrm>
            <a:off x="1047640" y="954305"/>
            <a:ext cx="16678500" cy="42480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555555"/>
              </a:buClr>
              <a:buSzPts val="2100"/>
              <a:buFont typeface="Georgia"/>
              <a:buNone/>
            </a:pPr>
            <a:r>
              <a:rPr b="0" i="1" lang="en-US" sz="2100" u="none" cap="none" strike="noStrike">
                <a:solidFill>
                  <a:srgbClr val="555555"/>
                </a:solidFill>
                <a:latin typeface="Georgia"/>
                <a:ea typeface="Georgia"/>
                <a:cs typeface="Georgia"/>
                <a:sym typeface="Georgia"/>
              </a:rPr>
              <a:t>CS 4824 </a:t>
            </a:r>
            <a:r>
              <a:rPr i="1" lang="en-US" sz="2100">
                <a:solidFill>
                  <a:srgbClr val="555555"/>
                </a:solidFill>
                <a:latin typeface="Georgia"/>
                <a:ea typeface="Georgia"/>
                <a:cs typeface="Georgia"/>
                <a:sym typeface="Georgia"/>
              </a:rPr>
              <a:t>|</a:t>
            </a:r>
            <a:r>
              <a:rPr b="0" i="1" lang="en-US" sz="2100" u="none" cap="none" strike="noStrike">
                <a:solidFill>
                  <a:srgbClr val="555555"/>
                </a:solidFill>
                <a:latin typeface="Georgia"/>
                <a:ea typeface="Georgia"/>
                <a:cs typeface="Georgia"/>
                <a:sym typeface="Georgia"/>
              </a:rPr>
              <a:t> Machine Learning </a:t>
            </a:r>
            <a:r>
              <a:rPr i="1" lang="en-US" sz="2100">
                <a:solidFill>
                  <a:srgbClr val="555555"/>
                </a:solidFill>
                <a:latin typeface="Georgia"/>
                <a:ea typeface="Georgia"/>
                <a:cs typeface="Georgia"/>
                <a:sym typeface="Georgia"/>
              </a:rPr>
              <a:t>|</a:t>
            </a:r>
            <a:r>
              <a:rPr b="0" i="1" lang="en-US" sz="2100" u="none" cap="none" strike="noStrike">
                <a:solidFill>
                  <a:srgbClr val="555555"/>
                </a:solidFill>
                <a:latin typeface="Georgia"/>
                <a:ea typeface="Georgia"/>
                <a:cs typeface="Georgia"/>
                <a:sym typeface="Georgia"/>
              </a:rPr>
              <a:t> Final Project</a:t>
            </a:r>
            <a:endParaRPr b="0" i="0" sz="2100" u="none" cap="none" strike="noStrike">
              <a:solidFill>
                <a:schemeClr val="dk1"/>
              </a:solidFill>
              <a:latin typeface="Calibri"/>
              <a:ea typeface="Calibri"/>
              <a:cs typeface="Calibri"/>
              <a:sym typeface="Calibri"/>
            </a:endParaRPr>
          </a:p>
        </p:txBody>
      </p:sp>
      <p:sp>
        <p:nvSpPr>
          <p:cNvPr id="284" name="Google Shape;284;p1"/>
          <p:cNvSpPr/>
          <p:nvPr/>
        </p:nvSpPr>
        <p:spPr>
          <a:xfrm>
            <a:off x="1047640" y="1950736"/>
            <a:ext cx="14715900" cy="1718100"/>
          </a:xfrm>
          <a:prstGeom prst="rect">
            <a:avLst/>
          </a:prstGeom>
          <a:noFill/>
          <a:ln>
            <a:noFill/>
          </a:ln>
        </p:spPr>
        <p:txBody>
          <a:bodyPr anchorCtr="0" anchor="t" bIns="25400" lIns="25400" spcFirstLastPara="1" rIns="25400" wrap="square" tIns="25400">
            <a:normAutofit/>
          </a:bodyPr>
          <a:lstStyle/>
          <a:p>
            <a:pPr indent="0" lvl="0" marL="0" marR="0" rtl="0" algn="l">
              <a:lnSpc>
                <a:spcPct val="105000"/>
              </a:lnSpc>
              <a:spcBef>
                <a:spcPts val="0"/>
              </a:spcBef>
              <a:spcAft>
                <a:spcPts val="0"/>
              </a:spcAft>
              <a:buClr>
                <a:srgbClr val="111111"/>
              </a:buClr>
              <a:buSzPts val="6300"/>
              <a:buFont typeface="Georgia"/>
              <a:buNone/>
            </a:pPr>
            <a:r>
              <a:rPr b="0" i="0" lang="en-US" sz="6300" u="none" cap="none" strike="noStrike">
                <a:solidFill>
                  <a:srgbClr val="111111"/>
                </a:solidFill>
                <a:latin typeface="Georgia"/>
                <a:ea typeface="Georgia"/>
                <a:cs typeface="Georgia"/>
                <a:sym typeface="Georgia"/>
              </a:rPr>
              <a:t>Poker Player Profiling: </a:t>
            </a:r>
            <a:br>
              <a:rPr b="0" i="0" lang="en-US" sz="6300" u="none" cap="none" strike="noStrike">
                <a:solidFill>
                  <a:srgbClr val="111111"/>
                </a:solidFill>
                <a:latin typeface="Georgia"/>
                <a:ea typeface="Georgia"/>
                <a:cs typeface="Georgia"/>
                <a:sym typeface="Georgia"/>
              </a:rPr>
            </a:br>
            <a:r>
              <a:rPr b="0" i="0" lang="en-US" sz="6300" u="none" cap="none" strike="noStrike">
                <a:solidFill>
                  <a:srgbClr val="111111"/>
                </a:solidFill>
                <a:latin typeface="Georgia"/>
                <a:ea typeface="Georgia"/>
                <a:cs typeface="Georgia"/>
                <a:sym typeface="Georgia"/>
              </a:rPr>
              <a:t>Heuristics vs. K-Means Clustering</a:t>
            </a:r>
            <a:endParaRPr b="0" i="0" sz="6300" u="none" cap="none" strike="noStrike">
              <a:solidFill>
                <a:schemeClr val="dk1"/>
              </a:solidFill>
              <a:latin typeface="Calibri"/>
              <a:ea typeface="Calibri"/>
              <a:cs typeface="Calibri"/>
              <a:sym typeface="Calibri"/>
            </a:endParaRPr>
          </a:p>
        </p:txBody>
      </p:sp>
      <p:sp>
        <p:nvSpPr>
          <p:cNvPr id="285" name="Google Shape;285;p1"/>
          <p:cNvSpPr/>
          <p:nvPr/>
        </p:nvSpPr>
        <p:spPr>
          <a:xfrm>
            <a:off x="1047640" y="4135906"/>
            <a:ext cx="16678500" cy="50760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333333"/>
              </a:buClr>
              <a:buSzPts val="2550"/>
              <a:buFont typeface="Georgia"/>
              <a:buNone/>
            </a:pPr>
            <a:r>
              <a:rPr b="0" i="1" lang="en-US" sz="2550" u="none" cap="none" strike="noStrike">
                <a:solidFill>
                  <a:srgbClr val="333333"/>
                </a:solidFill>
                <a:latin typeface="Georgia"/>
                <a:ea typeface="Georgia"/>
                <a:cs typeface="Georgia"/>
                <a:sym typeface="Georgia"/>
              </a:rPr>
              <a:t>Grouping Texas Hold'em players by how they bet.</a:t>
            </a:r>
            <a:endParaRPr b="0" i="0" sz="2550" u="none" cap="none" strike="noStrike">
              <a:solidFill>
                <a:schemeClr val="dk1"/>
              </a:solidFill>
              <a:latin typeface="Calibri"/>
              <a:ea typeface="Calibri"/>
              <a:cs typeface="Calibri"/>
              <a:sym typeface="Calibri"/>
            </a:endParaRPr>
          </a:p>
        </p:txBody>
      </p:sp>
      <p:sp>
        <p:nvSpPr>
          <p:cNvPr id="286" name="Google Shape;286;p1"/>
          <p:cNvSpPr/>
          <p:nvPr/>
        </p:nvSpPr>
        <p:spPr>
          <a:xfrm>
            <a:off x="1047640" y="5110578"/>
            <a:ext cx="16678500" cy="42480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100"/>
              <a:buFont typeface="Georgia"/>
              <a:buNone/>
            </a:pPr>
            <a:r>
              <a:rPr b="0" i="0" lang="en-US" sz="2100" u="none" cap="none" strike="noStrike">
                <a:solidFill>
                  <a:srgbClr val="111111"/>
                </a:solidFill>
                <a:latin typeface="Georgia"/>
                <a:ea typeface="Georgia"/>
                <a:cs typeface="Georgia"/>
                <a:sym typeface="Georgia"/>
              </a:rPr>
              <a:t>Lakshya J. </a:t>
            </a:r>
            <a:r>
              <a:rPr lang="en-US" sz="2100">
                <a:solidFill>
                  <a:srgbClr val="111111"/>
                </a:solidFill>
                <a:latin typeface="Georgia"/>
                <a:ea typeface="Georgia"/>
                <a:cs typeface="Georgia"/>
                <a:sym typeface="Georgia"/>
              </a:rPr>
              <a:t>|</a:t>
            </a:r>
            <a:r>
              <a:rPr b="0" i="0" lang="en-US" sz="2100" u="none" cap="none" strike="noStrike">
                <a:solidFill>
                  <a:srgbClr val="111111"/>
                </a:solidFill>
                <a:latin typeface="Georgia"/>
                <a:ea typeface="Georgia"/>
                <a:cs typeface="Georgia"/>
                <a:sym typeface="Georgia"/>
              </a:rPr>
              <a:t> Aryan S. </a:t>
            </a:r>
            <a:r>
              <a:rPr lang="en-US" sz="2100">
                <a:solidFill>
                  <a:srgbClr val="111111"/>
                </a:solidFill>
                <a:latin typeface="Georgia"/>
                <a:ea typeface="Georgia"/>
                <a:cs typeface="Georgia"/>
                <a:sym typeface="Georgia"/>
              </a:rPr>
              <a:t>|</a:t>
            </a:r>
            <a:r>
              <a:rPr b="0" i="0" lang="en-US" sz="2100" u="none" cap="none" strike="noStrike">
                <a:solidFill>
                  <a:srgbClr val="111111"/>
                </a:solidFill>
                <a:latin typeface="Georgia"/>
                <a:ea typeface="Georgia"/>
                <a:cs typeface="Georgia"/>
                <a:sym typeface="Georgia"/>
              </a:rPr>
              <a:t> Shreya A. </a:t>
            </a:r>
            <a:r>
              <a:rPr lang="en-US" sz="2100">
                <a:solidFill>
                  <a:srgbClr val="111111"/>
                </a:solidFill>
                <a:latin typeface="Georgia"/>
                <a:ea typeface="Georgia"/>
                <a:cs typeface="Georgia"/>
                <a:sym typeface="Georgia"/>
              </a:rPr>
              <a:t>|</a:t>
            </a:r>
            <a:r>
              <a:rPr b="0" i="0" lang="en-US" sz="2100" u="none" cap="none" strike="noStrike">
                <a:solidFill>
                  <a:srgbClr val="111111"/>
                </a:solidFill>
                <a:latin typeface="Georgia"/>
                <a:ea typeface="Georgia"/>
                <a:cs typeface="Georgia"/>
                <a:sym typeface="Georgia"/>
              </a:rPr>
              <a:t> Claire S.</a:t>
            </a:r>
            <a:endParaRPr b="0" i="0" sz="2100" u="none" cap="none" strike="noStrike">
              <a:solidFill>
                <a:schemeClr val="dk1"/>
              </a:solidFill>
              <a:latin typeface="Calibri"/>
              <a:ea typeface="Calibri"/>
              <a:cs typeface="Calibri"/>
              <a:sym typeface="Calibri"/>
            </a:endParaRPr>
          </a:p>
        </p:txBody>
      </p:sp>
      <p:sp>
        <p:nvSpPr>
          <p:cNvPr id="287" name="Google Shape;287;p1"/>
          <p:cNvSpPr/>
          <p:nvPr/>
        </p:nvSpPr>
        <p:spPr>
          <a:xfrm>
            <a:off x="1047640" y="9491267"/>
            <a:ext cx="16192613"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88" name="Google Shape;288;p1"/>
          <p:cNvPicPr preferRelativeResize="0"/>
          <p:nvPr/>
        </p:nvPicPr>
        <p:blipFill>
          <a:blip r:embed="rId3">
            <a:alphaModFix/>
          </a:blip>
          <a:stretch>
            <a:fillRect/>
          </a:stretch>
        </p:blipFill>
        <p:spPr>
          <a:xfrm>
            <a:off x="11763625" y="5535366"/>
            <a:ext cx="5476635" cy="3651090"/>
          </a:xfrm>
          <a:prstGeom prst="rect">
            <a:avLst/>
          </a:prstGeom>
          <a:noFill/>
          <a:ln>
            <a:noFill/>
          </a:ln>
        </p:spPr>
      </p:pic>
      <p:pic>
        <p:nvPicPr>
          <p:cNvPr id="289" name="Google Shape;289;p1"/>
          <p:cNvPicPr preferRelativeResize="0"/>
          <p:nvPr/>
        </p:nvPicPr>
        <p:blipFill>
          <a:blip r:embed="rId4">
            <a:alphaModFix/>
          </a:blip>
          <a:stretch>
            <a:fillRect/>
          </a:stretch>
        </p:blipFill>
        <p:spPr>
          <a:xfrm>
            <a:off x="16849850" y="376175"/>
            <a:ext cx="1119925" cy="12599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4" name="Shape 294"/>
        <p:cNvGrpSpPr/>
        <p:nvPr/>
      </p:nvGrpSpPr>
      <p:grpSpPr>
        <a:xfrm>
          <a:off x="0" y="0"/>
          <a:ext cx="0" cy="0"/>
          <a:chOff x="0" y="0"/>
          <a:chExt cx="0" cy="0"/>
        </a:xfrm>
      </p:grpSpPr>
      <p:pic>
        <p:nvPicPr>
          <p:cNvPr id="295" name="Google Shape;295;p2"/>
          <p:cNvPicPr preferRelativeResize="0"/>
          <p:nvPr/>
        </p:nvPicPr>
        <p:blipFill>
          <a:blip r:embed="rId3">
            <a:alphaModFix/>
          </a:blip>
          <a:stretch>
            <a:fillRect/>
          </a:stretch>
        </p:blipFill>
        <p:spPr>
          <a:xfrm>
            <a:off x="16778877" y="375188"/>
            <a:ext cx="1261872" cy="1261872"/>
          </a:xfrm>
          <a:prstGeom prst="rect">
            <a:avLst/>
          </a:prstGeom>
          <a:noFill/>
          <a:ln>
            <a:noFill/>
          </a:ln>
        </p:spPr>
      </p:pic>
      <p:sp>
        <p:nvSpPr>
          <p:cNvPr id="296" name="Google Shape;296;p2"/>
          <p:cNvSpPr/>
          <p:nvPr/>
        </p:nvSpPr>
        <p:spPr>
          <a:xfrm>
            <a:off x="1047640" y="761890"/>
            <a:ext cx="16678391" cy="563849"/>
          </a:xfrm>
          <a:prstGeom prst="rect">
            <a:avLst/>
          </a:prstGeom>
          <a:noFill/>
          <a:ln>
            <a:noFill/>
          </a:ln>
        </p:spPr>
        <p:txBody>
          <a:bodyPr anchorCtr="0" anchor="t" bIns="25400" lIns="25400" spcFirstLastPara="1" rIns="25400" wrap="square" tIns="25400">
            <a:normAutofit/>
          </a:bodyPr>
          <a:lstStyle/>
          <a:p>
            <a:pPr indent="0" lvl="0" marL="0" marR="0" rtl="0" algn="l">
              <a:lnSpc>
                <a:spcPct val="115000"/>
              </a:lnSpc>
              <a:spcBef>
                <a:spcPts val="0"/>
              </a:spcBef>
              <a:spcAft>
                <a:spcPts val="0"/>
              </a:spcAft>
              <a:buClr>
                <a:srgbClr val="111111"/>
              </a:buClr>
              <a:buSzPts val="3600"/>
              <a:buFont typeface="Georgia"/>
              <a:buNone/>
            </a:pPr>
            <a:r>
              <a:rPr b="0" i="0" lang="en-US" sz="3600" u="none" cap="none" strike="noStrike">
                <a:solidFill>
                  <a:srgbClr val="111111"/>
                </a:solidFill>
                <a:latin typeface="Georgia"/>
                <a:ea typeface="Georgia"/>
                <a:cs typeface="Georgia"/>
                <a:sym typeface="Georgia"/>
              </a:rPr>
              <a:t>Introduction</a:t>
            </a:r>
            <a:endParaRPr b="0" i="0" sz="3600" u="none" cap="none" strike="noStrike">
              <a:solidFill>
                <a:schemeClr val="dk1"/>
              </a:solidFill>
              <a:latin typeface="Calibri"/>
              <a:ea typeface="Calibri"/>
              <a:cs typeface="Calibri"/>
              <a:sym typeface="Calibri"/>
            </a:endParaRPr>
          </a:p>
        </p:txBody>
      </p:sp>
      <p:sp>
        <p:nvSpPr>
          <p:cNvPr id="297" name="Google Shape;297;p2"/>
          <p:cNvSpPr/>
          <p:nvPr/>
        </p:nvSpPr>
        <p:spPr>
          <a:xfrm>
            <a:off x="1047640" y="1554317"/>
            <a:ext cx="16192613" cy="14111"/>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2"/>
          <p:cNvSpPr/>
          <p:nvPr/>
        </p:nvSpPr>
        <p:spPr>
          <a:xfrm>
            <a:off x="1165650" y="1835126"/>
            <a:ext cx="16551300" cy="281910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None/>
            </a:pPr>
            <a:r>
              <a:rPr b="1" lang="en-US" sz="2500">
                <a:solidFill>
                  <a:srgbClr val="111111"/>
                </a:solidFill>
                <a:latin typeface="Georgia"/>
                <a:ea typeface="Georgia"/>
                <a:cs typeface="Georgia"/>
                <a:sym typeface="Georgia"/>
              </a:rPr>
              <a:t>Goal</a:t>
            </a:r>
            <a:endParaRPr b="1" sz="2500">
              <a:solidFill>
                <a:srgbClr val="111111"/>
              </a:solidFill>
              <a:latin typeface="Georgia"/>
              <a:ea typeface="Georgia"/>
              <a:cs typeface="Georgia"/>
              <a:sym typeface="Georgia"/>
            </a:endParaRPr>
          </a:p>
          <a:p>
            <a:pPr indent="-387350" lvl="0" marL="457200" marR="0" rtl="0" algn="l">
              <a:lnSpc>
                <a:spcPct val="145000"/>
              </a:lnSpc>
              <a:spcBef>
                <a:spcPts val="0"/>
              </a:spcBef>
              <a:spcAft>
                <a:spcPts val="0"/>
              </a:spcAft>
              <a:buClr>
                <a:srgbClr val="111111"/>
              </a:buClr>
              <a:buSzPts val="2500"/>
              <a:buFont typeface="Georgia"/>
              <a:buChar char="●"/>
            </a:pPr>
            <a:r>
              <a:rPr lang="en-US" sz="2500">
                <a:solidFill>
                  <a:srgbClr val="111111"/>
                </a:solidFill>
                <a:latin typeface="Georgia"/>
                <a:ea typeface="Georgia"/>
                <a:cs typeface="Georgia"/>
                <a:sym typeface="Georgia"/>
              </a:rPr>
              <a:t>Sort poker players into groups based on how they bet</a:t>
            </a:r>
            <a:endParaRPr sz="2500">
              <a:solidFill>
                <a:srgbClr val="111111"/>
              </a:solidFill>
              <a:latin typeface="Georgia"/>
              <a:ea typeface="Georgia"/>
              <a:cs typeface="Georgia"/>
              <a:sym typeface="Georgia"/>
            </a:endParaRPr>
          </a:p>
          <a:p>
            <a:pPr indent="-387350" lvl="0" marL="457200" marR="0" rtl="0" algn="l">
              <a:lnSpc>
                <a:spcPct val="145000"/>
              </a:lnSpc>
              <a:spcBef>
                <a:spcPts val="0"/>
              </a:spcBef>
              <a:spcAft>
                <a:spcPts val="0"/>
              </a:spcAft>
              <a:buClr>
                <a:srgbClr val="111111"/>
              </a:buClr>
              <a:buSzPts val="2500"/>
              <a:buFont typeface="Georgia"/>
              <a:buChar char="●"/>
            </a:pPr>
            <a:r>
              <a:rPr lang="en-US" sz="2500">
                <a:solidFill>
                  <a:srgbClr val="111111"/>
                </a:solidFill>
                <a:latin typeface="Georgia"/>
                <a:ea typeface="Georgia"/>
                <a:cs typeface="Georgia"/>
                <a:sym typeface="Georgia"/>
              </a:rPr>
              <a:t>Poker players have different “styles” of play; useful for modeling opponents</a:t>
            </a:r>
            <a:endParaRPr sz="2500">
              <a:solidFill>
                <a:srgbClr val="111111"/>
              </a:solidFill>
              <a:latin typeface="Georgia"/>
              <a:ea typeface="Georgia"/>
              <a:cs typeface="Georgia"/>
              <a:sym typeface="Georgia"/>
            </a:endParaRPr>
          </a:p>
          <a:p>
            <a:pPr indent="-387350" lvl="0" marL="457200" marR="0" rtl="0" algn="l">
              <a:lnSpc>
                <a:spcPct val="145000"/>
              </a:lnSpc>
              <a:spcBef>
                <a:spcPts val="0"/>
              </a:spcBef>
              <a:spcAft>
                <a:spcPts val="0"/>
              </a:spcAft>
              <a:buClr>
                <a:srgbClr val="111111"/>
              </a:buClr>
              <a:buSzPts val="2500"/>
              <a:buFont typeface="Georgia"/>
              <a:buChar char="●"/>
            </a:pPr>
            <a:r>
              <a:rPr lang="en-US" sz="2500">
                <a:solidFill>
                  <a:srgbClr val="111111"/>
                </a:solidFill>
                <a:latin typeface="Georgia"/>
                <a:ea typeface="Georgia"/>
                <a:cs typeface="Georgia"/>
                <a:sym typeface="Georgia"/>
              </a:rPr>
              <a:t>Past Approach: Use fixed cut offs on VPIP and PFR (two statistics) to categorize players</a:t>
            </a:r>
            <a:endParaRPr sz="2500">
              <a:solidFill>
                <a:srgbClr val="111111"/>
              </a:solidFill>
              <a:latin typeface="Georgia"/>
              <a:ea typeface="Georgia"/>
              <a:cs typeface="Georgia"/>
              <a:sym typeface="Georgia"/>
            </a:endParaRPr>
          </a:p>
          <a:p>
            <a:pPr indent="-387350" lvl="0" marL="457200" marR="0" rtl="0" algn="l">
              <a:lnSpc>
                <a:spcPct val="145000"/>
              </a:lnSpc>
              <a:spcBef>
                <a:spcPts val="0"/>
              </a:spcBef>
              <a:spcAft>
                <a:spcPts val="0"/>
              </a:spcAft>
              <a:buClr>
                <a:srgbClr val="111111"/>
              </a:buClr>
              <a:buSzPts val="2500"/>
              <a:buFont typeface="Georgia"/>
              <a:buChar char="●"/>
            </a:pPr>
            <a:r>
              <a:rPr lang="en-US" sz="2500">
                <a:solidFill>
                  <a:srgbClr val="111111"/>
                </a:solidFill>
                <a:latin typeface="Georgia"/>
                <a:ea typeface="Georgia"/>
                <a:cs typeface="Georgia"/>
                <a:sym typeface="Georgia"/>
              </a:rPr>
              <a:t>Our Approach: Explore whether K-Means finds better groups via clustering</a:t>
            </a:r>
            <a:endParaRPr sz="2500">
              <a:solidFill>
                <a:schemeClr val="dk1"/>
              </a:solidFill>
              <a:latin typeface="Calibri"/>
              <a:ea typeface="Calibri"/>
              <a:cs typeface="Calibri"/>
              <a:sym typeface="Calibri"/>
            </a:endParaRPr>
          </a:p>
          <a:p>
            <a:pPr indent="0" lvl="0" marL="0" marR="0" rtl="0" algn="l">
              <a:lnSpc>
                <a:spcPct val="145000"/>
              </a:lnSpc>
              <a:spcBef>
                <a:spcPts val="0"/>
              </a:spcBef>
              <a:spcAft>
                <a:spcPts val="0"/>
              </a:spcAft>
              <a:buNone/>
            </a:pPr>
            <a:r>
              <a:t/>
            </a:r>
            <a:endParaRPr sz="2100">
              <a:solidFill>
                <a:srgbClr val="111111"/>
              </a:solidFill>
              <a:latin typeface="Georgia"/>
              <a:ea typeface="Georgia"/>
              <a:cs typeface="Georgia"/>
              <a:sym typeface="Georgia"/>
            </a:endParaRPr>
          </a:p>
        </p:txBody>
      </p:sp>
      <p:sp>
        <p:nvSpPr>
          <p:cNvPr id="299" name="Google Shape;299;p2"/>
          <p:cNvSpPr/>
          <p:nvPr/>
        </p:nvSpPr>
        <p:spPr>
          <a:xfrm>
            <a:off x="1165650" y="5163595"/>
            <a:ext cx="16551300" cy="155370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100"/>
              <a:buFont typeface="Georgia"/>
              <a:buNone/>
            </a:pPr>
            <a:r>
              <a:rPr b="1" i="0" lang="en-US" sz="2500" u="none" cap="none" strike="noStrike">
                <a:solidFill>
                  <a:srgbClr val="111111"/>
                </a:solidFill>
                <a:latin typeface="Georgia"/>
                <a:ea typeface="Georgia"/>
                <a:cs typeface="Georgia"/>
                <a:sym typeface="Georgia"/>
              </a:rPr>
              <a:t>Dataset</a:t>
            </a:r>
            <a:endParaRPr b="1" i="0" sz="2500" u="none" cap="none" strike="noStrike">
              <a:solidFill>
                <a:srgbClr val="111111"/>
              </a:solidFill>
              <a:latin typeface="Georgia"/>
              <a:ea typeface="Georgia"/>
              <a:cs typeface="Georgia"/>
              <a:sym typeface="Georgia"/>
            </a:endParaRPr>
          </a:p>
          <a:p>
            <a:pPr indent="-387350" lvl="0" marL="457200" marR="0" rtl="0" algn="l">
              <a:lnSpc>
                <a:spcPct val="145000"/>
              </a:lnSpc>
              <a:spcBef>
                <a:spcPts val="0"/>
              </a:spcBef>
              <a:spcAft>
                <a:spcPts val="0"/>
              </a:spcAft>
              <a:buClr>
                <a:srgbClr val="111111"/>
              </a:buClr>
              <a:buSzPts val="2500"/>
              <a:buFont typeface="Georgia"/>
              <a:buChar char="●"/>
            </a:pPr>
            <a:r>
              <a:rPr b="1" i="0" lang="en-US" sz="2500" u="none" cap="none" strike="noStrike">
                <a:solidFill>
                  <a:srgbClr val="111111"/>
                </a:solidFill>
                <a:latin typeface="Georgia"/>
                <a:ea typeface="Georgia"/>
                <a:cs typeface="Georgia"/>
                <a:sym typeface="Georgia"/>
              </a:rPr>
              <a:t> </a:t>
            </a:r>
            <a:r>
              <a:rPr b="0" i="0" lang="en-US" sz="2500" u="none" cap="none" strike="noStrike">
                <a:solidFill>
                  <a:srgbClr val="111111"/>
                </a:solidFill>
                <a:latin typeface="Georgia"/>
                <a:ea typeface="Georgia"/>
                <a:cs typeface="Georgia"/>
                <a:sym typeface="Georgia"/>
              </a:rPr>
              <a:t>IRC Poker Database from the University of Alberta</a:t>
            </a:r>
            <a:endParaRPr sz="2500">
              <a:solidFill>
                <a:srgbClr val="111111"/>
              </a:solidFill>
              <a:latin typeface="Georgia"/>
              <a:ea typeface="Georgia"/>
              <a:cs typeface="Georgia"/>
              <a:sym typeface="Georgia"/>
            </a:endParaRPr>
          </a:p>
          <a:p>
            <a:pPr indent="-387350" lvl="1" marL="914400" marR="0" rtl="0" algn="l">
              <a:lnSpc>
                <a:spcPct val="145000"/>
              </a:lnSpc>
              <a:spcBef>
                <a:spcPts val="0"/>
              </a:spcBef>
              <a:spcAft>
                <a:spcPts val="0"/>
              </a:spcAft>
              <a:buClr>
                <a:srgbClr val="111111"/>
              </a:buClr>
              <a:buSzPts val="2500"/>
              <a:buFont typeface="Georgia"/>
              <a:buChar char="○"/>
            </a:pPr>
            <a:r>
              <a:rPr lang="en-US" sz="2500">
                <a:solidFill>
                  <a:srgbClr val="111111"/>
                </a:solidFill>
                <a:latin typeface="Georgia"/>
                <a:ea typeface="Georgia"/>
                <a:cs typeface="Georgia"/>
                <a:sym typeface="Georgia"/>
              </a:rPr>
              <a:t>O</a:t>
            </a:r>
            <a:r>
              <a:rPr b="0" i="0" lang="en-US" sz="2500" u="none" cap="none" strike="noStrike">
                <a:solidFill>
                  <a:srgbClr val="111111"/>
                </a:solidFill>
                <a:latin typeface="Georgia"/>
                <a:ea typeface="Georgia"/>
                <a:cs typeface="Georgia"/>
                <a:sym typeface="Georgia"/>
              </a:rPr>
              <a:t>ver 10 million Texas Hold'em hands played on IRC servers between 1995 and 2001</a:t>
            </a:r>
            <a:endParaRPr b="0" i="0" sz="2500" u="none" cap="none" strike="noStrike">
              <a:solidFill>
                <a:schemeClr val="dk1"/>
              </a:solidFill>
              <a:latin typeface="Calibri"/>
              <a:ea typeface="Calibri"/>
              <a:cs typeface="Calibri"/>
              <a:sym typeface="Calibri"/>
            </a:endParaRPr>
          </a:p>
        </p:txBody>
      </p:sp>
      <p:sp>
        <p:nvSpPr>
          <p:cNvPr id="300" name="Google Shape;300;p2"/>
          <p:cNvSpPr/>
          <p:nvPr/>
        </p:nvSpPr>
        <p:spPr>
          <a:xfrm>
            <a:off x="1047640" y="9491267"/>
            <a:ext cx="16192613"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5" name="Shape 305"/>
        <p:cNvGrpSpPr/>
        <p:nvPr/>
      </p:nvGrpSpPr>
      <p:grpSpPr>
        <a:xfrm>
          <a:off x="0" y="0"/>
          <a:ext cx="0" cy="0"/>
          <a:chOff x="0" y="0"/>
          <a:chExt cx="0" cy="0"/>
        </a:xfrm>
      </p:grpSpPr>
      <p:sp>
        <p:nvSpPr>
          <p:cNvPr id="306" name="Google Shape;306;p3"/>
          <p:cNvSpPr/>
          <p:nvPr/>
        </p:nvSpPr>
        <p:spPr>
          <a:xfrm>
            <a:off x="1047640" y="761890"/>
            <a:ext cx="16678391" cy="563849"/>
          </a:xfrm>
          <a:prstGeom prst="rect">
            <a:avLst/>
          </a:prstGeom>
          <a:noFill/>
          <a:ln>
            <a:noFill/>
          </a:ln>
        </p:spPr>
        <p:txBody>
          <a:bodyPr anchorCtr="0" anchor="t" bIns="25400" lIns="25400" spcFirstLastPara="1" rIns="25400" wrap="square" tIns="25400">
            <a:normAutofit/>
          </a:bodyPr>
          <a:lstStyle/>
          <a:p>
            <a:pPr indent="0" lvl="0" marL="0" marR="0" rtl="0" algn="l">
              <a:lnSpc>
                <a:spcPct val="115000"/>
              </a:lnSpc>
              <a:spcBef>
                <a:spcPts val="0"/>
              </a:spcBef>
              <a:spcAft>
                <a:spcPts val="0"/>
              </a:spcAft>
              <a:buClr>
                <a:srgbClr val="111111"/>
              </a:buClr>
              <a:buSzPts val="3600"/>
              <a:buFont typeface="Georgia"/>
              <a:buNone/>
            </a:pPr>
            <a:r>
              <a:rPr b="0" i="0" lang="en-US" sz="3600" u="none" cap="none" strike="noStrike">
                <a:solidFill>
                  <a:srgbClr val="111111"/>
                </a:solidFill>
                <a:latin typeface="Georgia"/>
                <a:ea typeface="Georgia"/>
                <a:cs typeface="Georgia"/>
                <a:sym typeface="Georgia"/>
              </a:rPr>
              <a:t>Related Works</a:t>
            </a:r>
            <a:endParaRPr b="0" i="0" sz="3600" u="none" cap="none" strike="noStrike">
              <a:solidFill>
                <a:schemeClr val="dk1"/>
              </a:solidFill>
              <a:latin typeface="Calibri"/>
              <a:ea typeface="Calibri"/>
              <a:cs typeface="Calibri"/>
              <a:sym typeface="Calibri"/>
            </a:endParaRPr>
          </a:p>
        </p:txBody>
      </p:sp>
      <p:sp>
        <p:nvSpPr>
          <p:cNvPr id="307" name="Google Shape;307;p3"/>
          <p:cNvSpPr/>
          <p:nvPr/>
        </p:nvSpPr>
        <p:spPr>
          <a:xfrm>
            <a:off x="1047640" y="1554317"/>
            <a:ext cx="16192613" cy="14111"/>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08" name="Google Shape;308;p3"/>
          <p:cNvGrpSpPr/>
          <p:nvPr/>
        </p:nvGrpSpPr>
        <p:grpSpPr>
          <a:xfrm>
            <a:off x="1220999" y="1870375"/>
            <a:ext cx="15846000" cy="1377979"/>
            <a:chOff x="1220999" y="1870375"/>
            <a:chExt cx="15846000" cy="1377979"/>
          </a:xfrm>
        </p:grpSpPr>
        <p:sp>
          <p:nvSpPr>
            <p:cNvPr id="309" name="Google Shape;309;p3"/>
            <p:cNvSpPr/>
            <p:nvPr/>
          </p:nvSpPr>
          <p:spPr>
            <a:xfrm>
              <a:off x="1352349" y="1870375"/>
              <a:ext cx="10076700" cy="34140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100"/>
                <a:buFont typeface="Georgia"/>
                <a:buNone/>
              </a:pPr>
              <a:r>
                <a:rPr b="1" i="0" lang="en-US" sz="2500" u="none" cap="none" strike="noStrike">
                  <a:solidFill>
                    <a:srgbClr val="111111"/>
                  </a:solidFill>
                  <a:latin typeface="Georgia"/>
                  <a:ea typeface="Georgia"/>
                  <a:cs typeface="Georgia"/>
                  <a:sym typeface="Georgia"/>
                </a:rPr>
                <a:t>IRC Poker Database  (University of Alberta</a:t>
              </a:r>
              <a:r>
                <a:rPr b="1" lang="en-US" sz="2500">
                  <a:solidFill>
                    <a:srgbClr val="111111"/>
                  </a:solidFill>
                  <a:latin typeface="Georgia"/>
                  <a:ea typeface="Georgia"/>
                  <a:cs typeface="Georgia"/>
                  <a:sym typeface="Georgia"/>
                </a:rPr>
                <a:t>)</a:t>
              </a:r>
              <a:endParaRPr b="0" i="0" sz="2500" u="none" cap="none" strike="noStrike">
                <a:solidFill>
                  <a:schemeClr val="dk1"/>
                </a:solidFill>
                <a:latin typeface="Calibri"/>
                <a:ea typeface="Calibri"/>
                <a:cs typeface="Calibri"/>
                <a:sym typeface="Calibri"/>
              </a:endParaRPr>
            </a:p>
          </p:txBody>
        </p:sp>
        <p:sp>
          <p:nvSpPr>
            <p:cNvPr id="310" name="Google Shape;310;p3"/>
            <p:cNvSpPr/>
            <p:nvPr/>
          </p:nvSpPr>
          <p:spPr>
            <a:xfrm>
              <a:off x="1220999" y="2322854"/>
              <a:ext cx="15846000" cy="925500"/>
            </a:xfrm>
            <a:prstGeom prst="rect">
              <a:avLst/>
            </a:prstGeom>
            <a:noFill/>
            <a:ln>
              <a:noFill/>
            </a:ln>
          </p:spPr>
          <p:txBody>
            <a:bodyPr anchorCtr="0" anchor="t" bIns="25400" lIns="25400" spcFirstLastPara="1" rIns="25400" wrap="square" tIns="25400">
              <a:normAutofit/>
            </a:bodyPr>
            <a:lstStyle/>
            <a:p>
              <a:pPr indent="-212090" lvl="0" marL="186690" marR="0" rtl="0" algn="l">
                <a:lnSpc>
                  <a:spcPct val="145000"/>
                </a:lnSpc>
                <a:spcBef>
                  <a:spcPts val="0"/>
                </a:spcBef>
                <a:spcAft>
                  <a:spcPts val="0"/>
                </a:spcAft>
                <a:buClr>
                  <a:srgbClr val="111111"/>
                </a:buClr>
                <a:buSzPts val="2500"/>
                <a:buFont typeface="Georgia"/>
                <a:buChar char="○"/>
              </a:pPr>
              <a:r>
                <a:rPr b="0" i="0" lang="en-US" sz="2500" u="none" cap="none" strike="noStrike">
                  <a:solidFill>
                    <a:srgbClr val="111111"/>
                  </a:solidFill>
                  <a:latin typeface="Georgia"/>
                  <a:ea typeface="Georgia"/>
                  <a:cs typeface="Georgia"/>
                  <a:sym typeface="Georgia"/>
                </a:rPr>
                <a:t>The public hand-history dataset we </a:t>
              </a:r>
              <a:r>
                <a:rPr lang="en-US" sz="2500">
                  <a:solidFill>
                    <a:srgbClr val="111111"/>
                  </a:solidFill>
                  <a:latin typeface="Georgia"/>
                  <a:ea typeface="Georgia"/>
                  <a:cs typeface="Georgia"/>
                  <a:sym typeface="Georgia"/>
                </a:rPr>
                <a:t>collected data from</a:t>
              </a:r>
              <a:endParaRPr b="0" i="0" sz="2500" u="none" cap="none" strike="noStrike">
                <a:solidFill>
                  <a:schemeClr val="dk1"/>
                </a:solidFill>
                <a:latin typeface="Calibri"/>
                <a:ea typeface="Calibri"/>
                <a:cs typeface="Calibri"/>
                <a:sym typeface="Calibri"/>
              </a:endParaRPr>
            </a:p>
            <a:p>
              <a:pPr indent="-387350" lvl="1" marL="914400" marR="0" rtl="0" algn="l">
                <a:lnSpc>
                  <a:spcPct val="145000"/>
                </a:lnSpc>
                <a:spcBef>
                  <a:spcPts val="0"/>
                </a:spcBef>
                <a:spcAft>
                  <a:spcPts val="0"/>
                </a:spcAft>
                <a:buClr>
                  <a:srgbClr val="111111"/>
                </a:buClr>
                <a:buSzPts val="2500"/>
                <a:buFont typeface="Georgia"/>
                <a:buChar char="○"/>
              </a:pPr>
              <a:r>
                <a:rPr b="0" i="0" lang="en-US" sz="2500" u="none" cap="none" strike="noStrike">
                  <a:solidFill>
                    <a:srgbClr val="111111"/>
                  </a:solidFill>
                  <a:latin typeface="Georgia"/>
                  <a:ea typeface="Georgia"/>
                  <a:cs typeface="Georgia"/>
                  <a:sym typeface="Georgia"/>
                </a:rPr>
                <a:t>poker.cs.ualberta.ca/ircpokerdatabase.html</a:t>
              </a:r>
              <a:endParaRPr b="0" i="0" sz="2500" u="none" cap="none" strike="noStrike">
                <a:solidFill>
                  <a:schemeClr val="dk1"/>
                </a:solidFill>
                <a:latin typeface="Calibri"/>
                <a:ea typeface="Calibri"/>
                <a:cs typeface="Calibri"/>
                <a:sym typeface="Calibri"/>
              </a:endParaRPr>
            </a:p>
          </p:txBody>
        </p:sp>
      </p:grpSp>
      <p:grpSp>
        <p:nvGrpSpPr>
          <p:cNvPr id="311" name="Google Shape;311;p3"/>
          <p:cNvGrpSpPr/>
          <p:nvPr/>
        </p:nvGrpSpPr>
        <p:grpSpPr>
          <a:xfrm>
            <a:off x="1220999" y="3792975"/>
            <a:ext cx="15846000" cy="1892439"/>
            <a:chOff x="1220999" y="3792975"/>
            <a:chExt cx="15846000" cy="1892439"/>
          </a:xfrm>
        </p:grpSpPr>
        <p:sp>
          <p:nvSpPr>
            <p:cNvPr id="312" name="Google Shape;312;p3"/>
            <p:cNvSpPr/>
            <p:nvPr/>
          </p:nvSpPr>
          <p:spPr>
            <a:xfrm>
              <a:off x="1276224" y="3792975"/>
              <a:ext cx="9396000" cy="34140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100"/>
                <a:buFont typeface="Georgia"/>
                <a:buNone/>
              </a:pPr>
              <a:r>
                <a:rPr b="1" lang="en-US" sz="2500">
                  <a:solidFill>
                    <a:srgbClr val="111111"/>
                  </a:solidFill>
                  <a:latin typeface="Georgia"/>
                  <a:ea typeface="Georgia"/>
                  <a:cs typeface="Georgia"/>
                  <a:sym typeface="Georgia"/>
                </a:rPr>
                <a:t>Categorizing Players Using VPIP/PFR Heuristics</a:t>
              </a:r>
              <a:endParaRPr b="0" i="0" sz="2500" u="none" cap="none" strike="noStrike">
                <a:solidFill>
                  <a:schemeClr val="dk1"/>
                </a:solidFill>
                <a:latin typeface="Calibri"/>
                <a:ea typeface="Calibri"/>
                <a:cs typeface="Calibri"/>
                <a:sym typeface="Calibri"/>
              </a:endParaRPr>
            </a:p>
          </p:txBody>
        </p:sp>
        <p:sp>
          <p:nvSpPr>
            <p:cNvPr id="313" name="Google Shape;313;p3"/>
            <p:cNvSpPr/>
            <p:nvPr/>
          </p:nvSpPr>
          <p:spPr>
            <a:xfrm>
              <a:off x="1220999" y="4258914"/>
              <a:ext cx="15846000" cy="1426500"/>
            </a:xfrm>
            <a:prstGeom prst="rect">
              <a:avLst/>
            </a:prstGeom>
            <a:noFill/>
            <a:ln>
              <a:noFill/>
            </a:ln>
          </p:spPr>
          <p:txBody>
            <a:bodyPr anchorCtr="0" anchor="t" bIns="25400" lIns="25400" spcFirstLastPara="1" rIns="25400" wrap="square" tIns="25400">
              <a:normAutofit/>
            </a:bodyPr>
            <a:lstStyle/>
            <a:p>
              <a:pPr indent="-212090" lvl="0" marL="186690" marR="0" rtl="0" algn="l">
                <a:lnSpc>
                  <a:spcPct val="145000"/>
                </a:lnSpc>
                <a:spcBef>
                  <a:spcPts val="0"/>
                </a:spcBef>
                <a:spcAft>
                  <a:spcPts val="0"/>
                </a:spcAft>
                <a:buClr>
                  <a:srgbClr val="111111"/>
                </a:buClr>
                <a:buSzPts val="2500"/>
                <a:buFont typeface="Georgia"/>
                <a:buChar char="○"/>
              </a:pPr>
              <a:r>
                <a:rPr b="0" i="0" lang="en-US" sz="2500" u="none" cap="none" strike="noStrike">
                  <a:solidFill>
                    <a:srgbClr val="111111"/>
                  </a:solidFill>
                  <a:latin typeface="Georgia"/>
                  <a:ea typeface="Georgia"/>
                  <a:cs typeface="Georgia"/>
                  <a:sym typeface="Georgia"/>
                </a:rPr>
                <a:t>Long-standing practice in the poker community</a:t>
              </a:r>
              <a:endParaRPr b="0" i="0" sz="2500" u="none" cap="none" strike="noStrike">
                <a:solidFill>
                  <a:schemeClr val="dk1"/>
                </a:solidFill>
                <a:latin typeface="Calibri"/>
                <a:ea typeface="Calibri"/>
                <a:cs typeface="Calibri"/>
                <a:sym typeface="Calibri"/>
              </a:endParaRPr>
            </a:p>
            <a:p>
              <a:pPr indent="-212090" lvl="0" marL="186690" marR="0" rtl="0" algn="l">
                <a:lnSpc>
                  <a:spcPct val="145000"/>
                </a:lnSpc>
                <a:spcBef>
                  <a:spcPts val="0"/>
                </a:spcBef>
                <a:spcAft>
                  <a:spcPts val="0"/>
                </a:spcAft>
                <a:buClr>
                  <a:srgbClr val="111111"/>
                </a:buClr>
                <a:buSzPts val="2500"/>
                <a:buFont typeface="Georgia"/>
                <a:buChar char="○"/>
              </a:pPr>
              <a:r>
                <a:rPr b="0" i="0" lang="en-US" sz="2500" u="none" cap="none" strike="noStrike">
                  <a:solidFill>
                    <a:srgbClr val="111111"/>
                  </a:solidFill>
                  <a:latin typeface="Georgia"/>
                  <a:ea typeface="Georgia"/>
                  <a:cs typeface="Georgia"/>
                  <a:sym typeface="Georgia"/>
                </a:rPr>
                <a:t>Players are sorted into TAG, LAG, Fish, and Rock using </a:t>
              </a:r>
              <a:r>
                <a:rPr lang="en-US" sz="2500">
                  <a:solidFill>
                    <a:srgbClr val="111111"/>
                  </a:solidFill>
                  <a:latin typeface="Georgia"/>
                  <a:ea typeface="Georgia"/>
                  <a:cs typeface="Georgia"/>
                  <a:sym typeface="Georgia"/>
                </a:rPr>
                <a:t>fixed </a:t>
              </a:r>
              <a:br>
                <a:rPr lang="en-US" sz="2500">
                  <a:solidFill>
                    <a:srgbClr val="111111"/>
                  </a:solidFill>
                  <a:latin typeface="Georgia"/>
                  <a:ea typeface="Georgia"/>
                  <a:cs typeface="Georgia"/>
                  <a:sym typeface="Georgia"/>
                </a:rPr>
              </a:br>
              <a:r>
                <a:rPr lang="en-US" sz="2500">
                  <a:solidFill>
                    <a:srgbClr val="111111"/>
                  </a:solidFill>
                  <a:latin typeface="Georgia"/>
                  <a:ea typeface="Georgia"/>
                  <a:cs typeface="Georgia"/>
                  <a:sym typeface="Georgia"/>
                </a:rPr>
                <a:t>ranges given by calculating different </a:t>
              </a:r>
              <a:r>
                <a:rPr lang="en-US" sz="2500">
                  <a:solidFill>
                    <a:srgbClr val="111111"/>
                  </a:solidFill>
                  <a:latin typeface="Georgia"/>
                  <a:ea typeface="Georgia"/>
                  <a:cs typeface="Georgia"/>
                  <a:sym typeface="Georgia"/>
                </a:rPr>
                <a:t>statistics</a:t>
              </a:r>
              <a:endParaRPr b="0" i="0" sz="2500" u="none" cap="none" strike="noStrike">
                <a:solidFill>
                  <a:schemeClr val="dk1"/>
                </a:solidFill>
                <a:latin typeface="Calibri"/>
                <a:ea typeface="Calibri"/>
                <a:cs typeface="Calibri"/>
                <a:sym typeface="Calibri"/>
              </a:endParaRPr>
            </a:p>
            <a:p>
              <a:pPr indent="-212090" lvl="0" marL="186690" marR="0" rtl="0" algn="l">
                <a:lnSpc>
                  <a:spcPct val="145000"/>
                </a:lnSpc>
                <a:spcBef>
                  <a:spcPts val="0"/>
                </a:spcBef>
                <a:spcAft>
                  <a:spcPts val="0"/>
                </a:spcAft>
                <a:buClr>
                  <a:srgbClr val="111111"/>
                </a:buClr>
                <a:buSzPts val="2500"/>
                <a:buFont typeface="Georgia"/>
                <a:buChar char="○"/>
              </a:pPr>
              <a:r>
                <a:rPr b="0" i="0" lang="en-US" sz="2500" u="none" cap="none" strike="noStrike">
                  <a:solidFill>
                    <a:srgbClr val="111111"/>
                  </a:solidFill>
                  <a:latin typeface="Georgia"/>
                  <a:ea typeface="Georgia"/>
                  <a:cs typeface="Georgia"/>
                  <a:sym typeface="Georgia"/>
                </a:rPr>
                <a:t>This is our </a:t>
              </a:r>
              <a:r>
                <a:rPr b="1" lang="en-US" sz="2500">
                  <a:solidFill>
                    <a:srgbClr val="111111"/>
                  </a:solidFill>
                  <a:latin typeface="Georgia"/>
                  <a:ea typeface="Georgia"/>
                  <a:cs typeface="Georgia"/>
                  <a:sym typeface="Georgia"/>
                </a:rPr>
                <a:t>ground truth</a:t>
              </a:r>
              <a:endParaRPr b="1" i="0" sz="2500" u="none" cap="none" strike="noStrike">
                <a:solidFill>
                  <a:schemeClr val="dk1"/>
                </a:solidFill>
                <a:latin typeface="Calibri"/>
                <a:ea typeface="Calibri"/>
                <a:cs typeface="Calibri"/>
                <a:sym typeface="Calibri"/>
              </a:endParaRPr>
            </a:p>
          </p:txBody>
        </p:sp>
      </p:grpSp>
      <p:grpSp>
        <p:nvGrpSpPr>
          <p:cNvPr id="314" name="Google Shape;314;p3"/>
          <p:cNvGrpSpPr/>
          <p:nvPr/>
        </p:nvGrpSpPr>
        <p:grpSpPr>
          <a:xfrm>
            <a:off x="1220949" y="6887813"/>
            <a:ext cx="15846000" cy="1401079"/>
            <a:chOff x="1220999" y="6720725"/>
            <a:chExt cx="15846000" cy="1401079"/>
          </a:xfrm>
        </p:grpSpPr>
        <p:sp>
          <p:nvSpPr>
            <p:cNvPr id="315" name="Google Shape;315;p3"/>
            <p:cNvSpPr/>
            <p:nvPr/>
          </p:nvSpPr>
          <p:spPr>
            <a:xfrm>
              <a:off x="1335268" y="6720725"/>
              <a:ext cx="7587000" cy="34140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100"/>
                <a:buFont typeface="Georgia"/>
                <a:buNone/>
              </a:pPr>
              <a:r>
                <a:rPr b="1" i="0" lang="en-US" sz="2500" u="none" cap="none" strike="noStrike">
                  <a:solidFill>
                    <a:srgbClr val="111111"/>
                  </a:solidFill>
                  <a:latin typeface="Georgia"/>
                  <a:ea typeface="Georgia"/>
                  <a:cs typeface="Georgia"/>
                  <a:sym typeface="Georgia"/>
                </a:rPr>
                <a:t>K-Means clustering</a:t>
              </a:r>
              <a:endParaRPr b="0" i="0" sz="2500" u="none" cap="none" strike="noStrike">
                <a:solidFill>
                  <a:schemeClr val="dk1"/>
                </a:solidFill>
                <a:latin typeface="Calibri"/>
                <a:ea typeface="Calibri"/>
                <a:cs typeface="Calibri"/>
                <a:sym typeface="Calibri"/>
              </a:endParaRPr>
            </a:p>
          </p:txBody>
        </p:sp>
        <p:sp>
          <p:nvSpPr>
            <p:cNvPr id="316" name="Google Shape;316;p3"/>
            <p:cNvSpPr/>
            <p:nvPr/>
          </p:nvSpPr>
          <p:spPr>
            <a:xfrm>
              <a:off x="1220999" y="7196304"/>
              <a:ext cx="15846000" cy="925500"/>
            </a:xfrm>
            <a:prstGeom prst="rect">
              <a:avLst/>
            </a:prstGeom>
            <a:noFill/>
            <a:ln>
              <a:noFill/>
            </a:ln>
          </p:spPr>
          <p:txBody>
            <a:bodyPr anchorCtr="0" anchor="t" bIns="25400" lIns="25400" spcFirstLastPara="1" rIns="25400" wrap="square" tIns="25400">
              <a:normAutofit/>
            </a:bodyPr>
            <a:lstStyle/>
            <a:p>
              <a:pPr indent="-212090" lvl="0" marL="186690" marR="0" rtl="0" algn="l">
                <a:lnSpc>
                  <a:spcPct val="145000"/>
                </a:lnSpc>
                <a:spcBef>
                  <a:spcPts val="0"/>
                </a:spcBef>
                <a:spcAft>
                  <a:spcPts val="0"/>
                </a:spcAft>
                <a:buClr>
                  <a:srgbClr val="111111"/>
                </a:buClr>
                <a:buSzPts val="2500"/>
                <a:buFont typeface="Georgia"/>
                <a:buChar char="○"/>
              </a:pPr>
              <a:r>
                <a:rPr b="0" i="0" lang="en-US" sz="2500" u="none" cap="none" strike="noStrike">
                  <a:solidFill>
                    <a:srgbClr val="111111"/>
                  </a:solidFill>
                  <a:latin typeface="Georgia"/>
                  <a:ea typeface="Georgia"/>
                  <a:cs typeface="Georgia"/>
                  <a:sym typeface="Georgia"/>
                </a:rPr>
                <a:t>Standard unsupervised method for grouping similar items</a:t>
              </a:r>
              <a:endParaRPr b="0" i="0" sz="2500" u="none" cap="none" strike="noStrike">
                <a:solidFill>
                  <a:schemeClr val="dk1"/>
                </a:solidFill>
                <a:latin typeface="Calibri"/>
                <a:ea typeface="Calibri"/>
                <a:cs typeface="Calibri"/>
                <a:sym typeface="Calibri"/>
              </a:endParaRPr>
            </a:p>
            <a:p>
              <a:pPr indent="-212090" lvl="0" marL="186690" marR="0" rtl="0" algn="l">
                <a:lnSpc>
                  <a:spcPct val="145000"/>
                </a:lnSpc>
                <a:spcBef>
                  <a:spcPts val="0"/>
                </a:spcBef>
                <a:spcAft>
                  <a:spcPts val="0"/>
                </a:spcAft>
                <a:buClr>
                  <a:srgbClr val="111111"/>
                </a:buClr>
                <a:buSzPts val="2500"/>
                <a:buFont typeface="Georgia"/>
                <a:buChar char="○"/>
              </a:pPr>
              <a:r>
                <a:rPr b="0" i="0" lang="en-US" sz="2500" u="none" cap="none" strike="noStrike">
                  <a:solidFill>
                    <a:srgbClr val="111111"/>
                  </a:solidFill>
                  <a:latin typeface="Georgia"/>
                  <a:ea typeface="Georgia"/>
                  <a:cs typeface="Georgia"/>
                  <a:sym typeface="Georgia"/>
                </a:rPr>
                <a:t>We apply it to player</a:t>
              </a:r>
              <a:r>
                <a:rPr lang="en-US" sz="2500">
                  <a:solidFill>
                    <a:srgbClr val="111111"/>
                  </a:solidFill>
                  <a:latin typeface="Georgia"/>
                  <a:ea typeface="Georgia"/>
                  <a:cs typeface="Georgia"/>
                  <a:sym typeface="Georgia"/>
                </a:rPr>
                <a:t>s’ </a:t>
              </a:r>
              <a:r>
                <a:rPr b="0" i="0" lang="en-US" sz="2500" u="none" cap="none" strike="noStrike">
                  <a:solidFill>
                    <a:srgbClr val="111111"/>
                  </a:solidFill>
                  <a:latin typeface="Georgia"/>
                  <a:ea typeface="Georgia"/>
                  <a:cs typeface="Georgia"/>
                  <a:sym typeface="Georgia"/>
                </a:rPr>
                <a:t>VPIP and PFR values and compare it </a:t>
              </a:r>
              <a:br>
                <a:rPr b="0" i="0" lang="en-US" sz="2500" u="none" cap="none" strike="noStrike">
                  <a:solidFill>
                    <a:srgbClr val="111111"/>
                  </a:solidFill>
                  <a:latin typeface="Georgia"/>
                  <a:ea typeface="Georgia"/>
                  <a:cs typeface="Georgia"/>
                  <a:sym typeface="Georgia"/>
                </a:rPr>
              </a:br>
              <a:r>
                <a:rPr b="0" i="0" lang="en-US" sz="2500" u="none" cap="none" strike="noStrike">
                  <a:solidFill>
                    <a:srgbClr val="111111"/>
                  </a:solidFill>
                  <a:latin typeface="Georgia"/>
                  <a:ea typeface="Georgia"/>
                  <a:cs typeface="Georgia"/>
                  <a:sym typeface="Georgia"/>
                </a:rPr>
                <a:t>to the heuristic</a:t>
              </a:r>
              <a:endParaRPr b="0" i="0" sz="2500" u="none" cap="none" strike="noStrike">
                <a:solidFill>
                  <a:schemeClr val="dk1"/>
                </a:solidFill>
                <a:latin typeface="Calibri"/>
                <a:ea typeface="Calibri"/>
                <a:cs typeface="Calibri"/>
                <a:sym typeface="Calibri"/>
              </a:endParaRPr>
            </a:p>
          </p:txBody>
        </p:sp>
      </p:grpSp>
      <p:sp>
        <p:nvSpPr>
          <p:cNvPr id="317" name="Google Shape;317;p3"/>
          <p:cNvSpPr/>
          <p:nvPr/>
        </p:nvSpPr>
        <p:spPr>
          <a:xfrm>
            <a:off x="1047640" y="9491267"/>
            <a:ext cx="16192613"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8" name="Google Shape;318;p3"/>
          <p:cNvPicPr preferRelativeResize="0"/>
          <p:nvPr/>
        </p:nvPicPr>
        <p:blipFill>
          <a:blip r:embed="rId3">
            <a:alphaModFix/>
          </a:blip>
          <a:stretch>
            <a:fillRect/>
          </a:stretch>
        </p:blipFill>
        <p:spPr>
          <a:xfrm>
            <a:off x="16778875" y="375191"/>
            <a:ext cx="1261872" cy="1261872"/>
          </a:xfrm>
          <a:prstGeom prst="rect">
            <a:avLst/>
          </a:prstGeom>
          <a:noFill/>
          <a:ln>
            <a:noFill/>
          </a:ln>
        </p:spPr>
      </p:pic>
      <p:pic>
        <p:nvPicPr>
          <p:cNvPr id="319" name="Google Shape;319;p3"/>
          <p:cNvPicPr preferRelativeResize="0"/>
          <p:nvPr/>
        </p:nvPicPr>
        <p:blipFill>
          <a:blip r:embed="rId4">
            <a:alphaModFix/>
          </a:blip>
          <a:stretch>
            <a:fillRect/>
          </a:stretch>
        </p:blipFill>
        <p:spPr>
          <a:xfrm>
            <a:off x="10478234" y="5952786"/>
            <a:ext cx="6762016" cy="32711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4" name="Shape 324"/>
        <p:cNvGrpSpPr/>
        <p:nvPr/>
      </p:nvGrpSpPr>
      <p:grpSpPr>
        <a:xfrm>
          <a:off x="0" y="0"/>
          <a:ext cx="0" cy="0"/>
          <a:chOff x="0" y="0"/>
          <a:chExt cx="0" cy="0"/>
        </a:xfrm>
      </p:grpSpPr>
      <p:sp>
        <p:nvSpPr>
          <p:cNvPr id="325" name="Google Shape;325;p4"/>
          <p:cNvSpPr/>
          <p:nvPr/>
        </p:nvSpPr>
        <p:spPr>
          <a:xfrm>
            <a:off x="1047640" y="761890"/>
            <a:ext cx="16678391" cy="563849"/>
          </a:xfrm>
          <a:prstGeom prst="rect">
            <a:avLst/>
          </a:prstGeom>
          <a:noFill/>
          <a:ln>
            <a:noFill/>
          </a:ln>
        </p:spPr>
        <p:txBody>
          <a:bodyPr anchorCtr="0" anchor="t" bIns="25400" lIns="25400" spcFirstLastPara="1" rIns="25400" wrap="square" tIns="25400">
            <a:normAutofit/>
          </a:bodyPr>
          <a:lstStyle/>
          <a:p>
            <a:pPr indent="0" lvl="0" marL="0" marR="0" rtl="0" algn="l">
              <a:lnSpc>
                <a:spcPct val="115000"/>
              </a:lnSpc>
              <a:spcBef>
                <a:spcPts val="0"/>
              </a:spcBef>
              <a:spcAft>
                <a:spcPts val="0"/>
              </a:spcAft>
              <a:buClr>
                <a:srgbClr val="111111"/>
              </a:buClr>
              <a:buSzPts val="3600"/>
              <a:buFont typeface="Georgia"/>
              <a:buNone/>
            </a:pPr>
            <a:r>
              <a:rPr b="0" i="0" lang="en-US" sz="3600" u="none" cap="none" strike="noStrike">
                <a:solidFill>
                  <a:srgbClr val="111111"/>
                </a:solidFill>
                <a:latin typeface="Georgia"/>
                <a:ea typeface="Georgia"/>
                <a:cs typeface="Georgia"/>
                <a:sym typeface="Georgia"/>
              </a:rPr>
              <a:t>Methodology</a:t>
            </a:r>
            <a:r>
              <a:rPr lang="en-US" sz="3600">
                <a:solidFill>
                  <a:srgbClr val="111111"/>
                </a:solidFill>
                <a:latin typeface="Georgia"/>
                <a:ea typeface="Georgia"/>
                <a:cs typeface="Georgia"/>
                <a:sym typeface="Georgia"/>
              </a:rPr>
              <a:t>:</a:t>
            </a:r>
            <a:r>
              <a:rPr b="0" i="0" lang="en-US" sz="3600" u="none" cap="none" strike="noStrike">
                <a:solidFill>
                  <a:srgbClr val="111111"/>
                </a:solidFill>
                <a:latin typeface="Georgia"/>
                <a:ea typeface="Georgia"/>
                <a:cs typeface="Georgia"/>
                <a:sym typeface="Georgia"/>
              </a:rPr>
              <a:t> Data &amp; Features</a:t>
            </a:r>
            <a:endParaRPr b="0" i="0" sz="3600" u="none" cap="none" strike="noStrike">
              <a:solidFill>
                <a:schemeClr val="dk1"/>
              </a:solidFill>
              <a:latin typeface="Calibri"/>
              <a:ea typeface="Calibri"/>
              <a:cs typeface="Calibri"/>
              <a:sym typeface="Calibri"/>
            </a:endParaRPr>
          </a:p>
        </p:txBody>
      </p:sp>
      <p:sp>
        <p:nvSpPr>
          <p:cNvPr id="326" name="Google Shape;326;p4"/>
          <p:cNvSpPr/>
          <p:nvPr/>
        </p:nvSpPr>
        <p:spPr>
          <a:xfrm>
            <a:off x="1047640" y="1554317"/>
            <a:ext cx="16192613" cy="14111"/>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4"/>
          <p:cNvSpPr/>
          <p:nvPr/>
        </p:nvSpPr>
        <p:spPr>
          <a:xfrm>
            <a:off x="1047640" y="1835106"/>
            <a:ext cx="8064460" cy="452393"/>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250"/>
              <a:buFont typeface="Georgia"/>
              <a:buNone/>
            </a:pPr>
            <a:r>
              <a:rPr b="1" i="0" lang="en-US" sz="2250" u="none" cap="none" strike="noStrike">
                <a:solidFill>
                  <a:srgbClr val="111111"/>
                </a:solidFill>
                <a:latin typeface="Georgia"/>
                <a:ea typeface="Georgia"/>
                <a:cs typeface="Georgia"/>
                <a:sym typeface="Georgia"/>
              </a:rPr>
              <a:t>Steps</a:t>
            </a:r>
            <a:endParaRPr b="0" i="0" sz="2250" u="none" cap="none" strike="noStrike">
              <a:solidFill>
                <a:schemeClr val="dk1"/>
              </a:solidFill>
              <a:latin typeface="Calibri"/>
              <a:ea typeface="Calibri"/>
              <a:cs typeface="Calibri"/>
              <a:sym typeface="Calibri"/>
            </a:endParaRPr>
          </a:p>
        </p:txBody>
      </p:sp>
      <p:sp>
        <p:nvSpPr>
          <p:cNvPr id="328" name="Google Shape;328;p4"/>
          <p:cNvSpPr/>
          <p:nvPr/>
        </p:nvSpPr>
        <p:spPr>
          <a:xfrm>
            <a:off x="1165650" y="2363600"/>
            <a:ext cx="7937400" cy="811200"/>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Find every player log file across the human Hold'em channels:</a:t>
            </a:r>
            <a:endParaRPr sz="2100">
              <a:solidFill>
                <a:srgbClr val="111111"/>
              </a:solidFill>
              <a:latin typeface="Georgia"/>
              <a:ea typeface="Georgia"/>
              <a:cs typeface="Georgia"/>
              <a:sym typeface="Georgia"/>
            </a:endParaRPr>
          </a:p>
          <a:p>
            <a:pPr indent="-361950" lvl="1" marL="914400" marR="0" rtl="0" algn="l">
              <a:lnSpc>
                <a:spcPct val="145000"/>
              </a:lnSpc>
              <a:spcBef>
                <a:spcPts val="0"/>
              </a:spcBef>
              <a:spcAft>
                <a:spcPts val="0"/>
              </a:spcAft>
              <a:buClr>
                <a:srgbClr val="111111"/>
              </a:buClr>
              <a:buSzPts val="2100"/>
              <a:buFont typeface="Georgia"/>
              <a:buChar char="○"/>
            </a:pPr>
            <a:r>
              <a:rPr b="1" i="0" lang="en-US" sz="2100" u="none" cap="none" strike="noStrike">
                <a:solidFill>
                  <a:srgbClr val="111111"/>
                </a:solidFill>
                <a:latin typeface="Georgia"/>
                <a:ea typeface="Georgia"/>
                <a:cs typeface="Georgia"/>
                <a:sym typeface="Georgia"/>
              </a:rPr>
              <a:t>83,815 files</a:t>
            </a:r>
            <a:endParaRPr b="0" i="0" sz="2100" u="none" cap="none" strike="noStrike">
              <a:solidFill>
                <a:schemeClr val="dk1"/>
              </a:solidFill>
              <a:latin typeface="Calibri"/>
              <a:ea typeface="Calibri"/>
              <a:cs typeface="Calibri"/>
              <a:sym typeface="Calibri"/>
            </a:endParaRPr>
          </a:p>
        </p:txBody>
      </p:sp>
      <p:sp>
        <p:nvSpPr>
          <p:cNvPr id="329" name="Google Shape;329;p4"/>
          <p:cNvSpPr/>
          <p:nvPr/>
        </p:nvSpPr>
        <p:spPr>
          <a:xfrm>
            <a:off x="1165662" y="3251068"/>
            <a:ext cx="7937297" cy="811345"/>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Parse each line into a record: player, hand id, position, and the action string for each round</a:t>
            </a:r>
            <a:endParaRPr b="0" i="0" sz="2100" u="none" cap="none" strike="noStrike">
              <a:solidFill>
                <a:schemeClr val="dk1"/>
              </a:solidFill>
              <a:latin typeface="Calibri"/>
              <a:ea typeface="Calibri"/>
              <a:cs typeface="Calibri"/>
              <a:sym typeface="Calibri"/>
            </a:endParaRPr>
          </a:p>
        </p:txBody>
      </p:sp>
      <p:sp>
        <p:nvSpPr>
          <p:cNvPr id="330" name="Google Shape;330;p4"/>
          <p:cNvSpPr/>
          <p:nvPr/>
        </p:nvSpPr>
        <p:spPr>
          <a:xfrm>
            <a:off x="1209147" y="4206750"/>
            <a:ext cx="7937400" cy="4808700"/>
          </a:xfrm>
          <a:prstGeom prst="rect">
            <a:avLst/>
          </a:prstGeom>
          <a:noFill/>
          <a:ln>
            <a:noFill/>
          </a:ln>
        </p:spPr>
        <p:txBody>
          <a:bodyPr anchorCtr="0" anchor="t" bIns="0" lIns="0" spcFirstLastPara="1" rIns="0" wrap="square" tIns="0">
            <a:normAutofit/>
          </a:bodyPr>
          <a:lstStyle/>
          <a:p>
            <a:pPr indent="-361950" lvl="0" marL="457200" rtl="0" algn="l">
              <a:lnSpc>
                <a:spcPct val="145000"/>
              </a:lnSpc>
              <a:spcBef>
                <a:spcPts val="0"/>
              </a:spcBef>
              <a:spcAft>
                <a:spcPts val="0"/>
              </a:spcAft>
              <a:buClr>
                <a:srgbClr val="111111"/>
              </a:buClr>
              <a:buSzPts val="2100"/>
              <a:buFont typeface="Georgia"/>
              <a:buChar char="●"/>
            </a:pPr>
            <a:r>
              <a:rPr lang="en-US" sz="2100">
                <a:solidFill>
                  <a:srgbClr val="111111"/>
                </a:solidFill>
                <a:latin typeface="Georgia"/>
                <a:ea typeface="Georgia"/>
                <a:cs typeface="Georgia"/>
                <a:sym typeface="Georgia"/>
              </a:rPr>
              <a:t>From the preflop action string, compute two flags per hand</a:t>
            </a:r>
            <a:endParaRPr sz="2100">
              <a:solidFill>
                <a:srgbClr val="111111"/>
              </a:solidFill>
              <a:latin typeface="Georgia"/>
              <a:ea typeface="Georgia"/>
              <a:cs typeface="Georgia"/>
              <a:sym typeface="Georgia"/>
            </a:endParaRPr>
          </a:p>
          <a:p>
            <a:pPr indent="-361950" lvl="1" marL="914400" rtl="0" algn="l">
              <a:lnSpc>
                <a:spcPct val="145000"/>
              </a:lnSpc>
              <a:spcBef>
                <a:spcPts val="0"/>
              </a:spcBef>
              <a:spcAft>
                <a:spcPts val="0"/>
              </a:spcAft>
              <a:buClr>
                <a:srgbClr val="111111"/>
              </a:buClr>
              <a:buSzPts val="2100"/>
              <a:buFont typeface="Georgia"/>
              <a:buChar char="○"/>
            </a:pPr>
            <a:r>
              <a:rPr b="1" lang="en-US" sz="2100">
                <a:solidFill>
                  <a:srgbClr val="111111"/>
                </a:solidFill>
                <a:latin typeface="Georgia"/>
                <a:ea typeface="Georgia"/>
                <a:cs typeface="Georgia"/>
                <a:sym typeface="Georgia"/>
              </a:rPr>
              <a:t>VPIP</a:t>
            </a:r>
            <a:r>
              <a:rPr lang="en-US" sz="2100">
                <a:solidFill>
                  <a:srgbClr val="111111"/>
                </a:solidFill>
                <a:latin typeface="Georgia"/>
                <a:ea typeface="Georgia"/>
                <a:cs typeface="Georgia"/>
                <a:sym typeface="Georgia"/>
              </a:rPr>
              <a:t>: percentage of hands in which player voluntarily puts money into the pot preflop</a:t>
            </a:r>
            <a:endParaRPr sz="2100">
              <a:solidFill>
                <a:srgbClr val="111111"/>
              </a:solidFill>
              <a:latin typeface="Georgia"/>
              <a:ea typeface="Georgia"/>
              <a:cs typeface="Georgia"/>
              <a:sym typeface="Georgia"/>
            </a:endParaRPr>
          </a:p>
          <a:p>
            <a:pPr indent="-361950" lvl="2" marL="1371600" rtl="0" algn="l">
              <a:lnSpc>
                <a:spcPct val="145000"/>
              </a:lnSpc>
              <a:spcBef>
                <a:spcPts val="0"/>
              </a:spcBef>
              <a:spcAft>
                <a:spcPts val="0"/>
              </a:spcAft>
              <a:buClr>
                <a:srgbClr val="111111"/>
              </a:buClr>
              <a:buSzPts val="2100"/>
              <a:buFont typeface="Georgia"/>
              <a:buChar char="■"/>
            </a:pPr>
            <a:r>
              <a:rPr lang="en-US" sz="2100">
                <a:solidFill>
                  <a:srgbClr val="111111"/>
                </a:solidFill>
                <a:latin typeface="Georgia"/>
                <a:ea typeface="Georgia"/>
                <a:cs typeface="Georgia"/>
                <a:sym typeface="Georgia"/>
              </a:rPr>
              <a:t>How “tightly” a person plays</a:t>
            </a:r>
            <a:endParaRPr sz="2100">
              <a:solidFill>
                <a:srgbClr val="111111"/>
              </a:solidFill>
              <a:latin typeface="Georgia"/>
              <a:ea typeface="Georgia"/>
              <a:cs typeface="Georgia"/>
              <a:sym typeface="Georgia"/>
            </a:endParaRPr>
          </a:p>
          <a:p>
            <a:pPr indent="-361950" lvl="1" marL="914400" rtl="0" algn="l">
              <a:lnSpc>
                <a:spcPct val="145000"/>
              </a:lnSpc>
              <a:spcBef>
                <a:spcPts val="0"/>
              </a:spcBef>
              <a:spcAft>
                <a:spcPts val="0"/>
              </a:spcAft>
              <a:buClr>
                <a:srgbClr val="111111"/>
              </a:buClr>
              <a:buSzPts val="2100"/>
              <a:buFont typeface="Georgia"/>
              <a:buChar char="○"/>
            </a:pPr>
            <a:r>
              <a:rPr b="1" lang="en-US" sz="2100">
                <a:solidFill>
                  <a:srgbClr val="111111"/>
                </a:solidFill>
                <a:latin typeface="Georgia"/>
                <a:ea typeface="Georgia"/>
                <a:cs typeface="Georgia"/>
                <a:sym typeface="Georgia"/>
              </a:rPr>
              <a:t>PFR</a:t>
            </a:r>
            <a:r>
              <a:rPr lang="en-US" sz="2100">
                <a:solidFill>
                  <a:srgbClr val="111111"/>
                </a:solidFill>
                <a:latin typeface="Georgia"/>
                <a:ea typeface="Georgia"/>
                <a:cs typeface="Georgia"/>
                <a:sym typeface="Georgia"/>
              </a:rPr>
              <a:t>: percentage of hands player makes preflop raise</a:t>
            </a:r>
            <a:endParaRPr sz="2100">
              <a:solidFill>
                <a:srgbClr val="111111"/>
              </a:solidFill>
              <a:latin typeface="Georgia"/>
              <a:ea typeface="Georgia"/>
              <a:cs typeface="Georgia"/>
              <a:sym typeface="Georgia"/>
            </a:endParaRPr>
          </a:p>
          <a:p>
            <a:pPr indent="-361950" lvl="0" marL="457200" rtl="0" algn="l">
              <a:lnSpc>
                <a:spcPct val="145000"/>
              </a:lnSpc>
              <a:spcBef>
                <a:spcPts val="0"/>
              </a:spcBef>
              <a:spcAft>
                <a:spcPts val="0"/>
              </a:spcAft>
              <a:buClr>
                <a:srgbClr val="111111"/>
              </a:buClr>
              <a:buSzPts val="2100"/>
              <a:buFont typeface="Georgia"/>
              <a:buChar char="●"/>
            </a:pPr>
            <a:r>
              <a:rPr lang="en-US" sz="2100">
                <a:solidFill>
                  <a:srgbClr val="111111"/>
                </a:solidFill>
                <a:latin typeface="Georgia"/>
                <a:ea typeface="Georgia"/>
                <a:cs typeface="Georgia"/>
                <a:sym typeface="Georgia"/>
              </a:rPr>
              <a:t>Add up flags per player to get VPIP and PFR percentages</a:t>
            </a:r>
            <a:endParaRPr sz="2100">
              <a:solidFill>
                <a:srgbClr val="111111"/>
              </a:solidFill>
              <a:latin typeface="Georgia"/>
              <a:ea typeface="Georgia"/>
              <a:cs typeface="Georgia"/>
              <a:sym typeface="Georgia"/>
            </a:endParaRPr>
          </a:p>
          <a:p>
            <a:pPr indent="-361950" lvl="0" marL="457200" rtl="0" algn="l">
              <a:lnSpc>
                <a:spcPct val="145000"/>
              </a:lnSpc>
              <a:spcBef>
                <a:spcPts val="0"/>
              </a:spcBef>
              <a:spcAft>
                <a:spcPts val="0"/>
              </a:spcAft>
              <a:buClr>
                <a:srgbClr val="111111"/>
              </a:buClr>
              <a:buSzPts val="2100"/>
              <a:buFont typeface="Georgia"/>
              <a:buChar char="●"/>
            </a:pPr>
            <a:r>
              <a:rPr lang="en-US" sz="2100">
                <a:solidFill>
                  <a:srgbClr val="111111"/>
                </a:solidFill>
                <a:latin typeface="Georgia"/>
                <a:ea typeface="Georgia"/>
                <a:cs typeface="Georgia"/>
                <a:sym typeface="Georgia"/>
              </a:rPr>
              <a:t>Keep only player with at least 30 hands</a:t>
            </a:r>
            <a:endParaRPr sz="2100">
              <a:solidFill>
                <a:srgbClr val="111111"/>
              </a:solidFill>
              <a:latin typeface="Georgia"/>
              <a:ea typeface="Georgia"/>
              <a:cs typeface="Georgia"/>
              <a:sym typeface="Georgia"/>
            </a:endParaRPr>
          </a:p>
          <a:p>
            <a:pPr indent="-361950" lvl="0" marL="457200" rtl="0" algn="l">
              <a:lnSpc>
                <a:spcPct val="145000"/>
              </a:lnSpc>
              <a:spcBef>
                <a:spcPts val="0"/>
              </a:spcBef>
              <a:spcAft>
                <a:spcPts val="0"/>
              </a:spcAft>
              <a:buClr>
                <a:srgbClr val="111111"/>
              </a:buClr>
              <a:buSzPts val="2100"/>
              <a:buFont typeface="Georgia"/>
              <a:buChar char="●"/>
            </a:pPr>
            <a:r>
              <a:rPr lang="en-US" sz="2100">
                <a:solidFill>
                  <a:srgbClr val="111111"/>
                </a:solidFill>
                <a:latin typeface="Georgia"/>
                <a:ea typeface="Georgia"/>
                <a:cs typeface="Georgia"/>
                <a:sym typeface="Georgia"/>
              </a:rPr>
              <a:t>Standardize VPIP and PFR before clustering</a:t>
            </a:r>
            <a:endParaRPr sz="2100">
              <a:solidFill>
                <a:srgbClr val="111111"/>
              </a:solidFill>
              <a:latin typeface="Georgia"/>
              <a:ea typeface="Georgia"/>
              <a:cs typeface="Georgia"/>
              <a:sym typeface="Georgia"/>
            </a:endParaRPr>
          </a:p>
        </p:txBody>
      </p:sp>
      <p:sp>
        <p:nvSpPr>
          <p:cNvPr id="331" name="Google Shape;331;p4"/>
          <p:cNvSpPr/>
          <p:nvPr/>
        </p:nvSpPr>
        <p:spPr>
          <a:xfrm>
            <a:off x="9410569" y="1835106"/>
            <a:ext cx="8064600" cy="45240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250"/>
              <a:buFont typeface="Georgia"/>
              <a:buNone/>
            </a:pPr>
            <a:r>
              <a:rPr b="1" i="0" lang="en-US" sz="2250" u="none" cap="none" strike="noStrike">
                <a:solidFill>
                  <a:srgbClr val="111111"/>
                </a:solidFill>
                <a:latin typeface="Georgia"/>
                <a:ea typeface="Georgia"/>
                <a:cs typeface="Georgia"/>
                <a:sym typeface="Georgia"/>
              </a:rPr>
              <a:t>Filtering</a:t>
            </a:r>
            <a:endParaRPr b="0" i="0" sz="2250" u="none" cap="none" strike="noStrike">
              <a:solidFill>
                <a:schemeClr val="dk1"/>
              </a:solidFill>
              <a:latin typeface="Calibri"/>
              <a:ea typeface="Calibri"/>
              <a:cs typeface="Calibri"/>
              <a:sym typeface="Calibri"/>
            </a:endParaRPr>
          </a:p>
        </p:txBody>
      </p:sp>
      <p:sp>
        <p:nvSpPr>
          <p:cNvPr id="332" name="Google Shape;332;p4"/>
          <p:cNvSpPr/>
          <p:nvPr/>
        </p:nvSpPr>
        <p:spPr>
          <a:xfrm>
            <a:off x="9528591" y="2363611"/>
            <a:ext cx="7937400" cy="42480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100"/>
              <a:buFont typeface="Georgia"/>
              <a:buNone/>
            </a:pPr>
            <a:r>
              <a:rPr b="0" i="0" lang="en-US" sz="2100" u="none" cap="none" strike="noStrike">
                <a:solidFill>
                  <a:srgbClr val="111111"/>
                </a:solidFill>
                <a:latin typeface="Georgia"/>
                <a:ea typeface="Georgia"/>
                <a:cs typeface="Georgia"/>
                <a:sym typeface="Georgia"/>
              </a:rPr>
              <a:t>Players before filter: </a:t>
            </a:r>
            <a:r>
              <a:rPr b="1" i="0" lang="en-US" sz="2100" u="none" cap="none" strike="noStrike">
                <a:solidFill>
                  <a:srgbClr val="111111"/>
                </a:solidFill>
                <a:latin typeface="Georgia"/>
                <a:ea typeface="Georgia"/>
                <a:cs typeface="Georgia"/>
                <a:sym typeface="Georgia"/>
              </a:rPr>
              <a:t>24,786</a:t>
            </a:r>
            <a:endParaRPr b="0" i="0" sz="2100" u="none" cap="none" strike="noStrike">
              <a:solidFill>
                <a:schemeClr val="dk1"/>
              </a:solidFill>
              <a:latin typeface="Calibri"/>
              <a:ea typeface="Calibri"/>
              <a:cs typeface="Calibri"/>
              <a:sym typeface="Calibri"/>
            </a:endParaRPr>
          </a:p>
        </p:txBody>
      </p:sp>
      <p:sp>
        <p:nvSpPr>
          <p:cNvPr id="333" name="Google Shape;333;p4"/>
          <p:cNvSpPr/>
          <p:nvPr/>
        </p:nvSpPr>
        <p:spPr>
          <a:xfrm>
            <a:off x="9528591" y="2864446"/>
            <a:ext cx="7937400" cy="42480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100"/>
              <a:buFont typeface="Georgia"/>
              <a:buNone/>
            </a:pPr>
            <a:r>
              <a:rPr b="0" i="0" lang="en-US" sz="2100" u="none" cap="none" strike="noStrike">
                <a:solidFill>
                  <a:srgbClr val="111111"/>
                </a:solidFill>
                <a:latin typeface="Georgia"/>
                <a:ea typeface="Georgia"/>
                <a:cs typeface="Georgia"/>
                <a:sym typeface="Georgia"/>
              </a:rPr>
              <a:t>Removed (less than 30 hands): </a:t>
            </a:r>
            <a:r>
              <a:rPr b="1" i="0" lang="en-US" sz="2100" u="none" cap="none" strike="noStrike">
                <a:solidFill>
                  <a:srgbClr val="111111"/>
                </a:solidFill>
                <a:latin typeface="Georgia"/>
                <a:ea typeface="Georgia"/>
                <a:cs typeface="Georgia"/>
                <a:sym typeface="Georgia"/>
              </a:rPr>
              <a:t>8,347</a:t>
            </a:r>
            <a:endParaRPr b="0" i="0" sz="2100" u="none" cap="none" strike="noStrike">
              <a:solidFill>
                <a:schemeClr val="dk1"/>
              </a:solidFill>
              <a:latin typeface="Calibri"/>
              <a:ea typeface="Calibri"/>
              <a:cs typeface="Calibri"/>
              <a:sym typeface="Calibri"/>
            </a:endParaRPr>
          </a:p>
        </p:txBody>
      </p:sp>
      <p:sp>
        <p:nvSpPr>
          <p:cNvPr id="334" name="Google Shape;334;p4"/>
          <p:cNvSpPr/>
          <p:nvPr/>
        </p:nvSpPr>
        <p:spPr>
          <a:xfrm>
            <a:off x="9528591" y="3365280"/>
            <a:ext cx="7937400" cy="42480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100"/>
              <a:buFont typeface="Georgia"/>
              <a:buNone/>
            </a:pPr>
            <a:r>
              <a:rPr b="0" i="0" lang="en-US" sz="2100" u="none" cap="none" strike="noStrike">
                <a:solidFill>
                  <a:srgbClr val="111111"/>
                </a:solidFill>
                <a:latin typeface="Georgia"/>
                <a:ea typeface="Georgia"/>
                <a:cs typeface="Georgia"/>
                <a:sym typeface="Georgia"/>
              </a:rPr>
              <a:t>Players used for clustering: </a:t>
            </a:r>
            <a:r>
              <a:rPr b="1" i="0" lang="en-US" sz="2100" u="none" cap="none" strike="noStrike">
                <a:solidFill>
                  <a:srgbClr val="111111"/>
                </a:solidFill>
                <a:latin typeface="Georgia"/>
                <a:ea typeface="Georgia"/>
                <a:cs typeface="Georgia"/>
                <a:sym typeface="Georgia"/>
              </a:rPr>
              <a:t>16,439</a:t>
            </a:r>
            <a:endParaRPr b="0" i="0" sz="2100" u="none" cap="none" strike="noStrike">
              <a:solidFill>
                <a:schemeClr val="dk1"/>
              </a:solidFill>
              <a:latin typeface="Calibri"/>
              <a:ea typeface="Calibri"/>
              <a:cs typeface="Calibri"/>
              <a:sym typeface="Calibri"/>
            </a:endParaRPr>
          </a:p>
        </p:txBody>
      </p:sp>
      <p:sp>
        <p:nvSpPr>
          <p:cNvPr id="335" name="Google Shape;335;p4"/>
          <p:cNvSpPr/>
          <p:nvPr/>
        </p:nvSpPr>
        <p:spPr>
          <a:xfrm>
            <a:off x="9410569" y="3942292"/>
            <a:ext cx="8064600" cy="45240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250"/>
              <a:buFont typeface="Georgia"/>
              <a:buNone/>
            </a:pPr>
            <a:r>
              <a:rPr b="1" i="0" lang="en-US" sz="2250" u="none" cap="none" strike="noStrike">
                <a:solidFill>
                  <a:srgbClr val="111111"/>
                </a:solidFill>
                <a:latin typeface="Georgia"/>
                <a:ea typeface="Georgia"/>
                <a:cs typeface="Georgia"/>
                <a:sym typeface="Georgia"/>
              </a:rPr>
              <a:t>Channels included</a:t>
            </a:r>
            <a:endParaRPr b="0" i="0" sz="2250" u="none" cap="none" strike="noStrike">
              <a:solidFill>
                <a:schemeClr val="dk1"/>
              </a:solidFill>
              <a:latin typeface="Calibri"/>
              <a:ea typeface="Calibri"/>
              <a:cs typeface="Calibri"/>
              <a:sym typeface="Calibri"/>
            </a:endParaRPr>
          </a:p>
        </p:txBody>
      </p:sp>
      <p:sp>
        <p:nvSpPr>
          <p:cNvPr id="336" name="Google Shape;336;p4"/>
          <p:cNvSpPr/>
          <p:nvPr/>
        </p:nvSpPr>
        <p:spPr>
          <a:xfrm>
            <a:off x="9528591" y="4470797"/>
            <a:ext cx="7788000" cy="1312200"/>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holdem, holdem1, holdemii</a:t>
            </a:r>
            <a:endParaRPr sz="2100">
              <a:solidFill>
                <a:srgbClr val="111111"/>
              </a:solidFill>
              <a:latin typeface="Georgia"/>
              <a:ea typeface="Georgia"/>
              <a:cs typeface="Georgia"/>
              <a:sym typeface="Georgia"/>
            </a:endParaRPr>
          </a:p>
          <a:p>
            <a:pPr indent="0" lvl="0" marL="457200" marR="0" rtl="0" algn="l">
              <a:lnSpc>
                <a:spcPct val="145000"/>
              </a:lnSpc>
              <a:spcBef>
                <a:spcPts val="0"/>
              </a:spcBef>
              <a:spcAft>
                <a:spcPts val="0"/>
              </a:spcAft>
              <a:buNone/>
            </a:pPr>
            <a:r>
              <a:t/>
            </a:r>
            <a:endParaRPr b="0" i="0" sz="2100" u="none" cap="none" strike="noStrike">
              <a:solidFill>
                <a:schemeClr val="dk1"/>
              </a:solidFill>
              <a:latin typeface="Calibri"/>
              <a:ea typeface="Calibri"/>
              <a:cs typeface="Calibri"/>
              <a:sym typeface="Calibri"/>
            </a:endParaRPr>
          </a:p>
        </p:txBody>
      </p:sp>
      <p:sp>
        <p:nvSpPr>
          <p:cNvPr id="337" name="Google Shape;337;p4"/>
          <p:cNvSpPr/>
          <p:nvPr/>
        </p:nvSpPr>
        <p:spPr>
          <a:xfrm>
            <a:off x="1047640" y="9159766"/>
            <a:ext cx="16192613"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8" name="Google Shape;338;p4"/>
          <p:cNvPicPr preferRelativeResize="0"/>
          <p:nvPr/>
        </p:nvPicPr>
        <p:blipFill>
          <a:blip r:embed="rId3">
            <a:alphaModFix/>
          </a:blip>
          <a:stretch>
            <a:fillRect/>
          </a:stretch>
        </p:blipFill>
        <p:spPr>
          <a:xfrm>
            <a:off x="10240269" y="5088775"/>
            <a:ext cx="6112457" cy="3926675"/>
          </a:xfrm>
          <a:prstGeom prst="rect">
            <a:avLst/>
          </a:prstGeom>
          <a:noFill/>
          <a:ln>
            <a:noFill/>
          </a:ln>
        </p:spPr>
      </p:pic>
      <p:pic>
        <p:nvPicPr>
          <p:cNvPr id="339" name="Google Shape;339;p4"/>
          <p:cNvPicPr preferRelativeResize="0"/>
          <p:nvPr/>
        </p:nvPicPr>
        <p:blipFill>
          <a:blip r:embed="rId4">
            <a:alphaModFix/>
          </a:blip>
          <a:stretch>
            <a:fillRect/>
          </a:stretch>
        </p:blipFill>
        <p:spPr>
          <a:xfrm>
            <a:off x="16828688" y="375185"/>
            <a:ext cx="1162250" cy="1261872"/>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4" name="Shape 344"/>
        <p:cNvGrpSpPr/>
        <p:nvPr/>
      </p:nvGrpSpPr>
      <p:grpSpPr>
        <a:xfrm>
          <a:off x="0" y="0"/>
          <a:ext cx="0" cy="0"/>
          <a:chOff x="0" y="0"/>
          <a:chExt cx="0" cy="0"/>
        </a:xfrm>
      </p:grpSpPr>
      <p:pic>
        <p:nvPicPr>
          <p:cNvPr id="345" name="Google Shape;345;p5"/>
          <p:cNvPicPr preferRelativeResize="0"/>
          <p:nvPr/>
        </p:nvPicPr>
        <p:blipFill>
          <a:blip r:embed="rId3">
            <a:alphaModFix/>
          </a:blip>
          <a:stretch>
            <a:fillRect/>
          </a:stretch>
        </p:blipFill>
        <p:spPr>
          <a:xfrm>
            <a:off x="16849850" y="376175"/>
            <a:ext cx="1119925" cy="1259900"/>
          </a:xfrm>
          <a:prstGeom prst="rect">
            <a:avLst/>
          </a:prstGeom>
          <a:noFill/>
          <a:ln>
            <a:noFill/>
          </a:ln>
        </p:spPr>
      </p:pic>
      <p:sp>
        <p:nvSpPr>
          <p:cNvPr id="346" name="Google Shape;346;p5"/>
          <p:cNvSpPr/>
          <p:nvPr/>
        </p:nvSpPr>
        <p:spPr>
          <a:xfrm>
            <a:off x="1047640" y="761890"/>
            <a:ext cx="16678391" cy="563849"/>
          </a:xfrm>
          <a:prstGeom prst="rect">
            <a:avLst/>
          </a:prstGeom>
          <a:noFill/>
          <a:ln>
            <a:noFill/>
          </a:ln>
        </p:spPr>
        <p:txBody>
          <a:bodyPr anchorCtr="0" anchor="t" bIns="25400" lIns="25400" spcFirstLastPara="1" rIns="25400" wrap="square" tIns="25400">
            <a:normAutofit/>
          </a:bodyPr>
          <a:lstStyle/>
          <a:p>
            <a:pPr indent="0" lvl="0" marL="0" marR="0" rtl="0" algn="l">
              <a:lnSpc>
                <a:spcPct val="115000"/>
              </a:lnSpc>
              <a:spcBef>
                <a:spcPts val="0"/>
              </a:spcBef>
              <a:spcAft>
                <a:spcPts val="0"/>
              </a:spcAft>
              <a:buClr>
                <a:srgbClr val="111111"/>
              </a:buClr>
              <a:buSzPts val="3600"/>
              <a:buFont typeface="Georgia"/>
              <a:buNone/>
            </a:pPr>
            <a:r>
              <a:rPr b="0" i="0" lang="en-US" sz="3600" u="none" cap="none" strike="noStrike">
                <a:solidFill>
                  <a:srgbClr val="111111"/>
                </a:solidFill>
                <a:latin typeface="Georgia"/>
                <a:ea typeface="Georgia"/>
                <a:cs typeface="Georgia"/>
                <a:sym typeface="Georgia"/>
              </a:rPr>
              <a:t>Methodology</a:t>
            </a:r>
            <a:r>
              <a:rPr lang="en-US" sz="3600">
                <a:solidFill>
                  <a:srgbClr val="111111"/>
                </a:solidFill>
                <a:latin typeface="Georgia"/>
                <a:ea typeface="Georgia"/>
                <a:cs typeface="Georgia"/>
                <a:sym typeface="Georgia"/>
              </a:rPr>
              <a:t>: </a:t>
            </a:r>
            <a:r>
              <a:rPr b="0" i="0" lang="en-US" sz="3600" u="none" cap="none" strike="noStrike">
                <a:solidFill>
                  <a:srgbClr val="111111"/>
                </a:solidFill>
                <a:latin typeface="Georgia"/>
                <a:ea typeface="Georgia"/>
                <a:cs typeface="Georgia"/>
                <a:sym typeface="Georgia"/>
              </a:rPr>
              <a:t> Two Approaches</a:t>
            </a:r>
            <a:endParaRPr b="0" i="0" sz="3600" u="none" cap="none" strike="noStrike">
              <a:solidFill>
                <a:schemeClr val="dk1"/>
              </a:solidFill>
              <a:latin typeface="Calibri"/>
              <a:ea typeface="Calibri"/>
              <a:cs typeface="Calibri"/>
              <a:sym typeface="Calibri"/>
            </a:endParaRPr>
          </a:p>
        </p:txBody>
      </p:sp>
      <p:sp>
        <p:nvSpPr>
          <p:cNvPr id="347" name="Google Shape;347;p5"/>
          <p:cNvSpPr/>
          <p:nvPr/>
        </p:nvSpPr>
        <p:spPr>
          <a:xfrm>
            <a:off x="1047640" y="1554317"/>
            <a:ext cx="16192613" cy="14111"/>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5"/>
          <p:cNvSpPr/>
          <p:nvPr/>
        </p:nvSpPr>
        <p:spPr>
          <a:xfrm>
            <a:off x="1047640" y="1835106"/>
            <a:ext cx="8064460" cy="452393"/>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250"/>
              <a:buFont typeface="Georgia"/>
              <a:buNone/>
            </a:pPr>
            <a:r>
              <a:rPr b="1" i="0" lang="en-US" sz="2250" u="none" cap="none" strike="noStrike">
                <a:solidFill>
                  <a:srgbClr val="111111"/>
                </a:solidFill>
                <a:latin typeface="Georgia"/>
                <a:ea typeface="Georgia"/>
                <a:cs typeface="Georgia"/>
                <a:sym typeface="Georgia"/>
              </a:rPr>
              <a:t>A</a:t>
            </a:r>
            <a:r>
              <a:rPr b="1" lang="en-US" sz="2250">
                <a:solidFill>
                  <a:srgbClr val="111111"/>
                </a:solidFill>
                <a:latin typeface="Georgia"/>
                <a:ea typeface="Georgia"/>
                <a:cs typeface="Georgia"/>
                <a:sym typeface="Georgia"/>
              </a:rPr>
              <a:t>) </a:t>
            </a:r>
            <a:r>
              <a:rPr b="1" i="0" lang="en-US" sz="2250" u="none" cap="none" strike="noStrike">
                <a:solidFill>
                  <a:srgbClr val="111111"/>
                </a:solidFill>
                <a:latin typeface="Georgia"/>
                <a:ea typeface="Georgia"/>
                <a:cs typeface="Georgia"/>
                <a:sym typeface="Georgia"/>
              </a:rPr>
              <a:t> Heuristic baseline</a:t>
            </a:r>
            <a:endParaRPr b="0" i="0" sz="2250" u="none" cap="none" strike="noStrike">
              <a:solidFill>
                <a:schemeClr val="dk1"/>
              </a:solidFill>
              <a:latin typeface="Calibri"/>
              <a:ea typeface="Calibri"/>
              <a:cs typeface="Calibri"/>
              <a:sym typeface="Calibri"/>
            </a:endParaRPr>
          </a:p>
        </p:txBody>
      </p:sp>
      <p:sp>
        <p:nvSpPr>
          <p:cNvPr id="349" name="Google Shape;349;p5"/>
          <p:cNvSpPr/>
          <p:nvPr/>
        </p:nvSpPr>
        <p:spPr>
          <a:xfrm>
            <a:off x="1165662" y="2363611"/>
            <a:ext cx="7937297" cy="424722"/>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Fixed cut-offs:</a:t>
            </a:r>
            <a:r>
              <a:rPr lang="en-US" sz="2100">
                <a:solidFill>
                  <a:srgbClr val="111111"/>
                </a:solidFill>
                <a:latin typeface="Georgia"/>
                <a:ea typeface="Georgia"/>
                <a:cs typeface="Georgia"/>
                <a:sym typeface="Georgia"/>
              </a:rPr>
              <a:t> </a:t>
            </a:r>
            <a:r>
              <a:rPr b="0" i="0" lang="en-US" sz="2100" u="none" cap="none" strike="noStrike">
                <a:solidFill>
                  <a:srgbClr val="111111"/>
                </a:solidFill>
                <a:latin typeface="Georgia"/>
                <a:ea typeface="Georgia"/>
                <a:cs typeface="Georgia"/>
                <a:sym typeface="Georgia"/>
              </a:rPr>
              <a:t>VPIP = 25%, PFR = 15%.</a:t>
            </a:r>
            <a:endParaRPr b="0" i="0" sz="2100" u="none" cap="none" strike="noStrike">
              <a:solidFill>
                <a:srgbClr val="111111"/>
              </a:solidFill>
              <a:latin typeface="Georgia"/>
              <a:ea typeface="Georgia"/>
              <a:cs typeface="Georgia"/>
              <a:sym typeface="Georgia"/>
            </a:endParaRPr>
          </a:p>
          <a:p>
            <a:pPr indent="0" lvl="0" marL="0" marR="0" rtl="0" algn="l">
              <a:lnSpc>
                <a:spcPct val="145000"/>
              </a:lnSpc>
              <a:spcBef>
                <a:spcPts val="0"/>
              </a:spcBef>
              <a:spcAft>
                <a:spcPts val="0"/>
              </a:spcAft>
              <a:buNone/>
            </a:pPr>
            <a:r>
              <a:t/>
            </a:r>
            <a:endParaRPr sz="2100">
              <a:solidFill>
                <a:srgbClr val="111111"/>
              </a:solidFill>
              <a:latin typeface="Georgia"/>
              <a:ea typeface="Georgia"/>
              <a:cs typeface="Georgia"/>
              <a:sym typeface="Georgia"/>
            </a:endParaRPr>
          </a:p>
          <a:p>
            <a:pPr indent="0" lvl="0" marL="0" marR="0" rtl="0" algn="l">
              <a:lnSpc>
                <a:spcPct val="145000"/>
              </a:lnSpc>
              <a:spcBef>
                <a:spcPts val="0"/>
              </a:spcBef>
              <a:spcAft>
                <a:spcPts val="0"/>
              </a:spcAft>
              <a:buNone/>
            </a:pPr>
            <a:r>
              <a:t/>
            </a:r>
            <a:endParaRPr sz="2100">
              <a:solidFill>
                <a:srgbClr val="111111"/>
              </a:solidFill>
              <a:latin typeface="Georgia"/>
              <a:ea typeface="Georgia"/>
              <a:cs typeface="Georgia"/>
              <a:sym typeface="Georgia"/>
            </a:endParaRPr>
          </a:p>
          <a:p>
            <a:pPr indent="0" lvl="0" marL="0" marR="0" rtl="0" algn="l">
              <a:lnSpc>
                <a:spcPct val="145000"/>
              </a:lnSpc>
              <a:spcBef>
                <a:spcPts val="0"/>
              </a:spcBef>
              <a:spcAft>
                <a:spcPts val="0"/>
              </a:spcAft>
              <a:buNone/>
            </a:pPr>
            <a:r>
              <a:t/>
            </a:r>
            <a:endParaRPr sz="2100">
              <a:solidFill>
                <a:srgbClr val="111111"/>
              </a:solidFill>
              <a:latin typeface="Georgia"/>
              <a:ea typeface="Georgia"/>
              <a:cs typeface="Georgia"/>
              <a:sym typeface="Georgia"/>
            </a:endParaRPr>
          </a:p>
        </p:txBody>
      </p:sp>
      <p:sp>
        <p:nvSpPr>
          <p:cNvPr id="350" name="Google Shape;350;p5"/>
          <p:cNvSpPr/>
          <p:nvPr/>
        </p:nvSpPr>
        <p:spPr>
          <a:xfrm>
            <a:off x="1200100" y="5264552"/>
            <a:ext cx="5672400" cy="3336900"/>
          </a:xfrm>
          <a:prstGeom prst="rect">
            <a:avLst/>
          </a:prstGeom>
          <a:noFill/>
          <a:ln>
            <a:noFill/>
          </a:ln>
        </p:spPr>
        <p:txBody>
          <a:bodyPr anchorCtr="0" anchor="t" bIns="0" lIns="0" spcFirstLastPara="1" rIns="0" wrap="square" tIns="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Each player goes into one of four </a:t>
            </a:r>
            <a:r>
              <a:rPr lang="en-US" sz="2100">
                <a:solidFill>
                  <a:srgbClr val="111111"/>
                </a:solidFill>
                <a:latin typeface="Georgia"/>
                <a:ea typeface="Georgia"/>
                <a:cs typeface="Georgia"/>
                <a:sym typeface="Georgia"/>
              </a:rPr>
              <a:t>categories</a:t>
            </a:r>
            <a:r>
              <a:rPr b="0" i="0" lang="en-US" sz="2100" u="none" cap="none" strike="noStrike">
                <a:solidFill>
                  <a:srgbClr val="111111"/>
                </a:solidFill>
                <a:latin typeface="Georgia"/>
                <a:ea typeface="Georgia"/>
                <a:cs typeface="Georgia"/>
                <a:sym typeface="Georgia"/>
              </a:rPr>
              <a:t>:</a:t>
            </a:r>
            <a:endParaRPr b="0" i="0" sz="2100" u="none" cap="none" strike="noStrike">
              <a:solidFill>
                <a:srgbClr val="111111"/>
              </a:solidFill>
              <a:latin typeface="Georgia"/>
              <a:ea typeface="Georgia"/>
              <a:cs typeface="Georgia"/>
              <a:sym typeface="Georgia"/>
            </a:endParaRPr>
          </a:p>
          <a:p>
            <a:pPr indent="-361950" lvl="1" marL="914400" marR="0" rtl="0" algn="l">
              <a:lnSpc>
                <a:spcPct val="145000"/>
              </a:lnSpc>
              <a:spcBef>
                <a:spcPts val="0"/>
              </a:spcBef>
              <a:spcAft>
                <a:spcPts val="0"/>
              </a:spcAft>
              <a:buClr>
                <a:srgbClr val="111111"/>
              </a:buClr>
              <a:buSzPts val="2100"/>
              <a:buFont typeface="Georgia"/>
              <a:buChar char="○"/>
            </a:pPr>
            <a:r>
              <a:rPr b="1" lang="en-US" sz="2100">
                <a:solidFill>
                  <a:srgbClr val="111111"/>
                </a:solidFill>
                <a:latin typeface="Georgia"/>
                <a:ea typeface="Georgia"/>
                <a:cs typeface="Georgia"/>
                <a:sym typeface="Georgia"/>
              </a:rPr>
              <a:t>TAG: </a:t>
            </a:r>
            <a:r>
              <a:rPr lang="en-US" sz="2100">
                <a:solidFill>
                  <a:srgbClr val="111111"/>
                </a:solidFill>
                <a:latin typeface="Georgia"/>
                <a:ea typeface="Georgia"/>
                <a:cs typeface="Georgia"/>
                <a:sym typeface="Georgia"/>
              </a:rPr>
              <a:t>tight, aggressive </a:t>
            </a:r>
            <a:endParaRPr sz="2100">
              <a:solidFill>
                <a:srgbClr val="111111"/>
              </a:solidFill>
              <a:latin typeface="Georgia"/>
              <a:ea typeface="Georgia"/>
              <a:cs typeface="Georgia"/>
              <a:sym typeface="Georgia"/>
            </a:endParaRPr>
          </a:p>
          <a:p>
            <a:pPr indent="-361950" lvl="1" marL="914400" marR="0" rtl="0" algn="l">
              <a:lnSpc>
                <a:spcPct val="145000"/>
              </a:lnSpc>
              <a:spcBef>
                <a:spcPts val="0"/>
              </a:spcBef>
              <a:spcAft>
                <a:spcPts val="0"/>
              </a:spcAft>
              <a:buClr>
                <a:srgbClr val="111111"/>
              </a:buClr>
              <a:buSzPts val="2100"/>
              <a:buFont typeface="Georgia"/>
              <a:buChar char="○"/>
            </a:pPr>
            <a:r>
              <a:rPr b="1" lang="en-US" sz="2100">
                <a:solidFill>
                  <a:srgbClr val="111111"/>
                </a:solidFill>
                <a:latin typeface="Georgia"/>
                <a:ea typeface="Georgia"/>
                <a:cs typeface="Georgia"/>
                <a:sym typeface="Georgia"/>
              </a:rPr>
              <a:t>LAG: </a:t>
            </a:r>
            <a:r>
              <a:rPr lang="en-US" sz="2100">
                <a:solidFill>
                  <a:srgbClr val="111111"/>
                </a:solidFill>
                <a:latin typeface="Georgia"/>
                <a:ea typeface="Georgia"/>
                <a:cs typeface="Georgia"/>
                <a:sym typeface="Georgia"/>
              </a:rPr>
              <a:t>loose, agressive</a:t>
            </a:r>
            <a:endParaRPr sz="2100">
              <a:solidFill>
                <a:srgbClr val="111111"/>
              </a:solidFill>
              <a:latin typeface="Georgia"/>
              <a:ea typeface="Georgia"/>
              <a:cs typeface="Georgia"/>
              <a:sym typeface="Georgia"/>
            </a:endParaRPr>
          </a:p>
          <a:p>
            <a:pPr indent="-361950" lvl="1" marL="914400" marR="0" rtl="0" algn="l">
              <a:lnSpc>
                <a:spcPct val="145000"/>
              </a:lnSpc>
              <a:spcBef>
                <a:spcPts val="0"/>
              </a:spcBef>
              <a:spcAft>
                <a:spcPts val="0"/>
              </a:spcAft>
              <a:buClr>
                <a:srgbClr val="111111"/>
              </a:buClr>
              <a:buSzPts val="2100"/>
              <a:buFont typeface="Georgia"/>
              <a:buChar char="○"/>
            </a:pPr>
            <a:r>
              <a:rPr b="1" lang="en-US" sz="2100">
                <a:solidFill>
                  <a:srgbClr val="111111"/>
                </a:solidFill>
                <a:latin typeface="Georgia"/>
                <a:ea typeface="Georgia"/>
                <a:cs typeface="Georgia"/>
                <a:sym typeface="Georgia"/>
              </a:rPr>
              <a:t>Fish: </a:t>
            </a:r>
            <a:r>
              <a:rPr lang="en-US" sz="2100">
                <a:solidFill>
                  <a:srgbClr val="111111"/>
                </a:solidFill>
                <a:latin typeface="Georgia"/>
                <a:ea typeface="Georgia"/>
                <a:cs typeface="Georgia"/>
                <a:sym typeface="Georgia"/>
              </a:rPr>
              <a:t>loose, passive</a:t>
            </a:r>
            <a:endParaRPr sz="2100">
              <a:solidFill>
                <a:srgbClr val="111111"/>
              </a:solidFill>
              <a:latin typeface="Georgia"/>
              <a:ea typeface="Georgia"/>
              <a:cs typeface="Georgia"/>
              <a:sym typeface="Georgia"/>
            </a:endParaRPr>
          </a:p>
          <a:p>
            <a:pPr indent="-361950" lvl="1" marL="914400" marR="0" rtl="0" algn="l">
              <a:lnSpc>
                <a:spcPct val="145000"/>
              </a:lnSpc>
              <a:spcBef>
                <a:spcPts val="0"/>
              </a:spcBef>
              <a:spcAft>
                <a:spcPts val="0"/>
              </a:spcAft>
              <a:buClr>
                <a:srgbClr val="111111"/>
              </a:buClr>
              <a:buSzPts val="2100"/>
              <a:buFont typeface="Georgia"/>
              <a:buChar char="○"/>
            </a:pPr>
            <a:r>
              <a:rPr b="1" lang="en-US" sz="2100">
                <a:solidFill>
                  <a:srgbClr val="111111"/>
                </a:solidFill>
                <a:latin typeface="Georgia"/>
                <a:ea typeface="Georgia"/>
                <a:cs typeface="Georgia"/>
                <a:sym typeface="Georgia"/>
              </a:rPr>
              <a:t>Rock: </a:t>
            </a:r>
            <a:r>
              <a:rPr lang="en-US" sz="2100">
                <a:solidFill>
                  <a:srgbClr val="111111"/>
                </a:solidFill>
                <a:latin typeface="Georgia"/>
                <a:ea typeface="Georgia"/>
                <a:cs typeface="Georgia"/>
                <a:sym typeface="Georgia"/>
              </a:rPr>
              <a:t>tight, passive</a:t>
            </a:r>
            <a:endParaRPr sz="2100">
              <a:solidFill>
                <a:srgbClr val="111111"/>
              </a:solidFill>
              <a:latin typeface="Georgia"/>
              <a:ea typeface="Georgia"/>
              <a:cs typeface="Georgia"/>
              <a:sym typeface="Georgia"/>
            </a:endParaRPr>
          </a:p>
          <a:p>
            <a:pPr indent="-361950" lvl="0" marL="457200" marR="0" rtl="0" algn="l">
              <a:lnSpc>
                <a:spcPct val="145000"/>
              </a:lnSpc>
              <a:spcBef>
                <a:spcPts val="0"/>
              </a:spcBef>
              <a:spcAft>
                <a:spcPts val="0"/>
              </a:spcAft>
              <a:buClr>
                <a:srgbClr val="111111"/>
              </a:buClr>
              <a:buSzPts val="2100"/>
              <a:buFont typeface="Georgia"/>
              <a:buChar char="●"/>
            </a:pPr>
            <a:r>
              <a:rPr lang="en-US" sz="2100">
                <a:solidFill>
                  <a:srgbClr val="111111"/>
                </a:solidFill>
                <a:latin typeface="Georgia"/>
                <a:ea typeface="Georgia"/>
                <a:cs typeface="Georgia"/>
                <a:sym typeface="Georgia"/>
              </a:rPr>
              <a:t>Same cutoffs  applies to everyone</a:t>
            </a:r>
            <a:endParaRPr sz="2100">
              <a:solidFill>
                <a:srgbClr val="111111"/>
              </a:solidFill>
              <a:latin typeface="Georgia"/>
              <a:ea typeface="Georgia"/>
              <a:cs typeface="Georgia"/>
              <a:sym typeface="Georgia"/>
            </a:endParaRPr>
          </a:p>
          <a:p>
            <a:pPr indent="0" lvl="0" marL="0" marR="0" rtl="0" algn="l">
              <a:lnSpc>
                <a:spcPct val="145000"/>
              </a:lnSpc>
              <a:spcBef>
                <a:spcPts val="0"/>
              </a:spcBef>
              <a:spcAft>
                <a:spcPts val="0"/>
              </a:spcAft>
              <a:buNone/>
            </a:pPr>
            <a:r>
              <a:t/>
            </a:r>
            <a:endParaRPr sz="2100">
              <a:solidFill>
                <a:srgbClr val="111111"/>
              </a:solidFill>
              <a:latin typeface="Georgia"/>
              <a:ea typeface="Georgia"/>
              <a:cs typeface="Georgia"/>
              <a:sym typeface="Georgia"/>
            </a:endParaRPr>
          </a:p>
        </p:txBody>
      </p:sp>
      <p:sp>
        <p:nvSpPr>
          <p:cNvPr id="351" name="Google Shape;351;p5"/>
          <p:cNvSpPr/>
          <p:nvPr/>
        </p:nvSpPr>
        <p:spPr>
          <a:xfrm>
            <a:off x="9410569" y="1835106"/>
            <a:ext cx="8064574" cy="452393"/>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250"/>
              <a:buFont typeface="Georgia"/>
              <a:buNone/>
            </a:pPr>
            <a:r>
              <a:rPr b="1" i="0" lang="en-US" sz="2250" u="none" cap="none" strike="noStrike">
                <a:solidFill>
                  <a:srgbClr val="111111"/>
                </a:solidFill>
                <a:latin typeface="Georgia"/>
                <a:ea typeface="Georgia"/>
                <a:cs typeface="Georgia"/>
                <a:sym typeface="Georgia"/>
              </a:rPr>
              <a:t>B</a:t>
            </a:r>
            <a:r>
              <a:rPr b="1" lang="en-US" sz="2250">
                <a:solidFill>
                  <a:srgbClr val="111111"/>
                </a:solidFill>
                <a:latin typeface="Georgia"/>
                <a:ea typeface="Georgia"/>
                <a:cs typeface="Georgia"/>
                <a:sym typeface="Georgia"/>
              </a:rPr>
              <a:t>) </a:t>
            </a:r>
            <a:r>
              <a:rPr b="1" i="0" lang="en-US" sz="2250" u="none" cap="none" strike="noStrike">
                <a:solidFill>
                  <a:srgbClr val="111111"/>
                </a:solidFill>
                <a:latin typeface="Georgia"/>
                <a:ea typeface="Georgia"/>
                <a:cs typeface="Georgia"/>
                <a:sym typeface="Georgia"/>
              </a:rPr>
              <a:t> K-Means clustering</a:t>
            </a:r>
            <a:endParaRPr b="0" i="0" sz="2250" u="none" cap="none" strike="noStrike">
              <a:solidFill>
                <a:schemeClr val="dk1"/>
              </a:solidFill>
              <a:latin typeface="Calibri"/>
              <a:ea typeface="Calibri"/>
              <a:cs typeface="Calibri"/>
              <a:sym typeface="Calibri"/>
            </a:endParaRPr>
          </a:p>
        </p:txBody>
      </p:sp>
      <p:sp>
        <p:nvSpPr>
          <p:cNvPr id="352" name="Google Shape;352;p5"/>
          <p:cNvSpPr/>
          <p:nvPr/>
        </p:nvSpPr>
        <p:spPr>
          <a:xfrm>
            <a:off x="9528591" y="2363611"/>
            <a:ext cx="7787861" cy="811345"/>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Splits players into K groups by minimizing within-group distance</a:t>
            </a:r>
            <a:endParaRPr b="0" i="0" sz="2100" u="none" cap="none" strike="noStrike">
              <a:solidFill>
                <a:schemeClr val="dk1"/>
              </a:solidFill>
              <a:latin typeface="Calibri"/>
              <a:ea typeface="Calibri"/>
              <a:cs typeface="Calibri"/>
              <a:sym typeface="Calibri"/>
            </a:endParaRPr>
          </a:p>
        </p:txBody>
      </p:sp>
      <p:sp>
        <p:nvSpPr>
          <p:cNvPr id="353" name="Google Shape;353;p5"/>
          <p:cNvSpPr/>
          <p:nvPr/>
        </p:nvSpPr>
        <p:spPr>
          <a:xfrm>
            <a:off x="9997776" y="3346318"/>
            <a:ext cx="3242100" cy="817200"/>
          </a:xfrm>
          <a:prstGeom prst="rect">
            <a:avLst/>
          </a:prstGeom>
          <a:solidFill>
            <a:srgbClr val="FAFAFA"/>
          </a:solidFill>
          <a:ln cap="flat" cmpd="sng" w="9525">
            <a:solidFill>
              <a:srgbClr val="CCCC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5"/>
          <p:cNvSpPr/>
          <p:nvPr/>
        </p:nvSpPr>
        <p:spPr>
          <a:xfrm>
            <a:off x="10233432" y="3505774"/>
            <a:ext cx="2868300" cy="53640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250"/>
              <a:buFont typeface="Times New Roman"/>
              <a:buNone/>
            </a:pPr>
            <a:r>
              <a:rPr b="0" i="1" lang="en-US" sz="2250" u="none" cap="none" strike="noStrike">
                <a:solidFill>
                  <a:srgbClr val="111111"/>
                </a:solidFill>
                <a:highlight>
                  <a:srgbClr val="FAFAFA"/>
                </a:highlight>
                <a:latin typeface="Times New Roman"/>
                <a:ea typeface="Times New Roman"/>
                <a:cs typeface="Times New Roman"/>
                <a:sym typeface="Times New Roman"/>
              </a:rPr>
              <a:t>J = Σ</a:t>
            </a:r>
            <a:r>
              <a:rPr b="0" baseline="-25000" i="1" lang="en-US" sz="1875" u="none" cap="none" strike="noStrike">
                <a:solidFill>
                  <a:srgbClr val="111111"/>
                </a:solidFill>
                <a:latin typeface="Times New Roman"/>
                <a:ea typeface="Times New Roman"/>
                <a:cs typeface="Times New Roman"/>
                <a:sym typeface="Times New Roman"/>
              </a:rPr>
              <a:t>k </a:t>
            </a:r>
            <a:r>
              <a:rPr b="0" i="1" lang="en-US" sz="2250" u="none" cap="none" strike="noStrike">
                <a:solidFill>
                  <a:srgbClr val="111111"/>
                </a:solidFill>
                <a:highlight>
                  <a:srgbClr val="FAFAFA"/>
                </a:highlight>
                <a:latin typeface="Times New Roman"/>
                <a:ea typeface="Times New Roman"/>
                <a:cs typeface="Times New Roman"/>
                <a:sym typeface="Times New Roman"/>
              </a:rPr>
              <a:t>Σ</a:t>
            </a:r>
            <a:r>
              <a:rPr b="0" baseline="-25000" i="1" lang="en-US" sz="1875" u="none" cap="none" strike="noStrike">
                <a:solidFill>
                  <a:srgbClr val="111111"/>
                </a:solidFill>
                <a:latin typeface="Times New Roman"/>
                <a:ea typeface="Times New Roman"/>
                <a:cs typeface="Times New Roman"/>
                <a:sym typeface="Times New Roman"/>
              </a:rPr>
              <a:t>x ∈ C</a:t>
            </a:r>
            <a:r>
              <a:rPr b="0" baseline="-25000" i="1" lang="en-US" sz="1562" u="none" cap="none" strike="noStrike">
                <a:solidFill>
                  <a:srgbClr val="111111"/>
                </a:solidFill>
                <a:latin typeface="Times New Roman"/>
                <a:ea typeface="Times New Roman"/>
                <a:cs typeface="Times New Roman"/>
                <a:sym typeface="Times New Roman"/>
              </a:rPr>
              <a:t>k </a:t>
            </a:r>
            <a:r>
              <a:rPr b="0" i="1" lang="en-US" sz="2250" u="none" cap="none" strike="noStrike">
                <a:solidFill>
                  <a:srgbClr val="111111"/>
                </a:solidFill>
                <a:highlight>
                  <a:srgbClr val="FAFAFA"/>
                </a:highlight>
                <a:latin typeface="Times New Roman"/>
                <a:ea typeface="Times New Roman"/>
                <a:cs typeface="Times New Roman"/>
                <a:sym typeface="Times New Roman"/>
              </a:rPr>
              <a:t>‖ x − μ</a:t>
            </a:r>
            <a:r>
              <a:rPr b="0" baseline="-25000" i="1" lang="en-US" sz="1875" u="none" cap="none" strike="noStrike">
                <a:solidFill>
                  <a:srgbClr val="111111"/>
                </a:solidFill>
                <a:latin typeface="Times New Roman"/>
                <a:ea typeface="Times New Roman"/>
                <a:cs typeface="Times New Roman"/>
                <a:sym typeface="Times New Roman"/>
              </a:rPr>
              <a:t>k </a:t>
            </a:r>
            <a:r>
              <a:rPr b="0" i="1" lang="en-US" sz="2250" u="none" cap="none" strike="noStrike">
                <a:solidFill>
                  <a:srgbClr val="111111"/>
                </a:solidFill>
                <a:highlight>
                  <a:srgbClr val="FAFAFA"/>
                </a:highlight>
                <a:latin typeface="Times New Roman"/>
                <a:ea typeface="Times New Roman"/>
                <a:cs typeface="Times New Roman"/>
                <a:sym typeface="Times New Roman"/>
              </a:rPr>
              <a:t>‖²</a:t>
            </a:r>
            <a:endParaRPr b="0" i="0" sz="2250" u="none" cap="none" strike="noStrike">
              <a:solidFill>
                <a:schemeClr val="dk1"/>
              </a:solidFill>
              <a:latin typeface="Calibri"/>
              <a:ea typeface="Calibri"/>
              <a:cs typeface="Calibri"/>
              <a:sym typeface="Calibri"/>
            </a:endParaRPr>
          </a:p>
        </p:txBody>
      </p:sp>
      <p:sp>
        <p:nvSpPr>
          <p:cNvPr id="355" name="Google Shape;355;p5"/>
          <p:cNvSpPr/>
          <p:nvPr/>
        </p:nvSpPr>
        <p:spPr>
          <a:xfrm>
            <a:off x="9528591" y="4315796"/>
            <a:ext cx="7937411" cy="424722"/>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Final model uses </a:t>
            </a:r>
            <a:r>
              <a:rPr b="1" i="0" lang="en-US" sz="2100" u="none" cap="none" strike="noStrike">
                <a:solidFill>
                  <a:srgbClr val="111111"/>
                </a:solidFill>
                <a:latin typeface="Georgia"/>
                <a:ea typeface="Georgia"/>
                <a:cs typeface="Georgia"/>
                <a:sym typeface="Georgia"/>
              </a:rPr>
              <a:t>K = 4 </a:t>
            </a:r>
            <a:r>
              <a:rPr b="0" i="0" lang="en-US" sz="2100" u="none" cap="none" strike="noStrike">
                <a:solidFill>
                  <a:srgbClr val="111111"/>
                </a:solidFill>
                <a:latin typeface="Georgia"/>
                <a:ea typeface="Georgia"/>
                <a:cs typeface="Georgia"/>
                <a:sym typeface="Georgia"/>
              </a:rPr>
              <a:t>to match the four poker archetypes</a:t>
            </a:r>
            <a:endParaRPr b="0" i="0" sz="2100" u="none" cap="none" strike="noStrike">
              <a:solidFill>
                <a:schemeClr val="dk1"/>
              </a:solidFill>
              <a:latin typeface="Calibri"/>
              <a:ea typeface="Calibri"/>
              <a:cs typeface="Calibri"/>
              <a:sym typeface="Calibri"/>
            </a:endParaRPr>
          </a:p>
        </p:txBody>
      </p:sp>
      <p:sp>
        <p:nvSpPr>
          <p:cNvPr id="356" name="Google Shape;356;p5"/>
          <p:cNvSpPr/>
          <p:nvPr/>
        </p:nvSpPr>
        <p:spPr>
          <a:xfrm>
            <a:off x="9528600" y="4816618"/>
            <a:ext cx="7937400" cy="1022700"/>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Also tested K = 2 to 8 to check what the data prefers</a:t>
            </a:r>
            <a:endParaRPr b="0" i="0" sz="2100" u="none" cap="none" strike="noStrike">
              <a:solidFill>
                <a:srgbClr val="111111"/>
              </a:solidFill>
              <a:latin typeface="Georgia"/>
              <a:ea typeface="Georgia"/>
              <a:cs typeface="Georgia"/>
              <a:sym typeface="Georgia"/>
            </a:endParaRPr>
          </a:p>
          <a:p>
            <a:pPr indent="-361950" lvl="1" marL="914400" marR="0" rtl="0" algn="l">
              <a:lnSpc>
                <a:spcPct val="145000"/>
              </a:lnSpc>
              <a:spcBef>
                <a:spcPts val="0"/>
              </a:spcBef>
              <a:spcAft>
                <a:spcPts val="0"/>
              </a:spcAft>
              <a:buClr>
                <a:srgbClr val="111111"/>
              </a:buClr>
              <a:buSzPts val="2100"/>
              <a:buFont typeface="Georgia"/>
              <a:buChar char="○"/>
            </a:pPr>
            <a:r>
              <a:rPr lang="en-US" sz="2100">
                <a:solidFill>
                  <a:srgbClr val="111111"/>
                </a:solidFill>
                <a:latin typeface="Georgia"/>
                <a:ea typeface="Georgia"/>
                <a:cs typeface="Georgia"/>
                <a:sym typeface="Georgia"/>
              </a:rPr>
              <a:t>elbow method, </a:t>
            </a:r>
            <a:r>
              <a:rPr lang="en-US" sz="2100">
                <a:solidFill>
                  <a:srgbClr val="111111"/>
                </a:solidFill>
                <a:latin typeface="Georgia"/>
                <a:ea typeface="Georgia"/>
                <a:cs typeface="Georgia"/>
                <a:sym typeface="Georgia"/>
              </a:rPr>
              <a:t>silhouette</a:t>
            </a:r>
            <a:r>
              <a:rPr lang="en-US" sz="2100">
                <a:solidFill>
                  <a:srgbClr val="111111"/>
                </a:solidFill>
                <a:latin typeface="Georgia"/>
                <a:ea typeface="Georgia"/>
                <a:cs typeface="Georgia"/>
                <a:sym typeface="Georgia"/>
              </a:rPr>
              <a:t> score</a:t>
            </a:r>
            <a:endParaRPr sz="2100">
              <a:solidFill>
                <a:srgbClr val="111111"/>
              </a:solidFill>
              <a:latin typeface="Georgia"/>
              <a:ea typeface="Georgia"/>
              <a:cs typeface="Georgia"/>
              <a:sym typeface="Georgia"/>
            </a:endParaRPr>
          </a:p>
        </p:txBody>
      </p:sp>
      <p:sp>
        <p:nvSpPr>
          <p:cNvPr id="357" name="Google Shape;357;p5"/>
          <p:cNvSpPr/>
          <p:nvPr/>
        </p:nvSpPr>
        <p:spPr>
          <a:xfrm>
            <a:off x="9528600" y="5839425"/>
            <a:ext cx="7937400" cy="2533800"/>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Built with scikit-learn</a:t>
            </a:r>
            <a:endParaRPr sz="2100">
              <a:solidFill>
                <a:srgbClr val="111111"/>
              </a:solidFill>
              <a:latin typeface="Georgia"/>
              <a:ea typeface="Georgia"/>
              <a:cs typeface="Georgia"/>
              <a:sym typeface="Georgia"/>
            </a:endParaRPr>
          </a:p>
          <a:p>
            <a:pPr indent="-361950" lvl="1" marL="914400" marR="0" rtl="0" algn="l">
              <a:lnSpc>
                <a:spcPct val="145000"/>
              </a:lnSpc>
              <a:spcBef>
                <a:spcPts val="0"/>
              </a:spcBef>
              <a:spcAft>
                <a:spcPts val="0"/>
              </a:spcAft>
              <a:buClr>
                <a:srgbClr val="111111"/>
              </a:buClr>
              <a:buSzPts val="2100"/>
              <a:buFont typeface="Georgia"/>
              <a:buChar char="○"/>
            </a:pPr>
            <a:r>
              <a:rPr b="1" i="0" lang="en-US" sz="2100" u="none" cap="none" strike="noStrike">
                <a:solidFill>
                  <a:srgbClr val="111111"/>
                </a:solidFill>
                <a:latin typeface="Georgia"/>
                <a:ea typeface="Georgia"/>
                <a:cs typeface="Georgia"/>
                <a:sym typeface="Georgia"/>
              </a:rPr>
              <a:t>n_init = 20 </a:t>
            </a:r>
            <a:r>
              <a:rPr i="0" lang="en-US" sz="2100" u="none" cap="none" strike="noStrike">
                <a:solidFill>
                  <a:srgbClr val="111111"/>
                </a:solidFill>
                <a:latin typeface="Georgia"/>
                <a:ea typeface="Georgia"/>
                <a:cs typeface="Georgia"/>
                <a:sym typeface="Georgia"/>
              </a:rPr>
              <a:t>(</a:t>
            </a:r>
            <a:r>
              <a:rPr lang="en-US" sz="2100">
                <a:solidFill>
                  <a:srgbClr val="111111"/>
                </a:solidFill>
                <a:latin typeface="Georgia"/>
                <a:ea typeface="Georgia"/>
                <a:cs typeface="Georgia"/>
                <a:sym typeface="Georgia"/>
              </a:rPr>
              <a:t>Run 20 consecutive times with </a:t>
            </a:r>
            <a:r>
              <a:rPr lang="en-US" sz="2100">
                <a:solidFill>
                  <a:srgbClr val="111111"/>
                </a:solidFill>
                <a:latin typeface="Georgia"/>
                <a:ea typeface="Georgia"/>
                <a:cs typeface="Georgia"/>
                <a:sym typeface="Georgia"/>
              </a:rPr>
              <a:t>random centroid initialization</a:t>
            </a:r>
            <a:r>
              <a:rPr i="0" lang="en-US" sz="2100" u="none" cap="none" strike="noStrike">
                <a:solidFill>
                  <a:srgbClr val="111111"/>
                </a:solidFill>
                <a:latin typeface="Georgia"/>
                <a:ea typeface="Georgia"/>
                <a:cs typeface="Georgia"/>
                <a:sym typeface="Georgia"/>
              </a:rPr>
              <a:t>)</a:t>
            </a:r>
            <a:endParaRPr i="0" sz="2100" u="none" cap="none" strike="noStrike">
              <a:solidFill>
                <a:srgbClr val="111111"/>
              </a:solidFill>
              <a:latin typeface="Georgia"/>
              <a:ea typeface="Georgia"/>
              <a:cs typeface="Georgia"/>
              <a:sym typeface="Georgia"/>
            </a:endParaRPr>
          </a:p>
          <a:p>
            <a:pPr indent="-361950" lvl="0" marL="457200" rtl="0" algn="l">
              <a:lnSpc>
                <a:spcPct val="145000"/>
              </a:lnSpc>
              <a:spcBef>
                <a:spcPts val="0"/>
              </a:spcBef>
              <a:spcAft>
                <a:spcPts val="0"/>
              </a:spcAft>
              <a:buClr>
                <a:srgbClr val="111111"/>
              </a:buClr>
              <a:buSzPts val="2100"/>
              <a:buFont typeface="Georgia"/>
              <a:buChar char="●"/>
            </a:pPr>
            <a:r>
              <a:rPr lang="en-US" sz="2100">
                <a:solidFill>
                  <a:srgbClr val="111111"/>
                </a:solidFill>
                <a:latin typeface="Georgia"/>
                <a:ea typeface="Georgia"/>
                <a:cs typeface="Georgia"/>
                <a:sym typeface="Georgia"/>
              </a:rPr>
              <a:t>Cluster quality measured by Silhouette Score (range −1 to +1; higher is better)</a:t>
            </a:r>
            <a:endParaRPr sz="2100">
              <a:solidFill>
                <a:srgbClr val="111111"/>
              </a:solidFill>
              <a:latin typeface="Georgia"/>
              <a:ea typeface="Georgia"/>
              <a:cs typeface="Georgia"/>
              <a:sym typeface="Georgia"/>
            </a:endParaRPr>
          </a:p>
        </p:txBody>
      </p:sp>
      <p:sp>
        <p:nvSpPr>
          <p:cNvPr id="358" name="Google Shape;358;p5"/>
          <p:cNvSpPr/>
          <p:nvPr/>
        </p:nvSpPr>
        <p:spPr>
          <a:xfrm>
            <a:off x="1047640" y="9159766"/>
            <a:ext cx="16192613"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aphicFrame>
        <p:nvGraphicFramePr>
          <p:cNvPr id="359" name="Google Shape;359;p5"/>
          <p:cNvGraphicFramePr/>
          <p:nvPr/>
        </p:nvGraphicFramePr>
        <p:xfrm>
          <a:off x="1272063" y="2892175"/>
          <a:ext cx="3000000" cy="3000000"/>
        </p:xfrm>
        <a:graphic>
          <a:graphicData uri="http://schemas.openxmlformats.org/drawingml/2006/table">
            <a:tbl>
              <a:tblPr>
                <a:noFill/>
                <a:tableStyleId>{855232AF-9C6D-4EA2-89A8-027460FECF40}</a:tableStyleId>
              </a:tblPr>
              <a:tblGrid>
                <a:gridCol w="1842825"/>
                <a:gridCol w="1842825"/>
                <a:gridCol w="1842825"/>
              </a:tblGrid>
              <a:tr h="381000">
                <a:tc rowSpan="2">
                  <a:txBody>
                    <a:bodyPr/>
                    <a:lstStyle/>
                    <a:p>
                      <a:pPr indent="0" lvl="0" marL="0" rtl="0" algn="ctr">
                        <a:spcBef>
                          <a:spcPts val="0"/>
                        </a:spcBef>
                        <a:spcAft>
                          <a:spcPts val="0"/>
                        </a:spcAft>
                        <a:buNone/>
                      </a:pPr>
                      <a:r>
                        <a:rPr b="1" lang="en-US" sz="1700">
                          <a:latin typeface="Georgia"/>
                          <a:ea typeface="Georgia"/>
                          <a:cs typeface="Georgia"/>
                          <a:sym typeface="Georgia"/>
                        </a:rPr>
                        <a:t>VPIP</a:t>
                      </a:r>
                      <a:endParaRPr b="1" sz="1700">
                        <a:latin typeface="Georgia"/>
                        <a:ea typeface="Georgia"/>
                        <a:cs typeface="Georgia"/>
                        <a:sym typeface="Georgia"/>
                      </a:endParaRPr>
                    </a:p>
                  </a:txBody>
                  <a:tcPr marT="91425" marB="91425" marR="91425" marL="91425" anchor="ctr">
                    <a:lnL cap="flat" cmpd="sng" w="9525">
                      <a:solidFill>
                        <a:srgbClr val="111111"/>
                      </a:solidFill>
                      <a:prstDash val="solid"/>
                      <a:round/>
                      <a:headEnd len="sm" w="sm" type="none"/>
                      <a:tailEnd len="sm" w="sm" type="none"/>
                    </a:lnL>
                    <a:lnR cap="flat" cmpd="sng" w="9525">
                      <a:solidFill>
                        <a:srgbClr val="111111"/>
                      </a:solidFill>
                      <a:prstDash val="solid"/>
                      <a:round/>
                      <a:headEnd len="sm" w="sm" type="none"/>
                      <a:tailEnd len="sm" w="sm" type="none"/>
                    </a:lnR>
                    <a:lnT cap="flat" cmpd="sng" w="9525">
                      <a:solidFill>
                        <a:srgbClr val="111111"/>
                      </a:solidFill>
                      <a:prstDash val="solid"/>
                      <a:round/>
                      <a:headEnd len="sm" w="sm" type="none"/>
                      <a:tailEnd len="sm" w="sm" type="none"/>
                    </a:lnT>
                    <a:lnB cap="flat" cmpd="sng" w="9525">
                      <a:solidFill>
                        <a:srgbClr val="111111"/>
                      </a:solidFill>
                      <a:prstDash val="solid"/>
                      <a:round/>
                      <a:headEnd len="sm" w="sm" type="none"/>
                      <a:tailEnd len="sm" w="sm" type="none"/>
                    </a:lnB>
                  </a:tcPr>
                </a:tc>
                <a:tc>
                  <a:txBody>
                    <a:bodyPr/>
                    <a:lstStyle/>
                    <a:p>
                      <a:pPr indent="0" lvl="0" marL="0" rtl="0" algn="ctr">
                        <a:spcBef>
                          <a:spcPts val="0"/>
                        </a:spcBef>
                        <a:spcAft>
                          <a:spcPts val="0"/>
                        </a:spcAft>
                        <a:buNone/>
                      </a:pPr>
                      <a:r>
                        <a:rPr lang="en-US" sz="1700">
                          <a:latin typeface="Georgia"/>
                          <a:ea typeface="Georgia"/>
                          <a:cs typeface="Georgia"/>
                          <a:sym typeface="Georgia"/>
                        </a:rPr>
                        <a:t>&lt; 25%</a:t>
                      </a:r>
                      <a:endParaRPr sz="1700">
                        <a:latin typeface="Georgia"/>
                        <a:ea typeface="Georgia"/>
                        <a:cs typeface="Georgia"/>
                        <a:sym typeface="Georgia"/>
                      </a:endParaRPr>
                    </a:p>
                  </a:txBody>
                  <a:tcPr marT="91425" marB="91425" marR="91425" marL="91425">
                    <a:lnL cap="flat" cmpd="sng" w="9525">
                      <a:solidFill>
                        <a:srgbClr val="111111"/>
                      </a:solidFill>
                      <a:prstDash val="solid"/>
                      <a:round/>
                      <a:headEnd len="sm" w="sm" type="none"/>
                      <a:tailEnd len="sm" w="sm" type="none"/>
                    </a:lnL>
                    <a:lnR cap="flat" cmpd="sng" w="9525">
                      <a:solidFill>
                        <a:srgbClr val="111111"/>
                      </a:solidFill>
                      <a:prstDash val="solid"/>
                      <a:round/>
                      <a:headEnd len="sm" w="sm" type="none"/>
                      <a:tailEnd len="sm" w="sm" type="none"/>
                    </a:lnR>
                    <a:lnT cap="flat" cmpd="sng" w="9525">
                      <a:solidFill>
                        <a:srgbClr val="111111"/>
                      </a:solidFill>
                      <a:prstDash val="solid"/>
                      <a:round/>
                      <a:headEnd len="sm" w="sm" type="none"/>
                      <a:tailEnd len="sm" w="sm" type="none"/>
                    </a:lnT>
                    <a:lnB cap="flat" cmpd="sng" w="9525">
                      <a:solidFill>
                        <a:srgbClr val="111111"/>
                      </a:solidFill>
                      <a:prstDash val="solid"/>
                      <a:round/>
                      <a:headEnd len="sm" w="sm" type="none"/>
                      <a:tailEnd len="sm" w="sm" type="none"/>
                    </a:lnB>
                  </a:tcPr>
                </a:tc>
                <a:tc>
                  <a:txBody>
                    <a:bodyPr/>
                    <a:lstStyle/>
                    <a:p>
                      <a:pPr indent="0" lvl="0" marL="0" rtl="0" algn="ctr">
                        <a:spcBef>
                          <a:spcPts val="0"/>
                        </a:spcBef>
                        <a:spcAft>
                          <a:spcPts val="0"/>
                        </a:spcAft>
                        <a:buNone/>
                      </a:pPr>
                      <a:r>
                        <a:rPr lang="en-US" sz="1700">
                          <a:latin typeface="Georgia"/>
                          <a:ea typeface="Georgia"/>
                          <a:cs typeface="Georgia"/>
                          <a:sym typeface="Georgia"/>
                        </a:rPr>
                        <a:t>Tight</a:t>
                      </a:r>
                      <a:endParaRPr sz="1700">
                        <a:latin typeface="Georgia"/>
                        <a:ea typeface="Georgia"/>
                        <a:cs typeface="Georgia"/>
                        <a:sym typeface="Georgia"/>
                      </a:endParaRPr>
                    </a:p>
                  </a:txBody>
                  <a:tcPr marT="91425" marB="91425" marR="91425" marL="91425">
                    <a:lnL cap="flat" cmpd="sng" w="9525">
                      <a:solidFill>
                        <a:srgbClr val="111111"/>
                      </a:solidFill>
                      <a:prstDash val="solid"/>
                      <a:round/>
                      <a:headEnd len="sm" w="sm" type="none"/>
                      <a:tailEnd len="sm" w="sm" type="none"/>
                    </a:lnL>
                    <a:lnR cap="flat" cmpd="sng" w="9525">
                      <a:solidFill>
                        <a:srgbClr val="111111"/>
                      </a:solidFill>
                      <a:prstDash val="solid"/>
                      <a:round/>
                      <a:headEnd len="sm" w="sm" type="none"/>
                      <a:tailEnd len="sm" w="sm" type="none"/>
                    </a:lnR>
                    <a:lnT cap="flat" cmpd="sng" w="9525">
                      <a:solidFill>
                        <a:srgbClr val="111111"/>
                      </a:solidFill>
                      <a:prstDash val="solid"/>
                      <a:round/>
                      <a:headEnd len="sm" w="sm" type="none"/>
                      <a:tailEnd len="sm" w="sm" type="none"/>
                    </a:lnT>
                    <a:lnB cap="flat" cmpd="sng" w="9525">
                      <a:solidFill>
                        <a:srgbClr val="111111"/>
                      </a:solidFill>
                      <a:prstDash val="solid"/>
                      <a:round/>
                      <a:headEnd len="sm" w="sm" type="none"/>
                      <a:tailEnd len="sm" w="sm" type="none"/>
                    </a:lnB>
                  </a:tcPr>
                </a:tc>
              </a:tr>
              <a:tr h="381000">
                <a:tc vMerge="1"/>
                <a:tc>
                  <a:txBody>
                    <a:bodyPr/>
                    <a:lstStyle/>
                    <a:p>
                      <a:pPr indent="0" lvl="0" marL="0" rtl="0" algn="ctr">
                        <a:spcBef>
                          <a:spcPts val="0"/>
                        </a:spcBef>
                        <a:spcAft>
                          <a:spcPts val="0"/>
                        </a:spcAft>
                        <a:buNone/>
                      </a:pPr>
                      <a:r>
                        <a:rPr lang="en-US" sz="1700">
                          <a:latin typeface="Georgia"/>
                          <a:ea typeface="Georgia"/>
                          <a:cs typeface="Georgia"/>
                          <a:sym typeface="Georgia"/>
                        </a:rPr>
                        <a:t>&gt;= 25%</a:t>
                      </a:r>
                      <a:endParaRPr sz="1700">
                        <a:latin typeface="Georgia"/>
                        <a:ea typeface="Georgia"/>
                        <a:cs typeface="Georgia"/>
                        <a:sym typeface="Georgia"/>
                      </a:endParaRPr>
                    </a:p>
                  </a:txBody>
                  <a:tcPr marT="91425" marB="91425" marR="91425" marL="91425">
                    <a:lnL cap="flat" cmpd="sng" w="9525">
                      <a:solidFill>
                        <a:srgbClr val="111111"/>
                      </a:solidFill>
                      <a:prstDash val="solid"/>
                      <a:round/>
                      <a:headEnd len="sm" w="sm" type="none"/>
                      <a:tailEnd len="sm" w="sm" type="none"/>
                    </a:lnL>
                    <a:lnR cap="flat" cmpd="sng" w="9525">
                      <a:solidFill>
                        <a:srgbClr val="111111"/>
                      </a:solidFill>
                      <a:prstDash val="solid"/>
                      <a:round/>
                      <a:headEnd len="sm" w="sm" type="none"/>
                      <a:tailEnd len="sm" w="sm" type="none"/>
                    </a:lnR>
                    <a:lnT cap="flat" cmpd="sng" w="9525">
                      <a:solidFill>
                        <a:srgbClr val="111111"/>
                      </a:solidFill>
                      <a:prstDash val="solid"/>
                      <a:round/>
                      <a:headEnd len="sm" w="sm" type="none"/>
                      <a:tailEnd len="sm" w="sm" type="none"/>
                    </a:lnT>
                    <a:lnB cap="flat" cmpd="sng" w="9525">
                      <a:solidFill>
                        <a:srgbClr val="111111"/>
                      </a:solidFill>
                      <a:prstDash val="solid"/>
                      <a:round/>
                      <a:headEnd len="sm" w="sm" type="none"/>
                      <a:tailEnd len="sm" w="sm" type="none"/>
                    </a:lnB>
                  </a:tcPr>
                </a:tc>
                <a:tc>
                  <a:txBody>
                    <a:bodyPr/>
                    <a:lstStyle/>
                    <a:p>
                      <a:pPr indent="0" lvl="0" marL="0" rtl="0" algn="ctr">
                        <a:spcBef>
                          <a:spcPts val="0"/>
                        </a:spcBef>
                        <a:spcAft>
                          <a:spcPts val="0"/>
                        </a:spcAft>
                        <a:buNone/>
                      </a:pPr>
                      <a:r>
                        <a:rPr lang="en-US" sz="1700">
                          <a:latin typeface="Georgia"/>
                          <a:ea typeface="Georgia"/>
                          <a:cs typeface="Georgia"/>
                          <a:sym typeface="Georgia"/>
                        </a:rPr>
                        <a:t>Loose</a:t>
                      </a:r>
                      <a:endParaRPr sz="1700">
                        <a:latin typeface="Georgia"/>
                        <a:ea typeface="Georgia"/>
                        <a:cs typeface="Georgia"/>
                        <a:sym typeface="Georgia"/>
                      </a:endParaRPr>
                    </a:p>
                  </a:txBody>
                  <a:tcPr marT="91425" marB="91425" marR="91425" marL="91425">
                    <a:lnL cap="flat" cmpd="sng" w="9525">
                      <a:solidFill>
                        <a:srgbClr val="111111"/>
                      </a:solidFill>
                      <a:prstDash val="solid"/>
                      <a:round/>
                      <a:headEnd len="sm" w="sm" type="none"/>
                      <a:tailEnd len="sm" w="sm" type="none"/>
                    </a:lnL>
                    <a:lnR cap="flat" cmpd="sng" w="9525">
                      <a:solidFill>
                        <a:srgbClr val="111111"/>
                      </a:solidFill>
                      <a:prstDash val="solid"/>
                      <a:round/>
                      <a:headEnd len="sm" w="sm" type="none"/>
                      <a:tailEnd len="sm" w="sm" type="none"/>
                    </a:lnR>
                    <a:lnT cap="flat" cmpd="sng" w="9525">
                      <a:solidFill>
                        <a:srgbClr val="111111"/>
                      </a:solidFill>
                      <a:prstDash val="solid"/>
                      <a:round/>
                      <a:headEnd len="sm" w="sm" type="none"/>
                      <a:tailEnd len="sm" w="sm" type="none"/>
                    </a:lnT>
                    <a:lnB cap="flat" cmpd="sng" w="9525">
                      <a:solidFill>
                        <a:srgbClr val="111111"/>
                      </a:solidFill>
                      <a:prstDash val="solid"/>
                      <a:round/>
                      <a:headEnd len="sm" w="sm" type="none"/>
                      <a:tailEnd len="sm" w="sm" type="none"/>
                    </a:lnB>
                  </a:tcPr>
                </a:tc>
              </a:tr>
              <a:tr h="381000">
                <a:tc rowSpan="2">
                  <a:txBody>
                    <a:bodyPr/>
                    <a:lstStyle/>
                    <a:p>
                      <a:pPr indent="0" lvl="0" marL="0" rtl="0" algn="ctr">
                        <a:spcBef>
                          <a:spcPts val="0"/>
                        </a:spcBef>
                        <a:spcAft>
                          <a:spcPts val="0"/>
                        </a:spcAft>
                        <a:buNone/>
                      </a:pPr>
                      <a:r>
                        <a:rPr b="1" lang="en-US" sz="1700">
                          <a:latin typeface="Georgia"/>
                          <a:ea typeface="Georgia"/>
                          <a:cs typeface="Georgia"/>
                          <a:sym typeface="Georgia"/>
                        </a:rPr>
                        <a:t>PFR</a:t>
                      </a:r>
                      <a:endParaRPr b="1" sz="1700">
                        <a:latin typeface="Georgia"/>
                        <a:ea typeface="Georgia"/>
                        <a:cs typeface="Georgia"/>
                        <a:sym typeface="Georgia"/>
                      </a:endParaRPr>
                    </a:p>
                  </a:txBody>
                  <a:tcPr marT="91425" marB="91425" marR="91425" marL="91425" anchor="ctr">
                    <a:lnL cap="flat" cmpd="sng" w="9525">
                      <a:solidFill>
                        <a:srgbClr val="111111"/>
                      </a:solidFill>
                      <a:prstDash val="solid"/>
                      <a:round/>
                      <a:headEnd len="sm" w="sm" type="none"/>
                      <a:tailEnd len="sm" w="sm" type="none"/>
                    </a:lnL>
                    <a:lnR cap="flat" cmpd="sng" w="9525">
                      <a:solidFill>
                        <a:srgbClr val="111111"/>
                      </a:solidFill>
                      <a:prstDash val="solid"/>
                      <a:round/>
                      <a:headEnd len="sm" w="sm" type="none"/>
                      <a:tailEnd len="sm" w="sm" type="none"/>
                    </a:lnR>
                    <a:lnT cap="flat" cmpd="sng" w="9525">
                      <a:solidFill>
                        <a:srgbClr val="111111"/>
                      </a:solidFill>
                      <a:prstDash val="solid"/>
                      <a:round/>
                      <a:headEnd len="sm" w="sm" type="none"/>
                      <a:tailEnd len="sm" w="sm" type="none"/>
                    </a:lnT>
                    <a:lnB cap="flat" cmpd="sng" w="9525">
                      <a:solidFill>
                        <a:srgbClr val="111111"/>
                      </a:solidFill>
                      <a:prstDash val="solid"/>
                      <a:round/>
                      <a:headEnd len="sm" w="sm" type="none"/>
                      <a:tailEnd len="sm" w="sm" type="none"/>
                    </a:lnB>
                  </a:tcPr>
                </a:tc>
                <a:tc>
                  <a:txBody>
                    <a:bodyPr/>
                    <a:lstStyle/>
                    <a:p>
                      <a:pPr indent="0" lvl="0" marL="0" rtl="0" algn="ctr">
                        <a:spcBef>
                          <a:spcPts val="0"/>
                        </a:spcBef>
                        <a:spcAft>
                          <a:spcPts val="0"/>
                        </a:spcAft>
                        <a:buNone/>
                      </a:pPr>
                      <a:r>
                        <a:rPr lang="en-US" sz="1700">
                          <a:latin typeface="Georgia"/>
                          <a:ea typeface="Georgia"/>
                          <a:cs typeface="Georgia"/>
                          <a:sym typeface="Georgia"/>
                        </a:rPr>
                        <a:t>&lt; 15%</a:t>
                      </a:r>
                      <a:endParaRPr sz="1700">
                        <a:latin typeface="Georgia"/>
                        <a:ea typeface="Georgia"/>
                        <a:cs typeface="Georgia"/>
                        <a:sym typeface="Georgia"/>
                      </a:endParaRPr>
                    </a:p>
                  </a:txBody>
                  <a:tcPr marT="91425" marB="91425" marR="91425" marL="91425">
                    <a:lnL cap="flat" cmpd="sng" w="9525">
                      <a:solidFill>
                        <a:srgbClr val="111111"/>
                      </a:solidFill>
                      <a:prstDash val="solid"/>
                      <a:round/>
                      <a:headEnd len="sm" w="sm" type="none"/>
                      <a:tailEnd len="sm" w="sm" type="none"/>
                    </a:lnL>
                    <a:lnR cap="flat" cmpd="sng" w="9525">
                      <a:solidFill>
                        <a:srgbClr val="111111"/>
                      </a:solidFill>
                      <a:prstDash val="solid"/>
                      <a:round/>
                      <a:headEnd len="sm" w="sm" type="none"/>
                      <a:tailEnd len="sm" w="sm" type="none"/>
                    </a:lnR>
                    <a:lnT cap="flat" cmpd="sng" w="9525">
                      <a:solidFill>
                        <a:srgbClr val="111111"/>
                      </a:solidFill>
                      <a:prstDash val="solid"/>
                      <a:round/>
                      <a:headEnd len="sm" w="sm" type="none"/>
                      <a:tailEnd len="sm" w="sm" type="none"/>
                    </a:lnT>
                    <a:lnB cap="flat" cmpd="sng" w="9525">
                      <a:solidFill>
                        <a:srgbClr val="111111"/>
                      </a:solidFill>
                      <a:prstDash val="solid"/>
                      <a:round/>
                      <a:headEnd len="sm" w="sm" type="none"/>
                      <a:tailEnd len="sm" w="sm" type="none"/>
                    </a:lnB>
                  </a:tcPr>
                </a:tc>
                <a:tc>
                  <a:txBody>
                    <a:bodyPr/>
                    <a:lstStyle/>
                    <a:p>
                      <a:pPr indent="0" lvl="0" marL="0" rtl="0" algn="ctr">
                        <a:spcBef>
                          <a:spcPts val="0"/>
                        </a:spcBef>
                        <a:spcAft>
                          <a:spcPts val="0"/>
                        </a:spcAft>
                        <a:buNone/>
                      </a:pPr>
                      <a:r>
                        <a:rPr lang="en-US" sz="1700">
                          <a:latin typeface="Georgia"/>
                          <a:ea typeface="Georgia"/>
                          <a:cs typeface="Georgia"/>
                          <a:sym typeface="Georgia"/>
                        </a:rPr>
                        <a:t>Passive</a:t>
                      </a:r>
                      <a:endParaRPr sz="1700">
                        <a:latin typeface="Georgia"/>
                        <a:ea typeface="Georgia"/>
                        <a:cs typeface="Georgia"/>
                        <a:sym typeface="Georgia"/>
                      </a:endParaRPr>
                    </a:p>
                  </a:txBody>
                  <a:tcPr marT="91425" marB="91425" marR="91425" marL="91425">
                    <a:lnL cap="flat" cmpd="sng" w="9525">
                      <a:solidFill>
                        <a:srgbClr val="111111"/>
                      </a:solidFill>
                      <a:prstDash val="solid"/>
                      <a:round/>
                      <a:headEnd len="sm" w="sm" type="none"/>
                      <a:tailEnd len="sm" w="sm" type="none"/>
                    </a:lnL>
                    <a:lnR cap="flat" cmpd="sng" w="9525">
                      <a:solidFill>
                        <a:srgbClr val="111111"/>
                      </a:solidFill>
                      <a:prstDash val="solid"/>
                      <a:round/>
                      <a:headEnd len="sm" w="sm" type="none"/>
                      <a:tailEnd len="sm" w="sm" type="none"/>
                    </a:lnR>
                    <a:lnT cap="flat" cmpd="sng" w="9525">
                      <a:solidFill>
                        <a:srgbClr val="111111"/>
                      </a:solidFill>
                      <a:prstDash val="solid"/>
                      <a:round/>
                      <a:headEnd len="sm" w="sm" type="none"/>
                      <a:tailEnd len="sm" w="sm" type="none"/>
                    </a:lnT>
                    <a:lnB cap="flat" cmpd="sng" w="9525">
                      <a:solidFill>
                        <a:srgbClr val="111111"/>
                      </a:solidFill>
                      <a:prstDash val="solid"/>
                      <a:round/>
                      <a:headEnd len="sm" w="sm" type="none"/>
                      <a:tailEnd len="sm" w="sm" type="none"/>
                    </a:lnB>
                  </a:tcPr>
                </a:tc>
              </a:tr>
              <a:tr h="381000">
                <a:tc vMerge="1"/>
                <a:tc>
                  <a:txBody>
                    <a:bodyPr/>
                    <a:lstStyle/>
                    <a:p>
                      <a:pPr indent="0" lvl="0" marL="0" rtl="0" algn="ctr">
                        <a:spcBef>
                          <a:spcPts val="0"/>
                        </a:spcBef>
                        <a:spcAft>
                          <a:spcPts val="0"/>
                        </a:spcAft>
                        <a:buNone/>
                      </a:pPr>
                      <a:r>
                        <a:rPr lang="en-US" sz="1700">
                          <a:latin typeface="Georgia"/>
                          <a:ea typeface="Georgia"/>
                          <a:cs typeface="Georgia"/>
                          <a:sym typeface="Georgia"/>
                        </a:rPr>
                        <a:t>&gt;= 15%</a:t>
                      </a:r>
                      <a:endParaRPr sz="1700">
                        <a:latin typeface="Georgia"/>
                        <a:ea typeface="Georgia"/>
                        <a:cs typeface="Georgia"/>
                        <a:sym typeface="Georgia"/>
                      </a:endParaRPr>
                    </a:p>
                  </a:txBody>
                  <a:tcPr marT="91425" marB="91425" marR="91425" marL="91425">
                    <a:lnL cap="flat" cmpd="sng" w="9525">
                      <a:solidFill>
                        <a:srgbClr val="111111"/>
                      </a:solidFill>
                      <a:prstDash val="solid"/>
                      <a:round/>
                      <a:headEnd len="sm" w="sm" type="none"/>
                      <a:tailEnd len="sm" w="sm" type="none"/>
                    </a:lnL>
                    <a:lnR cap="flat" cmpd="sng" w="9525">
                      <a:solidFill>
                        <a:srgbClr val="111111"/>
                      </a:solidFill>
                      <a:prstDash val="solid"/>
                      <a:round/>
                      <a:headEnd len="sm" w="sm" type="none"/>
                      <a:tailEnd len="sm" w="sm" type="none"/>
                    </a:lnR>
                    <a:lnT cap="flat" cmpd="sng" w="9525">
                      <a:solidFill>
                        <a:srgbClr val="111111"/>
                      </a:solidFill>
                      <a:prstDash val="solid"/>
                      <a:round/>
                      <a:headEnd len="sm" w="sm" type="none"/>
                      <a:tailEnd len="sm" w="sm" type="none"/>
                    </a:lnT>
                    <a:lnB cap="flat" cmpd="sng" w="9525">
                      <a:solidFill>
                        <a:srgbClr val="111111"/>
                      </a:solidFill>
                      <a:prstDash val="solid"/>
                      <a:round/>
                      <a:headEnd len="sm" w="sm" type="none"/>
                      <a:tailEnd len="sm" w="sm" type="none"/>
                    </a:lnB>
                  </a:tcPr>
                </a:tc>
                <a:tc>
                  <a:txBody>
                    <a:bodyPr/>
                    <a:lstStyle/>
                    <a:p>
                      <a:pPr indent="0" lvl="0" marL="0" rtl="0" algn="ctr">
                        <a:spcBef>
                          <a:spcPts val="0"/>
                        </a:spcBef>
                        <a:spcAft>
                          <a:spcPts val="0"/>
                        </a:spcAft>
                        <a:buNone/>
                      </a:pPr>
                      <a:r>
                        <a:rPr lang="en-US" sz="1700">
                          <a:latin typeface="Georgia"/>
                          <a:ea typeface="Georgia"/>
                          <a:cs typeface="Georgia"/>
                          <a:sym typeface="Georgia"/>
                        </a:rPr>
                        <a:t>Aggressive</a:t>
                      </a:r>
                      <a:endParaRPr sz="1700">
                        <a:latin typeface="Georgia"/>
                        <a:ea typeface="Georgia"/>
                        <a:cs typeface="Georgia"/>
                        <a:sym typeface="Georgia"/>
                      </a:endParaRPr>
                    </a:p>
                  </a:txBody>
                  <a:tcPr marT="91425" marB="91425" marR="91425" marL="91425">
                    <a:lnL cap="flat" cmpd="sng" w="9525">
                      <a:solidFill>
                        <a:srgbClr val="111111"/>
                      </a:solidFill>
                      <a:prstDash val="solid"/>
                      <a:round/>
                      <a:headEnd len="sm" w="sm" type="none"/>
                      <a:tailEnd len="sm" w="sm" type="none"/>
                    </a:lnL>
                    <a:lnR cap="flat" cmpd="sng" w="9525">
                      <a:solidFill>
                        <a:srgbClr val="111111"/>
                      </a:solidFill>
                      <a:prstDash val="solid"/>
                      <a:round/>
                      <a:headEnd len="sm" w="sm" type="none"/>
                      <a:tailEnd len="sm" w="sm" type="none"/>
                    </a:lnR>
                    <a:lnT cap="flat" cmpd="sng" w="9525">
                      <a:solidFill>
                        <a:srgbClr val="111111"/>
                      </a:solidFill>
                      <a:prstDash val="solid"/>
                      <a:round/>
                      <a:headEnd len="sm" w="sm" type="none"/>
                      <a:tailEnd len="sm" w="sm" type="none"/>
                    </a:lnT>
                    <a:lnB cap="flat" cmpd="sng" w="9525">
                      <a:solidFill>
                        <a:srgbClr val="111111"/>
                      </a:solidFill>
                      <a:prstDash val="solid"/>
                      <a:round/>
                      <a:headEnd len="sm" w="sm" type="none"/>
                      <a:tailEnd len="sm" w="sm" type="none"/>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4" name="Shape 364"/>
        <p:cNvGrpSpPr/>
        <p:nvPr/>
      </p:nvGrpSpPr>
      <p:grpSpPr>
        <a:xfrm>
          <a:off x="0" y="0"/>
          <a:ext cx="0" cy="0"/>
          <a:chOff x="0" y="0"/>
          <a:chExt cx="0" cy="0"/>
        </a:xfrm>
      </p:grpSpPr>
      <p:pic>
        <p:nvPicPr>
          <p:cNvPr id="365" name="Google Shape;365;p6"/>
          <p:cNvPicPr preferRelativeResize="0"/>
          <p:nvPr/>
        </p:nvPicPr>
        <p:blipFill>
          <a:blip r:embed="rId3">
            <a:alphaModFix/>
          </a:blip>
          <a:stretch>
            <a:fillRect/>
          </a:stretch>
        </p:blipFill>
        <p:spPr>
          <a:xfrm>
            <a:off x="16778877" y="375188"/>
            <a:ext cx="1261872" cy="1261872"/>
          </a:xfrm>
          <a:prstGeom prst="rect">
            <a:avLst/>
          </a:prstGeom>
          <a:noFill/>
          <a:ln>
            <a:noFill/>
          </a:ln>
        </p:spPr>
      </p:pic>
      <p:sp>
        <p:nvSpPr>
          <p:cNvPr id="366" name="Google Shape;366;p6"/>
          <p:cNvSpPr/>
          <p:nvPr/>
        </p:nvSpPr>
        <p:spPr>
          <a:xfrm>
            <a:off x="1047640" y="761890"/>
            <a:ext cx="16678391" cy="563849"/>
          </a:xfrm>
          <a:prstGeom prst="rect">
            <a:avLst/>
          </a:prstGeom>
          <a:noFill/>
          <a:ln>
            <a:noFill/>
          </a:ln>
        </p:spPr>
        <p:txBody>
          <a:bodyPr anchorCtr="0" anchor="t" bIns="25400" lIns="25400" spcFirstLastPara="1" rIns="25400" wrap="square" tIns="25400">
            <a:normAutofit/>
          </a:bodyPr>
          <a:lstStyle/>
          <a:p>
            <a:pPr indent="0" lvl="0" marL="0" marR="0" rtl="0" algn="l">
              <a:lnSpc>
                <a:spcPct val="115000"/>
              </a:lnSpc>
              <a:spcBef>
                <a:spcPts val="0"/>
              </a:spcBef>
              <a:spcAft>
                <a:spcPts val="0"/>
              </a:spcAft>
              <a:buClr>
                <a:srgbClr val="111111"/>
              </a:buClr>
              <a:buSzPts val="3600"/>
              <a:buFont typeface="Georgia"/>
              <a:buNone/>
            </a:pPr>
            <a:r>
              <a:rPr b="0" i="0" lang="en-US" sz="3600" u="none" cap="none" strike="noStrike">
                <a:solidFill>
                  <a:srgbClr val="111111"/>
                </a:solidFill>
                <a:latin typeface="Georgia"/>
                <a:ea typeface="Georgia"/>
                <a:cs typeface="Georgia"/>
                <a:sym typeface="Georgia"/>
              </a:rPr>
              <a:t>Results</a:t>
            </a:r>
            <a:r>
              <a:rPr lang="en-US" sz="3600">
                <a:solidFill>
                  <a:srgbClr val="111111"/>
                </a:solidFill>
                <a:latin typeface="Georgia"/>
                <a:ea typeface="Georgia"/>
                <a:cs typeface="Georgia"/>
                <a:sym typeface="Georgia"/>
              </a:rPr>
              <a:t>:</a:t>
            </a:r>
            <a:r>
              <a:rPr b="0" i="0" lang="en-US" sz="3600" u="none" cap="none" strike="noStrike">
                <a:solidFill>
                  <a:srgbClr val="111111"/>
                </a:solidFill>
                <a:latin typeface="Georgia"/>
                <a:ea typeface="Georgia"/>
                <a:cs typeface="Georgia"/>
                <a:sym typeface="Georgia"/>
              </a:rPr>
              <a:t> Feature Distributions</a:t>
            </a:r>
            <a:endParaRPr b="0" i="0" sz="3600" u="none" cap="none" strike="noStrike">
              <a:solidFill>
                <a:schemeClr val="dk1"/>
              </a:solidFill>
              <a:latin typeface="Calibri"/>
              <a:ea typeface="Calibri"/>
              <a:cs typeface="Calibri"/>
              <a:sym typeface="Calibri"/>
            </a:endParaRPr>
          </a:p>
        </p:txBody>
      </p:sp>
      <p:sp>
        <p:nvSpPr>
          <p:cNvPr id="367" name="Google Shape;367;p6"/>
          <p:cNvSpPr/>
          <p:nvPr/>
        </p:nvSpPr>
        <p:spPr>
          <a:xfrm>
            <a:off x="1047640" y="1554317"/>
            <a:ext cx="16192613" cy="14111"/>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6"/>
          <p:cNvSpPr/>
          <p:nvPr/>
        </p:nvSpPr>
        <p:spPr>
          <a:xfrm>
            <a:off x="3065597" y="4547637"/>
            <a:ext cx="4166390" cy="369601"/>
          </a:xfrm>
          <a:prstGeom prst="rect">
            <a:avLst/>
          </a:prstGeom>
          <a:noFill/>
          <a:ln>
            <a:noFill/>
          </a:ln>
        </p:spPr>
        <p:txBody>
          <a:bodyPr anchorCtr="0" anchor="t" bIns="25400" lIns="25400" spcFirstLastPara="1" rIns="25400" wrap="square" tIns="25400">
            <a:normAutofit/>
          </a:bodyPr>
          <a:lstStyle/>
          <a:p>
            <a:pPr indent="0" lvl="0" marL="0" marR="0" rtl="0" algn="ctr">
              <a:lnSpc>
                <a:spcPct val="145000"/>
              </a:lnSpc>
              <a:spcBef>
                <a:spcPts val="0"/>
              </a:spcBef>
              <a:spcAft>
                <a:spcPts val="0"/>
              </a:spcAft>
              <a:buClr>
                <a:srgbClr val="444444"/>
              </a:buClr>
              <a:buSzPts val="1800"/>
              <a:buFont typeface="Georgia"/>
              <a:buNone/>
            </a:pPr>
            <a:r>
              <a:t/>
            </a:r>
            <a:endParaRPr b="0" i="0" sz="1800" u="none" cap="none" strike="noStrike">
              <a:solidFill>
                <a:schemeClr val="dk1"/>
              </a:solidFill>
              <a:latin typeface="Calibri"/>
              <a:ea typeface="Calibri"/>
              <a:cs typeface="Calibri"/>
              <a:sym typeface="Calibri"/>
            </a:endParaRPr>
          </a:p>
        </p:txBody>
      </p:sp>
      <p:sp>
        <p:nvSpPr>
          <p:cNvPr id="369" name="Google Shape;369;p6"/>
          <p:cNvSpPr/>
          <p:nvPr/>
        </p:nvSpPr>
        <p:spPr>
          <a:xfrm>
            <a:off x="3526837" y="4993350"/>
            <a:ext cx="3244020" cy="756003"/>
          </a:xfrm>
          <a:prstGeom prst="rect">
            <a:avLst/>
          </a:prstGeom>
          <a:noFill/>
          <a:ln>
            <a:noFill/>
          </a:ln>
        </p:spPr>
        <p:txBody>
          <a:bodyPr anchorCtr="0" anchor="t" bIns="25400" lIns="25400" spcFirstLastPara="1" rIns="25400" wrap="square" tIns="25400">
            <a:normAutofit/>
          </a:bodyPr>
          <a:lstStyle/>
          <a:p>
            <a:pPr indent="0" lvl="0" marL="0" marR="0" rtl="0" algn="ctr">
              <a:lnSpc>
                <a:spcPct val="145000"/>
              </a:lnSpc>
              <a:spcBef>
                <a:spcPts val="0"/>
              </a:spcBef>
              <a:spcAft>
                <a:spcPts val="0"/>
              </a:spcAft>
              <a:buClr>
                <a:srgbClr val="666666"/>
              </a:buClr>
              <a:buSzPts val="1950"/>
              <a:buFont typeface="Georgia"/>
              <a:buNone/>
            </a:pPr>
            <a:r>
              <a:t/>
            </a:r>
            <a:endParaRPr b="0" i="0" sz="1950" u="none" cap="none" strike="noStrike">
              <a:solidFill>
                <a:schemeClr val="dk1"/>
              </a:solidFill>
              <a:latin typeface="Calibri"/>
              <a:ea typeface="Calibri"/>
              <a:cs typeface="Calibri"/>
              <a:sym typeface="Calibri"/>
            </a:endParaRPr>
          </a:p>
        </p:txBody>
      </p:sp>
      <p:sp>
        <p:nvSpPr>
          <p:cNvPr id="370" name="Google Shape;370;p6"/>
          <p:cNvSpPr/>
          <p:nvPr/>
        </p:nvSpPr>
        <p:spPr>
          <a:xfrm>
            <a:off x="2841561" y="5863608"/>
            <a:ext cx="4614573" cy="701102"/>
          </a:xfrm>
          <a:prstGeom prst="rect">
            <a:avLst/>
          </a:prstGeom>
          <a:noFill/>
          <a:ln>
            <a:noFill/>
          </a:ln>
        </p:spPr>
        <p:txBody>
          <a:bodyPr anchorCtr="0" anchor="t" bIns="25400" lIns="25400" spcFirstLastPara="1" rIns="25400" wrap="square" tIns="25400">
            <a:normAutofit/>
          </a:bodyPr>
          <a:lstStyle/>
          <a:p>
            <a:pPr indent="0" lvl="0" marL="0" marR="0" rtl="0" algn="ctr">
              <a:lnSpc>
                <a:spcPct val="145000"/>
              </a:lnSpc>
              <a:spcBef>
                <a:spcPts val="0"/>
              </a:spcBef>
              <a:spcAft>
                <a:spcPts val="0"/>
              </a:spcAft>
              <a:buClr>
                <a:srgbClr val="777777"/>
              </a:buClr>
              <a:buSzPts val="1800"/>
              <a:buFont typeface="Georgia"/>
              <a:buNone/>
            </a:pPr>
            <a:r>
              <a:t/>
            </a:r>
            <a:endParaRPr b="0" i="0" sz="1800" u="none" cap="none" strike="noStrike">
              <a:solidFill>
                <a:schemeClr val="dk1"/>
              </a:solidFill>
              <a:latin typeface="Calibri"/>
              <a:ea typeface="Calibri"/>
              <a:cs typeface="Calibri"/>
              <a:sym typeface="Calibri"/>
            </a:endParaRPr>
          </a:p>
        </p:txBody>
      </p:sp>
      <p:sp>
        <p:nvSpPr>
          <p:cNvPr id="371" name="Google Shape;371;p6"/>
          <p:cNvSpPr/>
          <p:nvPr/>
        </p:nvSpPr>
        <p:spPr>
          <a:xfrm>
            <a:off x="9783411" y="1835106"/>
            <a:ext cx="7680547" cy="452393"/>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250"/>
              <a:buFont typeface="Georgia"/>
              <a:buNone/>
            </a:pPr>
            <a:r>
              <a:rPr b="1" i="0" lang="en-US" sz="2250" u="none" cap="none" strike="noStrike">
                <a:solidFill>
                  <a:srgbClr val="111111"/>
                </a:solidFill>
                <a:latin typeface="Georgia"/>
                <a:ea typeface="Georgia"/>
                <a:cs typeface="Georgia"/>
                <a:sym typeface="Georgia"/>
              </a:rPr>
              <a:t>Quick stats (n = 16,439)</a:t>
            </a:r>
            <a:endParaRPr b="0" i="0" sz="2250" u="none" cap="none" strike="noStrike">
              <a:solidFill>
                <a:schemeClr val="dk1"/>
              </a:solidFill>
              <a:latin typeface="Calibri"/>
              <a:ea typeface="Calibri"/>
              <a:cs typeface="Calibri"/>
              <a:sym typeface="Calibri"/>
            </a:endParaRPr>
          </a:p>
        </p:txBody>
      </p:sp>
      <p:sp>
        <p:nvSpPr>
          <p:cNvPr id="372" name="Google Shape;372;p6"/>
          <p:cNvSpPr/>
          <p:nvPr/>
        </p:nvSpPr>
        <p:spPr>
          <a:xfrm>
            <a:off x="9901433" y="2363611"/>
            <a:ext cx="7553383" cy="424722"/>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VPIP: </a:t>
            </a:r>
            <a:r>
              <a:rPr b="0" i="0" lang="en-US" sz="2100" u="none" cap="none" strike="noStrike">
                <a:solidFill>
                  <a:srgbClr val="111111"/>
                </a:solidFill>
                <a:latin typeface="Georgia"/>
                <a:ea typeface="Georgia"/>
                <a:cs typeface="Georgia"/>
                <a:sym typeface="Georgia"/>
              </a:rPr>
              <a:t>mean </a:t>
            </a:r>
            <a:r>
              <a:rPr b="1" i="0" lang="en-US" sz="2100" u="none" cap="none" strike="noStrike">
                <a:solidFill>
                  <a:srgbClr val="111111"/>
                </a:solidFill>
                <a:latin typeface="Georgia"/>
                <a:ea typeface="Georgia"/>
                <a:cs typeface="Georgia"/>
                <a:sym typeface="Georgia"/>
              </a:rPr>
              <a:t>51.08%</a:t>
            </a:r>
            <a:r>
              <a:rPr b="0" i="0" lang="en-US" sz="2100" u="none" cap="none" strike="noStrike">
                <a:solidFill>
                  <a:srgbClr val="111111"/>
                </a:solidFill>
                <a:latin typeface="Georgia"/>
                <a:ea typeface="Georgia"/>
                <a:cs typeface="Georgia"/>
                <a:sym typeface="Georgia"/>
              </a:rPr>
              <a:t>, std </a:t>
            </a:r>
            <a:r>
              <a:rPr b="1" i="0" lang="en-US" sz="2100" u="none" cap="none" strike="noStrike">
                <a:solidFill>
                  <a:srgbClr val="111111"/>
                </a:solidFill>
                <a:latin typeface="Georgia"/>
                <a:ea typeface="Georgia"/>
                <a:cs typeface="Georgia"/>
                <a:sym typeface="Georgia"/>
              </a:rPr>
              <a:t>19.14</a:t>
            </a:r>
            <a:endParaRPr b="0" i="0" sz="2100" u="none" cap="none" strike="noStrike">
              <a:solidFill>
                <a:schemeClr val="dk1"/>
              </a:solidFill>
              <a:latin typeface="Calibri"/>
              <a:ea typeface="Calibri"/>
              <a:cs typeface="Calibri"/>
              <a:sym typeface="Calibri"/>
            </a:endParaRPr>
          </a:p>
        </p:txBody>
      </p:sp>
      <p:sp>
        <p:nvSpPr>
          <p:cNvPr id="373" name="Google Shape;373;p6"/>
          <p:cNvSpPr/>
          <p:nvPr/>
        </p:nvSpPr>
        <p:spPr>
          <a:xfrm>
            <a:off x="9901433" y="2864446"/>
            <a:ext cx="7553383" cy="424722"/>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PFR:</a:t>
            </a:r>
            <a:r>
              <a:rPr b="0" i="0" lang="en-US" sz="2100" u="none" cap="none" strike="noStrike">
                <a:solidFill>
                  <a:srgbClr val="111111"/>
                </a:solidFill>
                <a:latin typeface="Georgia"/>
                <a:ea typeface="Georgia"/>
                <a:cs typeface="Georgia"/>
                <a:sym typeface="Georgia"/>
              </a:rPr>
              <a:t> mean </a:t>
            </a:r>
            <a:r>
              <a:rPr b="1" i="0" lang="en-US" sz="2100" u="none" cap="none" strike="noStrike">
                <a:solidFill>
                  <a:srgbClr val="111111"/>
                </a:solidFill>
                <a:latin typeface="Georgia"/>
                <a:ea typeface="Georgia"/>
                <a:cs typeface="Georgia"/>
                <a:sym typeface="Georgia"/>
              </a:rPr>
              <a:t>15.01%</a:t>
            </a:r>
            <a:r>
              <a:rPr b="0" i="0" lang="en-US" sz="2100" u="none" cap="none" strike="noStrike">
                <a:solidFill>
                  <a:srgbClr val="111111"/>
                </a:solidFill>
                <a:latin typeface="Georgia"/>
                <a:ea typeface="Georgia"/>
                <a:cs typeface="Georgia"/>
                <a:sym typeface="Georgia"/>
              </a:rPr>
              <a:t>, std </a:t>
            </a:r>
            <a:r>
              <a:rPr b="1" i="0" lang="en-US" sz="2100" u="none" cap="none" strike="noStrike">
                <a:solidFill>
                  <a:srgbClr val="111111"/>
                </a:solidFill>
                <a:latin typeface="Georgia"/>
                <a:ea typeface="Georgia"/>
                <a:cs typeface="Georgia"/>
                <a:sym typeface="Georgia"/>
              </a:rPr>
              <a:t>16.64</a:t>
            </a:r>
            <a:endParaRPr b="0" i="0" sz="2100" u="none" cap="none" strike="noStrike">
              <a:solidFill>
                <a:schemeClr val="dk1"/>
              </a:solidFill>
              <a:latin typeface="Calibri"/>
              <a:ea typeface="Calibri"/>
              <a:cs typeface="Calibri"/>
              <a:sym typeface="Calibri"/>
            </a:endParaRPr>
          </a:p>
        </p:txBody>
      </p:sp>
      <p:sp>
        <p:nvSpPr>
          <p:cNvPr id="374" name="Google Shape;374;p6"/>
          <p:cNvSpPr/>
          <p:nvPr/>
        </p:nvSpPr>
        <p:spPr>
          <a:xfrm>
            <a:off x="9901433" y="3365280"/>
            <a:ext cx="7553383" cy="424722"/>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Hands per player:</a:t>
            </a:r>
            <a:r>
              <a:rPr b="0" i="0" lang="en-US" sz="2100" u="none" cap="none" strike="noStrike">
                <a:solidFill>
                  <a:srgbClr val="111111"/>
                </a:solidFill>
                <a:latin typeface="Georgia"/>
                <a:ea typeface="Georgia"/>
                <a:cs typeface="Georgia"/>
                <a:sym typeface="Georgia"/>
              </a:rPr>
              <a:t> median </a:t>
            </a:r>
            <a:r>
              <a:rPr b="1" i="0" lang="en-US" sz="2100" u="none" cap="none" strike="noStrike">
                <a:solidFill>
                  <a:srgbClr val="111111"/>
                </a:solidFill>
                <a:latin typeface="Georgia"/>
                <a:ea typeface="Georgia"/>
                <a:cs typeface="Georgia"/>
                <a:sym typeface="Georgia"/>
              </a:rPr>
              <a:t>225</a:t>
            </a:r>
            <a:r>
              <a:rPr b="0" i="0" lang="en-US" sz="2100" u="none" cap="none" strike="noStrike">
                <a:solidFill>
                  <a:srgbClr val="111111"/>
                </a:solidFill>
                <a:latin typeface="Georgia"/>
                <a:ea typeface="Georgia"/>
                <a:cs typeface="Georgia"/>
                <a:sym typeface="Georgia"/>
              </a:rPr>
              <a:t>, max </a:t>
            </a:r>
            <a:r>
              <a:rPr b="1" i="0" lang="en-US" sz="2100" u="none" cap="none" strike="noStrike">
                <a:solidFill>
                  <a:srgbClr val="111111"/>
                </a:solidFill>
                <a:latin typeface="Georgia"/>
                <a:ea typeface="Georgia"/>
                <a:cs typeface="Georgia"/>
                <a:sym typeface="Georgia"/>
              </a:rPr>
              <a:t>280,960</a:t>
            </a:r>
            <a:endParaRPr b="0" i="0" sz="2100" u="none" cap="none" strike="noStrike">
              <a:solidFill>
                <a:schemeClr val="dk1"/>
              </a:solidFill>
              <a:latin typeface="Calibri"/>
              <a:ea typeface="Calibri"/>
              <a:cs typeface="Calibri"/>
              <a:sym typeface="Calibri"/>
            </a:endParaRPr>
          </a:p>
        </p:txBody>
      </p:sp>
      <p:sp>
        <p:nvSpPr>
          <p:cNvPr id="375" name="Google Shape;375;p6"/>
          <p:cNvSpPr/>
          <p:nvPr/>
        </p:nvSpPr>
        <p:spPr>
          <a:xfrm>
            <a:off x="9901433" y="3866114"/>
            <a:ext cx="7553383" cy="424722"/>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Correlation VPIP vs PFR: </a:t>
            </a:r>
            <a:r>
              <a:rPr b="1" i="0" lang="en-US" sz="2100" u="none" cap="none" strike="noStrike">
                <a:solidFill>
                  <a:srgbClr val="111111"/>
                </a:solidFill>
                <a:latin typeface="Georgia"/>
                <a:ea typeface="Georgia"/>
                <a:cs typeface="Georgia"/>
                <a:sym typeface="Georgia"/>
              </a:rPr>
              <a:t>0.485</a:t>
            </a:r>
            <a:endParaRPr b="0" i="0" sz="2100" u="none" cap="none" strike="noStrike">
              <a:solidFill>
                <a:schemeClr val="dk1"/>
              </a:solidFill>
              <a:latin typeface="Calibri"/>
              <a:ea typeface="Calibri"/>
              <a:cs typeface="Calibri"/>
              <a:sym typeface="Calibri"/>
            </a:endParaRPr>
          </a:p>
        </p:txBody>
      </p:sp>
      <p:sp>
        <p:nvSpPr>
          <p:cNvPr id="376" name="Google Shape;376;p6"/>
          <p:cNvSpPr/>
          <p:nvPr/>
        </p:nvSpPr>
        <p:spPr>
          <a:xfrm>
            <a:off x="9783411" y="4443126"/>
            <a:ext cx="7680547" cy="452393"/>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250"/>
              <a:buFont typeface="Georgia"/>
              <a:buNone/>
            </a:pPr>
            <a:r>
              <a:rPr b="1" i="0" lang="en-US" sz="2250" u="none" cap="none" strike="noStrike">
                <a:solidFill>
                  <a:srgbClr val="111111"/>
                </a:solidFill>
                <a:latin typeface="Georgia"/>
                <a:ea typeface="Georgia"/>
                <a:cs typeface="Georgia"/>
                <a:sym typeface="Georgia"/>
              </a:rPr>
              <a:t>Sanity checks</a:t>
            </a:r>
            <a:endParaRPr b="0" i="0" sz="2250" u="none" cap="none" strike="noStrike">
              <a:solidFill>
                <a:schemeClr val="dk1"/>
              </a:solidFill>
              <a:latin typeface="Calibri"/>
              <a:ea typeface="Calibri"/>
              <a:cs typeface="Calibri"/>
              <a:sym typeface="Calibri"/>
            </a:endParaRPr>
          </a:p>
        </p:txBody>
      </p:sp>
      <p:sp>
        <p:nvSpPr>
          <p:cNvPr id="377" name="Google Shape;377;p6"/>
          <p:cNvSpPr/>
          <p:nvPr/>
        </p:nvSpPr>
        <p:spPr>
          <a:xfrm>
            <a:off x="9901433" y="4971632"/>
            <a:ext cx="7553383" cy="424722"/>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PFR &gt; VPIP violations: </a:t>
            </a:r>
            <a:r>
              <a:rPr b="1" i="0" lang="en-US" sz="2100" u="none" cap="none" strike="noStrike">
                <a:solidFill>
                  <a:srgbClr val="111111"/>
                </a:solidFill>
                <a:latin typeface="Georgia"/>
                <a:ea typeface="Georgia"/>
                <a:cs typeface="Georgia"/>
                <a:sym typeface="Georgia"/>
              </a:rPr>
              <a:t>0 </a:t>
            </a:r>
            <a:r>
              <a:rPr b="0" i="0" lang="en-US" sz="2100" u="none" cap="none" strike="noStrike">
                <a:solidFill>
                  <a:srgbClr val="111111"/>
                </a:solidFill>
                <a:latin typeface="Georgia"/>
                <a:ea typeface="Georgia"/>
                <a:cs typeface="Georgia"/>
                <a:sym typeface="Georgia"/>
              </a:rPr>
              <a:t>(should be 0)</a:t>
            </a:r>
            <a:endParaRPr b="0" i="0" sz="2100" u="none" cap="none" strike="noStrike">
              <a:solidFill>
                <a:schemeClr val="dk1"/>
              </a:solidFill>
              <a:latin typeface="Calibri"/>
              <a:ea typeface="Calibri"/>
              <a:cs typeface="Calibri"/>
              <a:sym typeface="Calibri"/>
            </a:endParaRPr>
          </a:p>
        </p:txBody>
      </p:sp>
      <p:sp>
        <p:nvSpPr>
          <p:cNvPr id="378" name="Google Shape;378;p6"/>
          <p:cNvSpPr/>
          <p:nvPr/>
        </p:nvSpPr>
        <p:spPr>
          <a:xfrm>
            <a:off x="9901433" y="5472466"/>
            <a:ext cx="7553383" cy="424722"/>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Duplicate player rows: </a:t>
            </a:r>
            <a:r>
              <a:rPr b="1" i="0" lang="en-US" sz="2100" u="none" cap="none" strike="noStrike">
                <a:solidFill>
                  <a:srgbClr val="111111"/>
                </a:solidFill>
                <a:latin typeface="Georgia"/>
                <a:ea typeface="Georgia"/>
                <a:cs typeface="Georgia"/>
                <a:sym typeface="Georgia"/>
              </a:rPr>
              <a:t>0</a:t>
            </a:r>
            <a:endParaRPr b="0" i="0" sz="2100" u="none" cap="none" strike="noStrike">
              <a:solidFill>
                <a:schemeClr val="dk1"/>
              </a:solidFill>
              <a:latin typeface="Calibri"/>
              <a:ea typeface="Calibri"/>
              <a:cs typeface="Calibri"/>
              <a:sym typeface="Calibri"/>
            </a:endParaRPr>
          </a:p>
        </p:txBody>
      </p:sp>
      <p:sp>
        <p:nvSpPr>
          <p:cNvPr id="379" name="Google Shape;379;p6"/>
          <p:cNvSpPr/>
          <p:nvPr/>
        </p:nvSpPr>
        <p:spPr>
          <a:xfrm>
            <a:off x="9783411" y="6049478"/>
            <a:ext cx="7680547" cy="452393"/>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250"/>
              <a:buFont typeface="Georgia"/>
              <a:buNone/>
            </a:pPr>
            <a:r>
              <a:rPr b="1" i="0" lang="en-US" sz="2250" u="none" cap="none" strike="noStrike">
                <a:solidFill>
                  <a:srgbClr val="111111"/>
                </a:solidFill>
                <a:latin typeface="Georgia"/>
                <a:ea typeface="Georgia"/>
                <a:cs typeface="Georgia"/>
                <a:sym typeface="Georgia"/>
              </a:rPr>
              <a:t>Heuristic label counts</a:t>
            </a:r>
            <a:endParaRPr b="0" i="0" sz="2250" u="none" cap="none" strike="noStrike">
              <a:solidFill>
                <a:schemeClr val="dk1"/>
              </a:solidFill>
              <a:latin typeface="Calibri"/>
              <a:ea typeface="Calibri"/>
              <a:cs typeface="Calibri"/>
              <a:sym typeface="Calibri"/>
            </a:endParaRPr>
          </a:p>
        </p:txBody>
      </p:sp>
      <p:sp>
        <p:nvSpPr>
          <p:cNvPr id="380" name="Google Shape;380;p6"/>
          <p:cNvSpPr/>
          <p:nvPr/>
        </p:nvSpPr>
        <p:spPr>
          <a:xfrm>
            <a:off x="9901433" y="6577983"/>
            <a:ext cx="7553383" cy="424722"/>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Fish: </a:t>
            </a:r>
            <a:r>
              <a:rPr b="1" i="0" lang="en-US" sz="2100" u="none" cap="none" strike="noStrike">
                <a:solidFill>
                  <a:srgbClr val="111111"/>
                </a:solidFill>
                <a:latin typeface="Georgia"/>
                <a:ea typeface="Georgia"/>
                <a:cs typeface="Georgia"/>
                <a:sym typeface="Georgia"/>
              </a:rPr>
              <a:t>10,140 </a:t>
            </a:r>
            <a:r>
              <a:rPr b="0" i="0" lang="en-US" sz="2100" u="none" cap="none" strike="noStrike">
                <a:solidFill>
                  <a:srgbClr val="111111"/>
                </a:solidFill>
                <a:latin typeface="Georgia"/>
                <a:ea typeface="Georgia"/>
                <a:cs typeface="Georgia"/>
                <a:sym typeface="Georgia"/>
              </a:rPr>
              <a:t>· LAG: </a:t>
            </a:r>
            <a:r>
              <a:rPr b="1" i="0" lang="en-US" sz="2100" u="none" cap="none" strike="noStrike">
                <a:solidFill>
                  <a:srgbClr val="111111"/>
                </a:solidFill>
                <a:latin typeface="Georgia"/>
                <a:ea typeface="Georgia"/>
                <a:cs typeface="Georgia"/>
                <a:sym typeface="Georgia"/>
              </a:rPr>
              <a:t>5,225</a:t>
            </a:r>
            <a:endParaRPr b="0" i="0" sz="2100" u="none" cap="none" strike="noStrike">
              <a:solidFill>
                <a:schemeClr val="dk1"/>
              </a:solidFill>
              <a:latin typeface="Calibri"/>
              <a:ea typeface="Calibri"/>
              <a:cs typeface="Calibri"/>
              <a:sym typeface="Calibri"/>
            </a:endParaRPr>
          </a:p>
        </p:txBody>
      </p:sp>
      <p:sp>
        <p:nvSpPr>
          <p:cNvPr id="381" name="Google Shape;381;p6"/>
          <p:cNvSpPr/>
          <p:nvPr/>
        </p:nvSpPr>
        <p:spPr>
          <a:xfrm>
            <a:off x="9901433" y="7078818"/>
            <a:ext cx="7553383" cy="424722"/>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Rock: </a:t>
            </a:r>
            <a:r>
              <a:rPr b="1" i="0" lang="en-US" sz="2100" u="none" cap="none" strike="noStrike">
                <a:solidFill>
                  <a:srgbClr val="111111"/>
                </a:solidFill>
                <a:latin typeface="Georgia"/>
                <a:ea typeface="Georgia"/>
                <a:cs typeface="Georgia"/>
                <a:sym typeface="Georgia"/>
              </a:rPr>
              <a:t>1,042 </a:t>
            </a:r>
            <a:r>
              <a:rPr b="0" i="0" lang="en-US" sz="2100" u="none" cap="none" strike="noStrike">
                <a:solidFill>
                  <a:srgbClr val="111111"/>
                </a:solidFill>
                <a:latin typeface="Georgia"/>
                <a:ea typeface="Georgia"/>
                <a:cs typeface="Georgia"/>
                <a:sym typeface="Georgia"/>
              </a:rPr>
              <a:t>· TAG: </a:t>
            </a:r>
            <a:r>
              <a:rPr b="1" i="0" lang="en-US" sz="2100" u="none" cap="none" strike="noStrike">
                <a:solidFill>
                  <a:srgbClr val="111111"/>
                </a:solidFill>
                <a:latin typeface="Georgia"/>
                <a:ea typeface="Georgia"/>
                <a:cs typeface="Georgia"/>
                <a:sym typeface="Georgia"/>
              </a:rPr>
              <a:t>32</a:t>
            </a:r>
            <a:endParaRPr b="0" i="0" sz="2100" u="none" cap="none" strike="noStrike">
              <a:solidFill>
                <a:schemeClr val="dk1"/>
              </a:solidFill>
              <a:latin typeface="Calibri"/>
              <a:ea typeface="Calibri"/>
              <a:cs typeface="Calibri"/>
              <a:sym typeface="Calibri"/>
            </a:endParaRPr>
          </a:p>
        </p:txBody>
      </p:sp>
      <p:sp>
        <p:nvSpPr>
          <p:cNvPr id="382" name="Google Shape;382;p6"/>
          <p:cNvSpPr/>
          <p:nvPr/>
        </p:nvSpPr>
        <p:spPr>
          <a:xfrm>
            <a:off x="1047640" y="9159766"/>
            <a:ext cx="16192613"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83" name="Google Shape;383;p6"/>
          <p:cNvPicPr preferRelativeResize="0"/>
          <p:nvPr/>
        </p:nvPicPr>
        <p:blipFill rotWithShape="1">
          <a:blip r:embed="rId4">
            <a:alphaModFix/>
          </a:blip>
          <a:srcRect b="0" l="0" r="66483" t="0"/>
          <a:stretch/>
        </p:blipFill>
        <p:spPr>
          <a:xfrm>
            <a:off x="1756163" y="1786025"/>
            <a:ext cx="5549576" cy="3757925"/>
          </a:xfrm>
          <a:prstGeom prst="rect">
            <a:avLst/>
          </a:prstGeom>
          <a:noFill/>
          <a:ln>
            <a:noFill/>
          </a:ln>
        </p:spPr>
      </p:pic>
      <p:pic>
        <p:nvPicPr>
          <p:cNvPr id="384" name="Google Shape;384;p6"/>
          <p:cNvPicPr preferRelativeResize="0"/>
          <p:nvPr/>
        </p:nvPicPr>
        <p:blipFill rotWithShape="1">
          <a:blip r:embed="rId4">
            <a:alphaModFix/>
          </a:blip>
          <a:srcRect b="0" l="32164" r="33254" t="0"/>
          <a:stretch/>
        </p:blipFill>
        <p:spPr>
          <a:xfrm>
            <a:off x="1756162" y="5591499"/>
            <a:ext cx="5549576" cy="3642073"/>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9" name="Shape 389"/>
        <p:cNvGrpSpPr/>
        <p:nvPr/>
      </p:nvGrpSpPr>
      <p:grpSpPr>
        <a:xfrm>
          <a:off x="0" y="0"/>
          <a:ext cx="0" cy="0"/>
          <a:chOff x="0" y="0"/>
          <a:chExt cx="0" cy="0"/>
        </a:xfrm>
      </p:grpSpPr>
      <p:sp>
        <p:nvSpPr>
          <p:cNvPr id="390" name="Google Shape;390;p7"/>
          <p:cNvSpPr/>
          <p:nvPr/>
        </p:nvSpPr>
        <p:spPr>
          <a:xfrm>
            <a:off x="1047640" y="761890"/>
            <a:ext cx="16678391" cy="563849"/>
          </a:xfrm>
          <a:prstGeom prst="rect">
            <a:avLst/>
          </a:prstGeom>
          <a:noFill/>
          <a:ln>
            <a:noFill/>
          </a:ln>
        </p:spPr>
        <p:txBody>
          <a:bodyPr anchorCtr="0" anchor="t" bIns="25400" lIns="25400" spcFirstLastPara="1" rIns="25400" wrap="square" tIns="25400">
            <a:normAutofit/>
          </a:bodyPr>
          <a:lstStyle/>
          <a:p>
            <a:pPr indent="0" lvl="0" marL="0" marR="0" rtl="0" algn="l">
              <a:lnSpc>
                <a:spcPct val="115000"/>
              </a:lnSpc>
              <a:spcBef>
                <a:spcPts val="0"/>
              </a:spcBef>
              <a:spcAft>
                <a:spcPts val="0"/>
              </a:spcAft>
              <a:buClr>
                <a:srgbClr val="111111"/>
              </a:buClr>
              <a:buSzPts val="3600"/>
              <a:buFont typeface="Georgia"/>
              <a:buNone/>
            </a:pPr>
            <a:r>
              <a:rPr b="0" i="0" lang="en-US" sz="3600" u="none" cap="none" strike="noStrike">
                <a:solidFill>
                  <a:srgbClr val="111111"/>
                </a:solidFill>
                <a:latin typeface="Georgia"/>
                <a:ea typeface="Georgia"/>
                <a:cs typeface="Georgia"/>
                <a:sym typeface="Georgia"/>
              </a:rPr>
              <a:t>Results</a:t>
            </a:r>
            <a:r>
              <a:rPr lang="en-US" sz="3600">
                <a:solidFill>
                  <a:srgbClr val="111111"/>
                </a:solidFill>
                <a:latin typeface="Georgia"/>
                <a:ea typeface="Georgia"/>
                <a:cs typeface="Georgia"/>
                <a:sym typeface="Georgia"/>
              </a:rPr>
              <a:t>:</a:t>
            </a:r>
            <a:r>
              <a:rPr b="0" i="0" lang="en-US" sz="3600" u="none" cap="none" strike="noStrike">
                <a:solidFill>
                  <a:srgbClr val="111111"/>
                </a:solidFill>
                <a:latin typeface="Georgia"/>
                <a:ea typeface="Georgia"/>
                <a:cs typeface="Georgia"/>
                <a:sym typeface="Georgia"/>
              </a:rPr>
              <a:t> Choosing K</a:t>
            </a:r>
            <a:endParaRPr b="0" i="0" sz="3600" u="none" cap="none" strike="noStrike">
              <a:solidFill>
                <a:schemeClr val="dk1"/>
              </a:solidFill>
              <a:latin typeface="Calibri"/>
              <a:ea typeface="Calibri"/>
              <a:cs typeface="Calibri"/>
              <a:sym typeface="Calibri"/>
            </a:endParaRPr>
          </a:p>
        </p:txBody>
      </p:sp>
      <p:sp>
        <p:nvSpPr>
          <p:cNvPr id="391" name="Google Shape;391;p7"/>
          <p:cNvSpPr/>
          <p:nvPr/>
        </p:nvSpPr>
        <p:spPr>
          <a:xfrm>
            <a:off x="1047640" y="1554317"/>
            <a:ext cx="16192613" cy="14111"/>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7"/>
          <p:cNvSpPr/>
          <p:nvPr/>
        </p:nvSpPr>
        <p:spPr>
          <a:xfrm>
            <a:off x="2981396" y="4578695"/>
            <a:ext cx="3746100" cy="329700"/>
          </a:xfrm>
          <a:prstGeom prst="rect">
            <a:avLst/>
          </a:prstGeom>
          <a:noFill/>
          <a:ln>
            <a:noFill/>
          </a:ln>
        </p:spPr>
        <p:txBody>
          <a:bodyPr anchorCtr="0" anchor="t" bIns="22675" lIns="22675" spcFirstLastPara="1" rIns="22675" wrap="square" tIns="22675">
            <a:normAutofit/>
          </a:bodyPr>
          <a:lstStyle/>
          <a:p>
            <a:pPr indent="0" lvl="0" marL="0" marR="0" rtl="0" algn="ctr">
              <a:lnSpc>
                <a:spcPct val="145000"/>
              </a:lnSpc>
              <a:spcBef>
                <a:spcPts val="0"/>
              </a:spcBef>
              <a:spcAft>
                <a:spcPts val="0"/>
              </a:spcAft>
              <a:buClr>
                <a:srgbClr val="444444"/>
              </a:buClr>
              <a:buSzPts val="1606"/>
              <a:buFont typeface="Georgia"/>
              <a:buNone/>
            </a:pPr>
            <a:r>
              <a:rPr b="1" i="0" lang="en-US" sz="1606" u="none" cap="none" strike="noStrike">
                <a:solidFill>
                  <a:srgbClr val="444444"/>
                </a:solidFill>
                <a:latin typeface="Georgia"/>
                <a:ea typeface="Georgia"/>
                <a:cs typeface="Georgia"/>
                <a:sym typeface="Georgia"/>
              </a:rPr>
              <a:t> ]</a:t>
            </a:r>
            <a:endParaRPr b="0" i="0" sz="1606" u="none" cap="none" strike="noStrike">
              <a:solidFill>
                <a:schemeClr val="dk1"/>
              </a:solidFill>
              <a:latin typeface="Calibri"/>
              <a:ea typeface="Calibri"/>
              <a:cs typeface="Calibri"/>
              <a:sym typeface="Calibri"/>
            </a:endParaRPr>
          </a:p>
        </p:txBody>
      </p:sp>
      <p:sp>
        <p:nvSpPr>
          <p:cNvPr id="393" name="Google Shape;393;p7"/>
          <p:cNvSpPr/>
          <p:nvPr/>
        </p:nvSpPr>
        <p:spPr>
          <a:xfrm>
            <a:off x="9410569" y="1835106"/>
            <a:ext cx="8064574" cy="452393"/>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250"/>
              <a:buFont typeface="Georgia"/>
              <a:buNone/>
            </a:pPr>
            <a:r>
              <a:rPr b="1" i="0" lang="en-US" sz="2250" u="none" cap="none" strike="noStrike">
                <a:solidFill>
                  <a:srgbClr val="111111"/>
                </a:solidFill>
                <a:latin typeface="Georgia"/>
                <a:ea typeface="Georgia"/>
                <a:cs typeface="Georgia"/>
                <a:sym typeface="Georgia"/>
              </a:rPr>
              <a:t>Scores for K = 2 to 8</a:t>
            </a:r>
            <a:endParaRPr b="0" i="0" sz="2250" u="none" cap="none" strike="noStrike">
              <a:solidFill>
                <a:schemeClr val="dk1"/>
              </a:solidFill>
              <a:latin typeface="Calibri"/>
              <a:ea typeface="Calibri"/>
              <a:cs typeface="Calibri"/>
              <a:sym typeface="Calibri"/>
            </a:endParaRPr>
          </a:p>
        </p:txBody>
      </p:sp>
      <p:sp>
        <p:nvSpPr>
          <p:cNvPr id="394" name="Google Shape;394;p7"/>
          <p:cNvSpPr/>
          <p:nvPr/>
        </p:nvSpPr>
        <p:spPr>
          <a:xfrm>
            <a:off x="9410569" y="2794662"/>
            <a:ext cx="430800" cy="14100"/>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7"/>
          <p:cNvSpPr/>
          <p:nvPr/>
        </p:nvSpPr>
        <p:spPr>
          <a:xfrm>
            <a:off x="9562969" y="2347736"/>
            <a:ext cx="278400" cy="3897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1" i="0" lang="en-US" sz="1950" u="none" cap="none" strike="noStrike">
                <a:solidFill>
                  <a:srgbClr val="111111"/>
                </a:solidFill>
                <a:latin typeface="Georgia"/>
                <a:ea typeface="Georgia"/>
                <a:cs typeface="Georgia"/>
                <a:sym typeface="Georgia"/>
              </a:rPr>
              <a:t>K</a:t>
            </a:r>
            <a:endParaRPr b="0" i="0" sz="1950" u="none" cap="none" strike="noStrike">
              <a:solidFill>
                <a:schemeClr val="dk1"/>
              </a:solidFill>
              <a:latin typeface="Calibri"/>
              <a:ea typeface="Calibri"/>
              <a:cs typeface="Calibri"/>
              <a:sym typeface="Calibri"/>
            </a:endParaRPr>
          </a:p>
        </p:txBody>
      </p:sp>
      <p:sp>
        <p:nvSpPr>
          <p:cNvPr id="396" name="Google Shape;396;p7"/>
          <p:cNvSpPr/>
          <p:nvPr/>
        </p:nvSpPr>
        <p:spPr>
          <a:xfrm>
            <a:off x="9841399" y="2794662"/>
            <a:ext cx="1330500" cy="14100"/>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p7"/>
          <p:cNvSpPr/>
          <p:nvPr/>
        </p:nvSpPr>
        <p:spPr>
          <a:xfrm>
            <a:off x="9993799" y="2347736"/>
            <a:ext cx="1178100" cy="3897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1" i="0" lang="en-US" sz="1950" u="none" cap="none" strike="noStrike">
                <a:solidFill>
                  <a:srgbClr val="111111"/>
                </a:solidFill>
                <a:latin typeface="Georgia"/>
                <a:ea typeface="Georgia"/>
                <a:cs typeface="Georgia"/>
                <a:sym typeface="Georgia"/>
              </a:rPr>
              <a:t>Inertia</a:t>
            </a:r>
            <a:endParaRPr b="0" i="0" sz="1950" u="none" cap="none" strike="noStrike">
              <a:solidFill>
                <a:schemeClr val="dk1"/>
              </a:solidFill>
              <a:latin typeface="Calibri"/>
              <a:ea typeface="Calibri"/>
              <a:cs typeface="Calibri"/>
              <a:sym typeface="Calibri"/>
            </a:endParaRPr>
          </a:p>
        </p:txBody>
      </p:sp>
      <p:sp>
        <p:nvSpPr>
          <p:cNvPr id="398" name="Google Shape;398;p7"/>
          <p:cNvSpPr/>
          <p:nvPr/>
        </p:nvSpPr>
        <p:spPr>
          <a:xfrm>
            <a:off x="11172033" y="2794662"/>
            <a:ext cx="1535100" cy="14100"/>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7"/>
          <p:cNvSpPr/>
          <p:nvPr/>
        </p:nvSpPr>
        <p:spPr>
          <a:xfrm>
            <a:off x="11324433" y="2347736"/>
            <a:ext cx="1382700" cy="3897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1" i="0" lang="en-US" sz="1950" u="none" cap="none" strike="noStrike">
                <a:solidFill>
                  <a:srgbClr val="111111"/>
                </a:solidFill>
                <a:latin typeface="Georgia"/>
                <a:ea typeface="Georgia"/>
                <a:cs typeface="Georgia"/>
                <a:sym typeface="Georgia"/>
              </a:rPr>
              <a:t>Silhouette</a:t>
            </a:r>
            <a:endParaRPr b="0" i="0" sz="1950" u="none" cap="none" strike="noStrike">
              <a:solidFill>
                <a:schemeClr val="dk1"/>
              </a:solidFill>
              <a:latin typeface="Calibri"/>
              <a:ea typeface="Calibri"/>
              <a:cs typeface="Calibri"/>
              <a:sym typeface="Calibri"/>
            </a:endParaRPr>
          </a:p>
        </p:txBody>
      </p:sp>
      <p:sp>
        <p:nvSpPr>
          <p:cNvPr id="400" name="Google Shape;400;p7"/>
          <p:cNvSpPr/>
          <p:nvPr/>
        </p:nvSpPr>
        <p:spPr>
          <a:xfrm>
            <a:off x="9410569" y="3361532"/>
            <a:ext cx="4308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7"/>
          <p:cNvSpPr/>
          <p:nvPr/>
        </p:nvSpPr>
        <p:spPr>
          <a:xfrm>
            <a:off x="9562969" y="2904023"/>
            <a:ext cx="278400" cy="4005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2</a:t>
            </a:r>
            <a:endParaRPr b="0" i="0" sz="1950" u="none" cap="none" strike="noStrike">
              <a:solidFill>
                <a:schemeClr val="dk1"/>
              </a:solidFill>
              <a:latin typeface="Calibri"/>
              <a:ea typeface="Calibri"/>
              <a:cs typeface="Calibri"/>
              <a:sym typeface="Calibri"/>
            </a:endParaRPr>
          </a:p>
        </p:txBody>
      </p:sp>
      <p:sp>
        <p:nvSpPr>
          <p:cNvPr id="402" name="Google Shape;402;p7"/>
          <p:cNvSpPr/>
          <p:nvPr/>
        </p:nvSpPr>
        <p:spPr>
          <a:xfrm>
            <a:off x="9841399" y="3361532"/>
            <a:ext cx="13305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7"/>
          <p:cNvSpPr/>
          <p:nvPr/>
        </p:nvSpPr>
        <p:spPr>
          <a:xfrm>
            <a:off x="9993799" y="2904023"/>
            <a:ext cx="1178100" cy="4005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18,086.23</a:t>
            </a:r>
            <a:endParaRPr b="0" i="0" sz="1950" u="none" cap="none" strike="noStrike">
              <a:solidFill>
                <a:schemeClr val="dk1"/>
              </a:solidFill>
              <a:latin typeface="Calibri"/>
              <a:ea typeface="Calibri"/>
              <a:cs typeface="Calibri"/>
              <a:sym typeface="Calibri"/>
            </a:endParaRPr>
          </a:p>
        </p:txBody>
      </p:sp>
      <p:sp>
        <p:nvSpPr>
          <p:cNvPr id="404" name="Google Shape;404;p7"/>
          <p:cNvSpPr/>
          <p:nvPr/>
        </p:nvSpPr>
        <p:spPr>
          <a:xfrm>
            <a:off x="11172033" y="3361532"/>
            <a:ext cx="15351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7"/>
          <p:cNvSpPr/>
          <p:nvPr/>
        </p:nvSpPr>
        <p:spPr>
          <a:xfrm>
            <a:off x="11324433" y="2904023"/>
            <a:ext cx="1382700" cy="4005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1" i="0" lang="en-US" sz="1950" u="none" cap="none" strike="noStrike">
                <a:solidFill>
                  <a:srgbClr val="111111"/>
                </a:solidFill>
                <a:latin typeface="Georgia"/>
                <a:ea typeface="Georgia"/>
                <a:cs typeface="Georgia"/>
                <a:sym typeface="Georgia"/>
              </a:rPr>
              <a:t>0.4917</a:t>
            </a:r>
            <a:endParaRPr b="0" i="0" sz="1950" u="none" cap="none" strike="noStrike">
              <a:solidFill>
                <a:schemeClr val="dk1"/>
              </a:solidFill>
              <a:latin typeface="Calibri"/>
              <a:ea typeface="Calibri"/>
              <a:cs typeface="Calibri"/>
              <a:sym typeface="Calibri"/>
            </a:endParaRPr>
          </a:p>
        </p:txBody>
      </p:sp>
      <p:sp>
        <p:nvSpPr>
          <p:cNvPr id="406" name="Google Shape;406;p7"/>
          <p:cNvSpPr/>
          <p:nvPr/>
        </p:nvSpPr>
        <p:spPr>
          <a:xfrm>
            <a:off x="9410569" y="3917818"/>
            <a:ext cx="4308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7"/>
          <p:cNvSpPr/>
          <p:nvPr/>
        </p:nvSpPr>
        <p:spPr>
          <a:xfrm>
            <a:off x="9562969" y="3463837"/>
            <a:ext cx="2784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3</a:t>
            </a:r>
            <a:endParaRPr b="0" i="0" sz="1950" u="none" cap="none" strike="noStrike">
              <a:solidFill>
                <a:schemeClr val="dk1"/>
              </a:solidFill>
              <a:latin typeface="Calibri"/>
              <a:ea typeface="Calibri"/>
              <a:cs typeface="Calibri"/>
              <a:sym typeface="Calibri"/>
            </a:endParaRPr>
          </a:p>
        </p:txBody>
      </p:sp>
      <p:sp>
        <p:nvSpPr>
          <p:cNvPr id="408" name="Google Shape;408;p7"/>
          <p:cNvSpPr/>
          <p:nvPr/>
        </p:nvSpPr>
        <p:spPr>
          <a:xfrm>
            <a:off x="9841399" y="3917818"/>
            <a:ext cx="13305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7"/>
          <p:cNvSpPr/>
          <p:nvPr/>
        </p:nvSpPr>
        <p:spPr>
          <a:xfrm>
            <a:off x="9993799" y="3463837"/>
            <a:ext cx="11781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10,067.76</a:t>
            </a:r>
            <a:endParaRPr b="0" i="0" sz="1950" u="none" cap="none" strike="noStrike">
              <a:solidFill>
                <a:schemeClr val="dk1"/>
              </a:solidFill>
              <a:latin typeface="Calibri"/>
              <a:ea typeface="Calibri"/>
              <a:cs typeface="Calibri"/>
              <a:sym typeface="Calibri"/>
            </a:endParaRPr>
          </a:p>
        </p:txBody>
      </p:sp>
      <p:sp>
        <p:nvSpPr>
          <p:cNvPr id="410" name="Google Shape;410;p7"/>
          <p:cNvSpPr/>
          <p:nvPr/>
        </p:nvSpPr>
        <p:spPr>
          <a:xfrm>
            <a:off x="11172033" y="3917818"/>
            <a:ext cx="15351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7"/>
          <p:cNvSpPr/>
          <p:nvPr/>
        </p:nvSpPr>
        <p:spPr>
          <a:xfrm>
            <a:off x="11324433" y="3463837"/>
            <a:ext cx="13827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0.4516</a:t>
            </a:r>
            <a:endParaRPr b="0" i="0" sz="1950" u="none" cap="none" strike="noStrike">
              <a:solidFill>
                <a:schemeClr val="dk1"/>
              </a:solidFill>
              <a:latin typeface="Calibri"/>
              <a:ea typeface="Calibri"/>
              <a:cs typeface="Calibri"/>
              <a:sym typeface="Calibri"/>
            </a:endParaRPr>
          </a:p>
        </p:txBody>
      </p:sp>
      <p:sp>
        <p:nvSpPr>
          <p:cNvPr id="412" name="Google Shape;412;p7"/>
          <p:cNvSpPr/>
          <p:nvPr/>
        </p:nvSpPr>
        <p:spPr>
          <a:xfrm>
            <a:off x="9410569" y="4474105"/>
            <a:ext cx="4308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7"/>
          <p:cNvSpPr/>
          <p:nvPr/>
        </p:nvSpPr>
        <p:spPr>
          <a:xfrm>
            <a:off x="9562969" y="4020124"/>
            <a:ext cx="2784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4</a:t>
            </a:r>
            <a:endParaRPr b="0" i="0" sz="1950" u="none" cap="none" strike="noStrike">
              <a:solidFill>
                <a:schemeClr val="dk1"/>
              </a:solidFill>
              <a:latin typeface="Calibri"/>
              <a:ea typeface="Calibri"/>
              <a:cs typeface="Calibri"/>
              <a:sym typeface="Calibri"/>
            </a:endParaRPr>
          </a:p>
        </p:txBody>
      </p:sp>
      <p:sp>
        <p:nvSpPr>
          <p:cNvPr id="414" name="Google Shape;414;p7"/>
          <p:cNvSpPr/>
          <p:nvPr/>
        </p:nvSpPr>
        <p:spPr>
          <a:xfrm>
            <a:off x="9841399" y="4474105"/>
            <a:ext cx="13305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7"/>
          <p:cNvSpPr/>
          <p:nvPr/>
        </p:nvSpPr>
        <p:spPr>
          <a:xfrm>
            <a:off x="9993799" y="4020124"/>
            <a:ext cx="11781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7,730.94</a:t>
            </a:r>
            <a:endParaRPr b="0" i="0" sz="1950" u="none" cap="none" strike="noStrike">
              <a:solidFill>
                <a:schemeClr val="dk1"/>
              </a:solidFill>
              <a:latin typeface="Calibri"/>
              <a:ea typeface="Calibri"/>
              <a:cs typeface="Calibri"/>
              <a:sym typeface="Calibri"/>
            </a:endParaRPr>
          </a:p>
        </p:txBody>
      </p:sp>
      <p:sp>
        <p:nvSpPr>
          <p:cNvPr id="416" name="Google Shape;416;p7"/>
          <p:cNvSpPr/>
          <p:nvPr/>
        </p:nvSpPr>
        <p:spPr>
          <a:xfrm>
            <a:off x="11172033" y="4474105"/>
            <a:ext cx="15351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7"/>
          <p:cNvSpPr/>
          <p:nvPr/>
        </p:nvSpPr>
        <p:spPr>
          <a:xfrm>
            <a:off x="11324433" y="4020124"/>
            <a:ext cx="13827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0.4420</a:t>
            </a:r>
            <a:endParaRPr b="0" i="0" sz="1950" u="none" cap="none" strike="noStrike">
              <a:solidFill>
                <a:schemeClr val="dk1"/>
              </a:solidFill>
              <a:latin typeface="Calibri"/>
              <a:ea typeface="Calibri"/>
              <a:cs typeface="Calibri"/>
              <a:sym typeface="Calibri"/>
            </a:endParaRPr>
          </a:p>
        </p:txBody>
      </p:sp>
      <p:sp>
        <p:nvSpPr>
          <p:cNvPr id="418" name="Google Shape;418;p7"/>
          <p:cNvSpPr/>
          <p:nvPr/>
        </p:nvSpPr>
        <p:spPr>
          <a:xfrm>
            <a:off x="9410569" y="5030391"/>
            <a:ext cx="4308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7"/>
          <p:cNvSpPr/>
          <p:nvPr/>
        </p:nvSpPr>
        <p:spPr>
          <a:xfrm>
            <a:off x="9562969" y="4576410"/>
            <a:ext cx="2784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5</a:t>
            </a:r>
            <a:endParaRPr b="0" i="0" sz="1950" u="none" cap="none" strike="noStrike">
              <a:solidFill>
                <a:schemeClr val="dk1"/>
              </a:solidFill>
              <a:latin typeface="Calibri"/>
              <a:ea typeface="Calibri"/>
              <a:cs typeface="Calibri"/>
              <a:sym typeface="Calibri"/>
            </a:endParaRPr>
          </a:p>
        </p:txBody>
      </p:sp>
      <p:sp>
        <p:nvSpPr>
          <p:cNvPr id="420" name="Google Shape;420;p7"/>
          <p:cNvSpPr/>
          <p:nvPr/>
        </p:nvSpPr>
        <p:spPr>
          <a:xfrm>
            <a:off x="9841399" y="5030391"/>
            <a:ext cx="13305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7"/>
          <p:cNvSpPr/>
          <p:nvPr/>
        </p:nvSpPr>
        <p:spPr>
          <a:xfrm>
            <a:off x="9993799" y="4576410"/>
            <a:ext cx="11781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5,781.48</a:t>
            </a:r>
            <a:endParaRPr b="0" i="0" sz="1950" u="none" cap="none" strike="noStrike">
              <a:solidFill>
                <a:schemeClr val="dk1"/>
              </a:solidFill>
              <a:latin typeface="Calibri"/>
              <a:ea typeface="Calibri"/>
              <a:cs typeface="Calibri"/>
              <a:sym typeface="Calibri"/>
            </a:endParaRPr>
          </a:p>
        </p:txBody>
      </p:sp>
      <p:sp>
        <p:nvSpPr>
          <p:cNvPr id="422" name="Google Shape;422;p7"/>
          <p:cNvSpPr/>
          <p:nvPr/>
        </p:nvSpPr>
        <p:spPr>
          <a:xfrm>
            <a:off x="11172033" y="5030391"/>
            <a:ext cx="15351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 name="Google Shape;423;p7"/>
          <p:cNvSpPr/>
          <p:nvPr/>
        </p:nvSpPr>
        <p:spPr>
          <a:xfrm>
            <a:off x="11324433" y="4576410"/>
            <a:ext cx="13827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0.3816</a:t>
            </a:r>
            <a:endParaRPr b="0" i="0" sz="1950" u="none" cap="none" strike="noStrike">
              <a:solidFill>
                <a:schemeClr val="dk1"/>
              </a:solidFill>
              <a:latin typeface="Calibri"/>
              <a:ea typeface="Calibri"/>
              <a:cs typeface="Calibri"/>
              <a:sym typeface="Calibri"/>
            </a:endParaRPr>
          </a:p>
        </p:txBody>
      </p:sp>
      <p:sp>
        <p:nvSpPr>
          <p:cNvPr id="424" name="Google Shape;424;p7"/>
          <p:cNvSpPr/>
          <p:nvPr/>
        </p:nvSpPr>
        <p:spPr>
          <a:xfrm>
            <a:off x="9410569" y="5586678"/>
            <a:ext cx="4308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7"/>
          <p:cNvSpPr/>
          <p:nvPr/>
        </p:nvSpPr>
        <p:spPr>
          <a:xfrm>
            <a:off x="9562969" y="5132697"/>
            <a:ext cx="2784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6</a:t>
            </a:r>
            <a:endParaRPr b="0" i="0" sz="1950" u="none" cap="none" strike="noStrike">
              <a:solidFill>
                <a:schemeClr val="dk1"/>
              </a:solidFill>
              <a:latin typeface="Calibri"/>
              <a:ea typeface="Calibri"/>
              <a:cs typeface="Calibri"/>
              <a:sym typeface="Calibri"/>
            </a:endParaRPr>
          </a:p>
        </p:txBody>
      </p:sp>
      <p:sp>
        <p:nvSpPr>
          <p:cNvPr id="426" name="Google Shape;426;p7"/>
          <p:cNvSpPr/>
          <p:nvPr/>
        </p:nvSpPr>
        <p:spPr>
          <a:xfrm>
            <a:off x="9841399" y="5586678"/>
            <a:ext cx="13305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7"/>
          <p:cNvSpPr/>
          <p:nvPr/>
        </p:nvSpPr>
        <p:spPr>
          <a:xfrm>
            <a:off x="9993799" y="5132697"/>
            <a:ext cx="11781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4,775.33</a:t>
            </a:r>
            <a:endParaRPr b="0" i="0" sz="1950" u="none" cap="none" strike="noStrike">
              <a:solidFill>
                <a:schemeClr val="dk1"/>
              </a:solidFill>
              <a:latin typeface="Calibri"/>
              <a:ea typeface="Calibri"/>
              <a:cs typeface="Calibri"/>
              <a:sym typeface="Calibri"/>
            </a:endParaRPr>
          </a:p>
        </p:txBody>
      </p:sp>
      <p:sp>
        <p:nvSpPr>
          <p:cNvPr id="428" name="Google Shape;428;p7"/>
          <p:cNvSpPr/>
          <p:nvPr/>
        </p:nvSpPr>
        <p:spPr>
          <a:xfrm>
            <a:off x="11172033" y="5586678"/>
            <a:ext cx="15351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7"/>
          <p:cNvSpPr/>
          <p:nvPr/>
        </p:nvSpPr>
        <p:spPr>
          <a:xfrm>
            <a:off x="11324433" y="5132697"/>
            <a:ext cx="13827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0.3909</a:t>
            </a:r>
            <a:endParaRPr b="0" i="0" sz="1950" u="none" cap="none" strike="noStrike">
              <a:solidFill>
                <a:schemeClr val="dk1"/>
              </a:solidFill>
              <a:latin typeface="Calibri"/>
              <a:ea typeface="Calibri"/>
              <a:cs typeface="Calibri"/>
              <a:sym typeface="Calibri"/>
            </a:endParaRPr>
          </a:p>
        </p:txBody>
      </p:sp>
      <p:sp>
        <p:nvSpPr>
          <p:cNvPr id="430" name="Google Shape;430;p7"/>
          <p:cNvSpPr/>
          <p:nvPr/>
        </p:nvSpPr>
        <p:spPr>
          <a:xfrm>
            <a:off x="9410569" y="6142964"/>
            <a:ext cx="4308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7"/>
          <p:cNvSpPr/>
          <p:nvPr/>
        </p:nvSpPr>
        <p:spPr>
          <a:xfrm>
            <a:off x="9562969" y="5688983"/>
            <a:ext cx="2784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7</a:t>
            </a:r>
            <a:endParaRPr b="0" i="0" sz="1950" u="none" cap="none" strike="noStrike">
              <a:solidFill>
                <a:schemeClr val="dk1"/>
              </a:solidFill>
              <a:latin typeface="Calibri"/>
              <a:ea typeface="Calibri"/>
              <a:cs typeface="Calibri"/>
              <a:sym typeface="Calibri"/>
            </a:endParaRPr>
          </a:p>
        </p:txBody>
      </p:sp>
      <p:sp>
        <p:nvSpPr>
          <p:cNvPr id="432" name="Google Shape;432;p7"/>
          <p:cNvSpPr/>
          <p:nvPr/>
        </p:nvSpPr>
        <p:spPr>
          <a:xfrm>
            <a:off x="9841399" y="6142964"/>
            <a:ext cx="13305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7"/>
          <p:cNvSpPr/>
          <p:nvPr/>
        </p:nvSpPr>
        <p:spPr>
          <a:xfrm>
            <a:off x="9993799" y="5688983"/>
            <a:ext cx="11781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4,038.98</a:t>
            </a:r>
            <a:endParaRPr b="0" i="0" sz="1950" u="none" cap="none" strike="noStrike">
              <a:solidFill>
                <a:schemeClr val="dk1"/>
              </a:solidFill>
              <a:latin typeface="Calibri"/>
              <a:ea typeface="Calibri"/>
              <a:cs typeface="Calibri"/>
              <a:sym typeface="Calibri"/>
            </a:endParaRPr>
          </a:p>
        </p:txBody>
      </p:sp>
      <p:sp>
        <p:nvSpPr>
          <p:cNvPr id="434" name="Google Shape;434;p7"/>
          <p:cNvSpPr/>
          <p:nvPr/>
        </p:nvSpPr>
        <p:spPr>
          <a:xfrm>
            <a:off x="11172033" y="6142964"/>
            <a:ext cx="15351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p7"/>
          <p:cNvSpPr/>
          <p:nvPr/>
        </p:nvSpPr>
        <p:spPr>
          <a:xfrm>
            <a:off x="11324433" y="5688983"/>
            <a:ext cx="13827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0.3588</a:t>
            </a:r>
            <a:endParaRPr b="0" i="0" sz="1950" u="none" cap="none" strike="noStrike">
              <a:solidFill>
                <a:schemeClr val="dk1"/>
              </a:solidFill>
              <a:latin typeface="Calibri"/>
              <a:ea typeface="Calibri"/>
              <a:cs typeface="Calibri"/>
              <a:sym typeface="Calibri"/>
            </a:endParaRPr>
          </a:p>
        </p:txBody>
      </p:sp>
      <p:sp>
        <p:nvSpPr>
          <p:cNvPr id="436" name="Google Shape;436;p7"/>
          <p:cNvSpPr/>
          <p:nvPr/>
        </p:nvSpPr>
        <p:spPr>
          <a:xfrm>
            <a:off x="9410569" y="6810376"/>
            <a:ext cx="430830"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7"/>
          <p:cNvSpPr/>
          <p:nvPr/>
        </p:nvSpPr>
        <p:spPr>
          <a:xfrm>
            <a:off x="9562969" y="6245270"/>
            <a:ext cx="2784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8</a:t>
            </a:r>
            <a:endParaRPr b="0" i="0" sz="1950" u="none" cap="none" strike="noStrike">
              <a:solidFill>
                <a:schemeClr val="dk1"/>
              </a:solidFill>
              <a:latin typeface="Calibri"/>
              <a:ea typeface="Calibri"/>
              <a:cs typeface="Calibri"/>
              <a:sym typeface="Calibri"/>
            </a:endParaRPr>
          </a:p>
        </p:txBody>
      </p:sp>
      <p:sp>
        <p:nvSpPr>
          <p:cNvPr id="438" name="Google Shape;438;p7"/>
          <p:cNvSpPr/>
          <p:nvPr/>
        </p:nvSpPr>
        <p:spPr>
          <a:xfrm>
            <a:off x="9841399" y="6810376"/>
            <a:ext cx="1330634"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7"/>
          <p:cNvSpPr/>
          <p:nvPr/>
        </p:nvSpPr>
        <p:spPr>
          <a:xfrm>
            <a:off x="9993799" y="6245270"/>
            <a:ext cx="11781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3,518.03</a:t>
            </a:r>
            <a:endParaRPr b="0" i="0" sz="1950" u="none" cap="none" strike="noStrike">
              <a:solidFill>
                <a:schemeClr val="dk1"/>
              </a:solidFill>
              <a:latin typeface="Calibri"/>
              <a:ea typeface="Calibri"/>
              <a:cs typeface="Calibri"/>
              <a:sym typeface="Calibri"/>
            </a:endParaRPr>
          </a:p>
        </p:txBody>
      </p:sp>
      <p:sp>
        <p:nvSpPr>
          <p:cNvPr id="440" name="Google Shape;440;p7"/>
          <p:cNvSpPr/>
          <p:nvPr/>
        </p:nvSpPr>
        <p:spPr>
          <a:xfrm>
            <a:off x="11172033" y="6810376"/>
            <a:ext cx="1535135"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7"/>
          <p:cNvSpPr/>
          <p:nvPr/>
        </p:nvSpPr>
        <p:spPr>
          <a:xfrm>
            <a:off x="11324433" y="6245270"/>
            <a:ext cx="13827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0.3602</a:t>
            </a:r>
            <a:endParaRPr b="0" i="0" sz="1950" u="none" cap="none" strike="noStrike">
              <a:solidFill>
                <a:schemeClr val="dk1"/>
              </a:solidFill>
              <a:latin typeface="Calibri"/>
              <a:ea typeface="Calibri"/>
              <a:cs typeface="Calibri"/>
              <a:sym typeface="Calibri"/>
            </a:endParaRPr>
          </a:p>
        </p:txBody>
      </p:sp>
      <p:sp>
        <p:nvSpPr>
          <p:cNvPr id="442" name="Google Shape;442;p7"/>
          <p:cNvSpPr/>
          <p:nvPr/>
        </p:nvSpPr>
        <p:spPr>
          <a:xfrm>
            <a:off x="9410569" y="6973315"/>
            <a:ext cx="8064574" cy="452393"/>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250"/>
              <a:buFont typeface="Georgia"/>
              <a:buNone/>
            </a:pPr>
            <a:r>
              <a:rPr b="1" i="0" lang="en-US" sz="2250" u="none" cap="none" strike="noStrike">
                <a:solidFill>
                  <a:srgbClr val="111111"/>
                </a:solidFill>
                <a:latin typeface="Georgia"/>
                <a:ea typeface="Georgia"/>
                <a:cs typeface="Georgia"/>
                <a:sym typeface="Georgia"/>
              </a:rPr>
              <a:t>What we picked</a:t>
            </a:r>
            <a:endParaRPr b="0" i="0" sz="2250" u="none" cap="none" strike="noStrike">
              <a:solidFill>
                <a:schemeClr val="dk1"/>
              </a:solidFill>
              <a:latin typeface="Calibri"/>
              <a:ea typeface="Calibri"/>
              <a:cs typeface="Calibri"/>
              <a:sym typeface="Calibri"/>
            </a:endParaRPr>
          </a:p>
        </p:txBody>
      </p:sp>
      <p:sp>
        <p:nvSpPr>
          <p:cNvPr id="443" name="Google Shape;443;p7"/>
          <p:cNvSpPr/>
          <p:nvPr/>
        </p:nvSpPr>
        <p:spPr>
          <a:xfrm>
            <a:off x="9528591" y="7501821"/>
            <a:ext cx="7937411" cy="424722"/>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Best by silhouette: </a:t>
            </a:r>
            <a:r>
              <a:rPr b="1" i="0" lang="en-US" sz="2100" u="none" cap="none" strike="noStrike">
                <a:solidFill>
                  <a:srgbClr val="111111"/>
                </a:solidFill>
                <a:latin typeface="Georgia"/>
                <a:ea typeface="Georgia"/>
                <a:cs typeface="Georgia"/>
                <a:sym typeface="Georgia"/>
              </a:rPr>
              <a:t>K = 2 </a:t>
            </a:r>
            <a:r>
              <a:rPr b="0" i="0" lang="en-US" sz="2100" u="none" cap="none" strike="noStrike">
                <a:solidFill>
                  <a:srgbClr val="111111"/>
                </a:solidFill>
                <a:latin typeface="Georgia"/>
                <a:ea typeface="Georgia"/>
                <a:cs typeface="Georgia"/>
                <a:sym typeface="Georgia"/>
              </a:rPr>
              <a:t>(0.4917)</a:t>
            </a:r>
            <a:endParaRPr b="0" i="0" sz="2100" u="none" cap="none" strike="noStrike">
              <a:solidFill>
                <a:schemeClr val="dk1"/>
              </a:solidFill>
              <a:latin typeface="Calibri"/>
              <a:ea typeface="Calibri"/>
              <a:cs typeface="Calibri"/>
              <a:sym typeface="Calibri"/>
            </a:endParaRPr>
          </a:p>
        </p:txBody>
      </p:sp>
      <p:sp>
        <p:nvSpPr>
          <p:cNvPr id="444" name="Google Shape;444;p7"/>
          <p:cNvSpPr/>
          <p:nvPr/>
        </p:nvSpPr>
        <p:spPr>
          <a:xfrm>
            <a:off x="9528591" y="8002655"/>
            <a:ext cx="7937411" cy="811345"/>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Final reported model: </a:t>
            </a:r>
            <a:r>
              <a:rPr b="1" i="0" lang="en-US" sz="2100" u="none" cap="none" strike="noStrike">
                <a:solidFill>
                  <a:srgbClr val="111111"/>
                </a:solidFill>
                <a:latin typeface="Georgia"/>
                <a:ea typeface="Georgia"/>
                <a:cs typeface="Georgia"/>
                <a:sym typeface="Georgia"/>
              </a:rPr>
              <a:t>K = 4 </a:t>
            </a:r>
            <a:r>
              <a:rPr b="0" i="0" lang="en-US" sz="2100" u="none" cap="none" strike="noStrike">
                <a:solidFill>
                  <a:srgbClr val="111111"/>
                </a:solidFill>
                <a:latin typeface="Georgia"/>
                <a:ea typeface="Georgia"/>
                <a:cs typeface="Georgia"/>
                <a:sym typeface="Georgia"/>
              </a:rPr>
              <a:t>(0.4420)</a:t>
            </a:r>
            <a:r>
              <a:rPr lang="en-US" sz="2100">
                <a:solidFill>
                  <a:srgbClr val="111111"/>
                </a:solidFill>
                <a:latin typeface="Georgia"/>
                <a:ea typeface="Georgia"/>
                <a:cs typeface="Georgia"/>
                <a:sym typeface="Georgia"/>
              </a:rPr>
              <a:t>:</a:t>
            </a:r>
            <a:r>
              <a:rPr b="0" i="0" lang="en-US" sz="2100" u="none" cap="none" strike="noStrike">
                <a:solidFill>
                  <a:srgbClr val="111111"/>
                </a:solidFill>
                <a:latin typeface="Georgia"/>
                <a:ea typeface="Georgia"/>
                <a:cs typeface="Georgia"/>
                <a:sym typeface="Georgia"/>
              </a:rPr>
              <a:t> to match the four poker archetypes</a:t>
            </a:r>
            <a:endParaRPr b="0" i="0" sz="2100" u="none" cap="none" strike="noStrike">
              <a:solidFill>
                <a:schemeClr val="dk1"/>
              </a:solidFill>
              <a:latin typeface="Calibri"/>
              <a:ea typeface="Calibri"/>
              <a:cs typeface="Calibri"/>
              <a:sym typeface="Calibri"/>
            </a:endParaRPr>
          </a:p>
        </p:txBody>
      </p:sp>
      <p:sp>
        <p:nvSpPr>
          <p:cNvPr id="445" name="Google Shape;445;p7"/>
          <p:cNvSpPr/>
          <p:nvPr/>
        </p:nvSpPr>
        <p:spPr>
          <a:xfrm>
            <a:off x="9528591" y="8890111"/>
            <a:ext cx="7937411" cy="424722"/>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Scores drop after K = 5</a:t>
            </a:r>
            <a:r>
              <a:rPr lang="en-US" sz="2100">
                <a:solidFill>
                  <a:srgbClr val="111111"/>
                </a:solidFill>
                <a:latin typeface="Georgia"/>
                <a:ea typeface="Georgia"/>
                <a:cs typeface="Georgia"/>
                <a:sym typeface="Georgia"/>
              </a:rPr>
              <a:t>, </a:t>
            </a:r>
            <a:r>
              <a:rPr b="0" i="0" lang="en-US" sz="2100" u="none" cap="none" strike="noStrike">
                <a:solidFill>
                  <a:srgbClr val="111111"/>
                </a:solidFill>
                <a:latin typeface="Georgia"/>
                <a:ea typeface="Georgia"/>
                <a:cs typeface="Georgia"/>
                <a:sym typeface="Georgia"/>
              </a:rPr>
              <a:t>more groups don't help</a:t>
            </a:r>
            <a:endParaRPr b="0" i="0" sz="2100" u="none" cap="none" strike="noStrike">
              <a:solidFill>
                <a:schemeClr val="dk1"/>
              </a:solidFill>
              <a:latin typeface="Calibri"/>
              <a:ea typeface="Calibri"/>
              <a:cs typeface="Calibri"/>
              <a:sym typeface="Calibri"/>
            </a:endParaRPr>
          </a:p>
        </p:txBody>
      </p:sp>
      <p:sp>
        <p:nvSpPr>
          <p:cNvPr id="446" name="Google Shape;446;p7"/>
          <p:cNvSpPr/>
          <p:nvPr/>
        </p:nvSpPr>
        <p:spPr>
          <a:xfrm>
            <a:off x="1047640" y="9491267"/>
            <a:ext cx="16192613"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47" name="Google Shape;447;p7"/>
          <p:cNvPicPr preferRelativeResize="0"/>
          <p:nvPr/>
        </p:nvPicPr>
        <p:blipFill rotWithShape="1">
          <a:blip r:embed="rId3">
            <a:alphaModFix/>
          </a:blip>
          <a:srcRect b="0" l="2828" r="0" t="0"/>
          <a:stretch/>
        </p:blipFill>
        <p:spPr>
          <a:xfrm>
            <a:off x="1975126" y="1797012"/>
            <a:ext cx="5214306" cy="3314690"/>
          </a:xfrm>
          <a:prstGeom prst="rect">
            <a:avLst/>
          </a:prstGeom>
          <a:solidFill>
            <a:srgbClr val="F6F6F6"/>
          </a:solidFill>
          <a:ln cap="flat" cmpd="sng" w="12575">
            <a:solidFill>
              <a:srgbClr val="999999"/>
            </a:solidFill>
            <a:prstDash val="dash"/>
            <a:round/>
            <a:headEnd len="sm" w="sm" type="none"/>
            <a:tailEnd len="sm" w="sm" type="none"/>
          </a:ln>
        </p:spPr>
      </p:pic>
      <p:pic>
        <p:nvPicPr>
          <p:cNvPr id="448" name="Google Shape;448;p7"/>
          <p:cNvPicPr preferRelativeResize="0"/>
          <p:nvPr/>
        </p:nvPicPr>
        <p:blipFill>
          <a:blip r:embed="rId4">
            <a:alphaModFix/>
          </a:blip>
          <a:stretch>
            <a:fillRect/>
          </a:stretch>
        </p:blipFill>
        <p:spPr>
          <a:xfrm>
            <a:off x="16778875" y="375191"/>
            <a:ext cx="1261872" cy="1261872"/>
          </a:xfrm>
          <a:prstGeom prst="rect">
            <a:avLst/>
          </a:prstGeom>
          <a:noFill/>
          <a:ln>
            <a:noFill/>
          </a:ln>
        </p:spPr>
      </p:pic>
      <p:pic>
        <p:nvPicPr>
          <p:cNvPr id="449" name="Google Shape;449;p7"/>
          <p:cNvPicPr preferRelativeResize="0"/>
          <p:nvPr/>
        </p:nvPicPr>
        <p:blipFill>
          <a:blip r:embed="rId5">
            <a:alphaModFix/>
          </a:blip>
          <a:stretch>
            <a:fillRect/>
          </a:stretch>
        </p:blipFill>
        <p:spPr>
          <a:xfrm>
            <a:off x="1975121" y="5644133"/>
            <a:ext cx="5214307" cy="3314692"/>
          </a:xfrm>
          <a:prstGeom prst="rect">
            <a:avLst/>
          </a:prstGeom>
          <a:solidFill>
            <a:srgbClr val="F6F6F6"/>
          </a:solidFill>
          <a:ln cap="flat" cmpd="sng" w="12575">
            <a:solidFill>
              <a:srgbClr val="999999"/>
            </a:solidFill>
            <a:prstDash val="dash"/>
            <a:round/>
            <a:headEnd len="sm" w="sm" type="none"/>
            <a:tailEnd len="sm" w="sm" type="none"/>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4" name="Shape 454"/>
        <p:cNvGrpSpPr/>
        <p:nvPr/>
      </p:nvGrpSpPr>
      <p:grpSpPr>
        <a:xfrm>
          <a:off x="0" y="0"/>
          <a:ext cx="0" cy="0"/>
          <a:chOff x="0" y="0"/>
          <a:chExt cx="0" cy="0"/>
        </a:xfrm>
      </p:grpSpPr>
      <p:sp>
        <p:nvSpPr>
          <p:cNvPr id="455" name="Google Shape;455;p8"/>
          <p:cNvSpPr/>
          <p:nvPr/>
        </p:nvSpPr>
        <p:spPr>
          <a:xfrm>
            <a:off x="1047640" y="761890"/>
            <a:ext cx="16678391" cy="563849"/>
          </a:xfrm>
          <a:prstGeom prst="rect">
            <a:avLst/>
          </a:prstGeom>
          <a:noFill/>
          <a:ln>
            <a:noFill/>
          </a:ln>
        </p:spPr>
        <p:txBody>
          <a:bodyPr anchorCtr="0" anchor="t" bIns="25400" lIns="25400" spcFirstLastPara="1" rIns="25400" wrap="square" tIns="25400">
            <a:normAutofit/>
          </a:bodyPr>
          <a:lstStyle/>
          <a:p>
            <a:pPr indent="0" lvl="0" marL="0" marR="0" rtl="0" algn="l">
              <a:lnSpc>
                <a:spcPct val="115000"/>
              </a:lnSpc>
              <a:spcBef>
                <a:spcPts val="0"/>
              </a:spcBef>
              <a:spcAft>
                <a:spcPts val="0"/>
              </a:spcAft>
              <a:buClr>
                <a:srgbClr val="111111"/>
              </a:buClr>
              <a:buSzPts val="3600"/>
              <a:buFont typeface="Georgia"/>
              <a:buNone/>
            </a:pPr>
            <a:r>
              <a:rPr b="0" i="0" lang="en-US" sz="3600" u="none" cap="none" strike="noStrike">
                <a:solidFill>
                  <a:srgbClr val="111111"/>
                </a:solidFill>
                <a:latin typeface="Georgia"/>
                <a:ea typeface="Georgia"/>
                <a:cs typeface="Georgia"/>
                <a:sym typeface="Georgia"/>
              </a:rPr>
              <a:t>Results</a:t>
            </a:r>
            <a:r>
              <a:rPr lang="en-US" sz="3600">
                <a:solidFill>
                  <a:srgbClr val="111111"/>
                </a:solidFill>
                <a:latin typeface="Georgia"/>
                <a:ea typeface="Georgia"/>
                <a:cs typeface="Georgia"/>
                <a:sym typeface="Georgia"/>
              </a:rPr>
              <a:t>:</a:t>
            </a:r>
            <a:r>
              <a:rPr b="0" i="0" lang="en-US" sz="3600" u="none" cap="none" strike="noStrike">
                <a:solidFill>
                  <a:srgbClr val="111111"/>
                </a:solidFill>
                <a:latin typeface="Georgia"/>
                <a:ea typeface="Georgia"/>
                <a:cs typeface="Georgia"/>
                <a:sym typeface="Georgia"/>
              </a:rPr>
              <a:t> Final Clusters (K = 4)</a:t>
            </a:r>
            <a:endParaRPr b="0" i="0" sz="3600" u="none" cap="none" strike="noStrike">
              <a:solidFill>
                <a:schemeClr val="dk1"/>
              </a:solidFill>
              <a:latin typeface="Calibri"/>
              <a:ea typeface="Calibri"/>
              <a:cs typeface="Calibri"/>
              <a:sym typeface="Calibri"/>
            </a:endParaRPr>
          </a:p>
        </p:txBody>
      </p:sp>
      <p:sp>
        <p:nvSpPr>
          <p:cNvPr id="456" name="Google Shape;456;p8"/>
          <p:cNvSpPr/>
          <p:nvPr/>
        </p:nvSpPr>
        <p:spPr>
          <a:xfrm>
            <a:off x="1047640" y="1554317"/>
            <a:ext cx="16192613" cy="14111"/>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p8"/>
          <p:cNvSpPr/>
          <p:nvPr/>
        </p:nvSpPr>
        <p:spPr>
          <a:xfrm>
            <a:off x="2352633" y="4547637"/>
            <a:ext cx="4198184" cy="369601"/>
          </a:xfrm>
          <a:prstGeom prst="rect">
            <a:avLst/>
          </a:prstGeom>
          <a:noFill/>
          <a:ln>
            <a:noFill/>
          </a:ln>
        </p:spPr>
        <p:txBody>
          <a:bodyPr anchorCtr="0" anchor="t" bIns="25400" lIns="25400" spcFirstLastPara="1" rIns="25400" wrap="square" tIns="25400">
            <a:normAutofit/>
          </a:bodyPr>
          <a:lstStyle/>
          <a:p>
            <a:pPr indent="0" lvl="0" marL="0" marR="0" rtl="0" algn="ctr">
              <a:lnSpc>
                <a:spcPct val="145000"/>
              </a:lnSpc>
              <a:spcBef>
                <a:spcPts val="0"/>
              </a:spcBef>
              <a:spcAft>
                <a:spcPts val="0"/>
              </a:spcAft>
              <a:buClr>
                <a:srgbClr val="444444"/>
              </a:buClr>
              <a:buSzPts val="1800"/>
              <a:buFont typeface="Georgia"/>
              <a:buNone/>
            </a:pPr>
            <a:r>
              <a:rPr b="1" i="0" lang="en-US" sz="1800" u="none" cap="none" strike="noStrike">
                <a:solidFill>
                  <a:srgbClr val="444444"/>
                </a:solidFill>
                <a:latin typeface="Georgia"/>
                <a:ea typeface="Georgia"/>
                <a:cs typeface="Georgia"/>
                <a:sym typeface="Georgia"/>
              </a:rPr>
              <a:t>[ PLACEHOLDER · FIGURE 3 ]</a:t>
            </a:r>
            <a:endParaRPr b="0" i="0" sz="1800" u="none" cap="none" strike="noStrike">
              <a:solidFill>
                <a:schemeClr val="dk1"/>
              </a:solidFill>
              <a:latin typeface="Calibri"/>
              <a:ea typeface="Calibri"/>
              <a:cs typeface="Calibri"/>
              <a:sym typeface="Calibri"/>
            </a:endParaRPr>
          </a:p>
        </p:txBody>
      </p:sp>
      <p:sp>
        <p:nvSpPr>
          <p:cNvPr id="458" name="Google Shape;458;p8"/>
          <p:cNvSpPr/>
          <p:nvPr/>
        </p:nvSpPr>
        <p:spPr>
          <a:xfrm>
            <a:off x="2559409" y="4993350"/>
            <a:ext cx="3784634" cy="756003"/>
          </a:xfrm>
          <a:prstGeom prst="rect">
            <a:avLst/>
          </a:prstGeom>
          <a:noFill/>
          <a:ln>
            <a:noFill/>
          </a:ln>
        </p:spPr>
        <p:txBody>
          <a:bodyPr anchorCtr="0" anchor="t" bIns="25400" lIns="25400" spcFirstLastPara="1" rIns="25400" wrap="square" tIns="25400">
            <a:normAutofit/>
          </a:bodyPr>
          <a:lstStyle/>
          <a:p>
            <a:pPr indent="0" lvl="0" marL="0" marR="0" rtl="0" algn="ctr">
              <a:lnSpc>
                <a:spcPct val="145000"/>
              </a:lnSpc>
              <a:spcBef>
                <a:spcPts val="0"/>
              </a:spcBef>
              <a:spcAft>
                <a:spcPts val="0"/>
              </a:spcAft>
              <a:buClr>
                <a:srgbClr val="666666"/>
              </a:buClr>
              <a:buSzPts val="1950"/>
              <a:buFont typeface="Georgia"/>
              <a:buNone/>
            </a:pPr>
            <a:r>
              <a:rPr b="0" i="1" lang="en-US" sz="1950" u="none" cap="none" strike="noStrike">
                <a:solidFill>
                  <a:srgbClr val="666666"/>
                </a:solidFill>
                <a:latin typeface="Georgia"/>
                <a:ea typeface="Georgia"/>
                <a:cs typeface="Georgia"/>
                <a:sym typeface="Georgia"/>
              </a:rPr>
              <a:t>Cluster scatter plot (VPIP vs PFR, colored by cluster)</a:t>
            </a:r>
            <a:endParaRPr b="0" i="0" sz="1950" u="none" cap="none" strike="noStrike">
              <a:solidFill>
                <a:schemeClr val="dk1"/>
              </a:solidFill>
              <a:latin typeface="Calibri"/>
              <a:ea typeface="Calibri"/>
              <a:cs typeface="Calibri"/>
              <a:sym typeface="Calibri"/>
            </a:endParaRPr>
          </a:p>
        </p:txBody>
      </p:sp>
      <p:sp>
        <p:nvSpPr>
          <p:cNvPr id="459" name="Google Shape;459;p8"/>
          <p:cNvSpPr/>
          <p:nvPr/>
        </p:nvSpPr>
        <p:spPr>
          <a:xfrm>
            <a:off x="2129505" y="5863608"/>
            <a:ext cx="4644550" cy="701102"/>
          </a:xfrm>
          <a:prstGeom prst="rect">
            <a:avLst/>
          </a:prstGeom>
          <a:noFill/>
          <a:ln>
            <a:noFill/>
          </a:ln>
        </p:spPr>
        <p:txBody>
          <a:bodyPr anchorCtr="0" anchor="t" bIns="25400" lIns="25400" spcFirstLastPara="1" rIns="25400" wrap="square" tIns="25400">
            <a:normAutofit/>
          </a:bodyPr>
          <a:lstStyle/>
          <a:p>
            <a:pPr indent="0" lvl="0" marL="0" marR="0" rtl="0" algn="ctr">
              <a:lnSpc>
                <a:spcPct val="145000"/>
              </a:lnSpc>
              <a:spcBef>
                <a:spcPts val="0"/>
              </a:spcBef>
              <a:spcAft>
                <a:spcPts val="0"/>
              </a:spcAft>
              <a:buClr>
                <a:srgbClr val="777777"/>
              </a:buClr>
              <a:buSzPts val="1800"/>
              <a:buFont typeface="Georgia"/>
              <a:buNone/>
            </a:pPr>
            <a:r>
              <a:rPr b="0" i="1" lang="en-US" sz="1800" u="none" cap="none" strike="noStrike">
                <a:solidFill>
                  <a:srgbClr val="777777"/>
                </a:solidFill>
                <a:latin typeface="Georgia"/>
                <a:ea typeface="Georgia"/>
                <a:cs typeface="Georgia"/>
                <a:sym typeface="Georgia"/>
              </a:rPr>
              <a:t>From: 04-kmeans-all-human-holdem.ipynb "Visualize the Cluster Assignments"</a:t>
            </a:r>
            <a:endParaRPr b="0" i="0" sz="1800" u="none" cap="none" strike="noStrike">
              <a:solidFill>
                <a:schemeClr val="dk1"/>
              </a:solidFill>
              <a:latin typeface="Calibri"/>
              <a:ea typeface="Calibri"/>
              <a:cs typeface="Calibri"/>
              <a:sym typeface="Calibri"/>
            </a:endParaRPr>
          </a:p>
        </p:txBody>
      </p:sp>
      <p:sp>
        <p:nvSpPr>
          <p:cNvPr id="460" name="Google Shape;460;p8"/>
          <p:cNvSpPr/>
          <p:nvPr/>
        </p:nvSpPr>
        <p:spPr>
          <a:xfrm>
            <a:off x="8356989" y="1835106"/>
            <a:ext cx="9116400" cy="45240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250"/>
              <a:buFont typeface="Georgia"/>
              <a:buNone/>
            </a:pPr>
            <a:r>
              <a:rPr b="1" i="0" lang="en-US" sz="2250" u="none" cap="none" strike="noStrike">
                <a:solidFill>
                  <a:srgbClr val="111111"/>
                </a:solidFill>
                <a:latin typeface="Georgia"/>
                <a:ea typeface="Georgia"/>
                <a:cs typeface="Georgia"/>
                <a:sym typeface="Georgia"/>
              </a:rPr>
              <a:t>Cluster centers and sizes</a:t>
            </a:r>
            <a:endParaRPr b="0" i="0" sz="2250" u="none" cap="none" strike="noStrike">
              <a:solidFill>
                <a:schemeClr val="dk1"/>
              </a:solidFill>
              <a:latin typeface="Calibri"/>
              <a:ea typeface="Calibri"/>
              <a:cs typeface="Calibri"/>
              <a:sym typeface="Calibri"/>
            </a:endParaRPr>
          </a:p>
        </p:txBody>
      </p:sp>
      <p:sp>
        <p:nvSpPr>
          <p:cNvPr id="461" name="Google Shape;461;p8"/>
          <p:cNvSpPr/>
          <p:nvPr/>
        </p:nvSpPr>
        <p:spPr>
          <a:xfrm>
            <a:off x="8389277" y="2905787"/>
            <a:ext cx="1154100" cy="14100"/>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8"/>
          <p:cNvSpPr/>
          <p:nvPr/>
        </p:nvSpPr>
        <p:spPr>
          <a:xfrm>
            <a:off x="8541677" y="2458861"/>
            <a:ext cx="1001700" cy="3897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1" i="0" lang="en-US" sz="1950" u="none" cap="none" strike="noStrike">
                <a:solidFill>
                  <a:srgbClr val="111111"/>
                </a:solidFill>
                <a:latin typeface="Georgia"/>
                <a:ea typeface="Georgia"/>
                <a:cs typeface="Georgia"/>
                <a:sym typeface="Georgia"/>
              </a:rPr>
              <a:t>Cluster</a:t>
            </a:r>
            <a:endParaRPr b="0" i="0" sz="1950" u="none" cap="none" strike="noStrike">
              <a:solidFill>
                <a:schemeClr val="dk1"/>
              </a:solidFill>
              <a:latin typeface="Calibri"/>
              <a:ea typeface="Calibri"/>
              <a:cs typeface="Calibri"/>
              <a:sym typeface="Calibri"/>
            </a:endParaRPr>
          </a:p>
        </p:txBody>
      </p:sp>
      <p:sp>
        <p:nvSpPr>
          <p:cNvPr id="463" name="Google Shape;463;p8"/>
          <p:cNvSpPr/>
          <p:nvPr/>
        </p:nvSpPr>
        <p:spPr>
          <a:xfrm>
            <a:off x="9543412" y="2905787"/>
            <a:ext cx="867000" cy="14100"/>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 name="Google Shape;464;p8"/>
          <p:cNvSpPr/>
          <p:nvPr/>
        </p:nvSpPr>
        <p:spPr>
          <a:xfrm>
            <a:off x="9695812" y="2458861"/>
            <a:ext cx="714600" cy="3897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1" i="0" lang="en-US" sz="1950" u="none" cap="none" strike="noStrike">
                <a:solidFill>
                  <a:srgbClr val="111111"/>
                </a:solidFill>
                <a:latin typeface="Georgia"/>
                <a:ea typeface="Georgia"/>
                <a:cs typeface="Georgia"/>
                <a:sym typeface="Georgia"/>
              </a:rPr>
              <a:t>Size</a:t>
            </a:r>
            <a:endParaRPr b="0" i="0" sz="1950" u="none" cap="none" strike="noStrike">
              <a:solidFill>
                <a:schemeClr val="dk1"/>
              </a:solidFill>
              <a:latin typeface="Calibri"/>
              <a:ea typeface="Calibri"/>
              <a:cs typeface="Calibri"/>
              <a:sym typeface="Calibri"/>
            </a:endParaRPr>
          </a:p>
        </p:txBody>
      </p:sp>
      <p:sp>
        <p:nvSpPr>
          <p:cNvPr id="465" name="Google Shape;465;p8"/>
          <p:cNvSpPr/>
          <p:nvPr/>
        </p:nvSpPr>
        <p:spPr>
          <a:xfrm>
            <a:off x="10410363" y="2905787"/>
            <a:ext cx="874800" cy="14100"/>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8"/>
          <p:cNvSpPr/>
          <p:nvPr/>
        </p:nvSpPr>
        <p:spPr>
          <a:xfrm>
            <a:off x="10562763" y="2458861"/>
            <a:ext cx="722400" cy="3897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1" i="0" lang="en-US" sz="1950" u="none" cap="none" strike="noStrike">
                <a:solidFill>
                  <a:srgbClr val="111111"/>
                </a:solidFill>
                <a:latin typeface="Georgia"/>
                <a:ea typeface="Georgia"/>
                <a:cs typeface="Georgia"/>
                <a:sym typeface="Georgia"/>
              </a:rPr>
              <a:t>VPIP</a:t>
            </a:r>
            <a:endParaRPr b="0" i="0" sz="1950" u="none" cap="none" strike="noStrike">
              <a:solidFill>
                <a:schemeClr val="dk1"/>
              </a:solidFill>
              <a:latin typeface="Calibri"/>
              <a:ea typeface="Calibri"/>
              <a:cs typeface="Calibri"/>
              <a:sym typeface="Calibri"/>
            </a:endParaRPr>
          </a:p>
        </p:txBody>
      </p:sp>
      <p:sp>
        <p:nvSpPr>
          <p:cNvPr id="467" name="Google Shape;467;p8"/>
          <p:cNvSpPr/>
          <p:nvPr/>
        </p:nvSpPr>
        <p:spPr>
          <a:xfrm>
            <a:off x="11285252" y="2905787"/>
            <a:ext cx="874200" cy="14100"/>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8"/>
          <p:cNvSpPr/>
          <p:nvPr/>
        </p:nvSpPr>
        <p:spPr>
          <a:xfrm>
            <a:off x="11437652" y="2458861"/>
            <a:ext cx="721800" cy="3897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1" i="0" lang="en-US" sz="1950" u="none" cap="none" strike="noStrike">
                <a:solidFill>
                  <a:srgbClr val="111111"/>
                </a:solidFill>
                <a:latin typeface="Georgia"/>
                <a:ea typeface="Georgia"/>
                <a:cs typeface="Georgia"/>
                <a:sym typeface="Georgia"/>
              </a:rPr>
              <a:t>PFR</a:t>
            </a:r>
            <a:endParaRPr b="0" i="0" sz="1950" u="none" cap="none" strike="noStrike">
              <a:solidFill>
                <a:schemeClr val="dk1"/>
              </a:solidFill>
              <a:latin typeface="Calibri"/>
              <a:ea typeface="Calibri"/>
              <a:cs typeface="Calibri"/>
              <a:sym typeface="Calibri"/>
            </a:endParaRPr>
          </a:p>
        </p:txBody>
      </p:sp>
      <p:sp>
        <p:nvSpPr>
          <p:cNvPr id="469" name="Google Shape;469;p8"/>
          <p:cNvSpPr/>
          <p:nvPr/>
        </p:nvSpPr>
        <p:spPr>
          <a:xfrm>
            <a:off x="8389277" y="3472657"/>
            <a:ext cx="11541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 name="Google Shape;470;p8"/>
          <p:cNvSpPr/>
          <p:nvPr/>
        </p:nvSpPr>
        <p:spPr>
          <a:xfrm>
            <a:off x="8541677" y="3015148"/>
            <a:ext cx="1001700" cy="4005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0</a:t>
            </a:r>
            <a:endParaRPr b="0" i="0" sz="1950" u="none" cap="none" strike="noStrike">
              <a:solidFill>
                <a:schemeClr val="dk1"/>
              </a:solidFill>
              <a:latin typeface="Calibri"/>
              <a:ea typeface="Calibri"/>
              <a:cs typeface="Calibri"/>
              <a:sym typeface="Calibri"/>
            </a:endParaRPr>
          </a:p>
        </p:txBody>
      </p:sp>
      <p:sp>
        <p:nvSpPr>
          <p:cNvPr id="471" name="Google Shape;471;p8"/>
          <p:cNvSpPr/>
          <p:nvPr/>
        </p:nvSpPr>
        <p:spPr>
          <a:xfrm>
            <a:off x="9543412" y="3472657"/>
            <a:ext cx="8670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 name="Google Shape;472;p8"/>
          <p:cNvSpPr/>
          <p:nvPr/>
        </p:nvSpPr>
        <p:spPr>
          <a:xfrm>
            <a:off x="9695812" y="3015148"/>
            <a:ext cx="714600" cy="4005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8,542</a:t>
            </a:r>
            <a:endParaRPr b="0" i="0" sz="1950" u="none" cap="none" strike="noStrike">
              <a:solidFill>
                <a:schemeClr val="dk1"/>
              </a:solidFill>
              <a:latin typeface="Calibri"/>
              <a:ea typeface="Calibri"/>
              <a:cs typeface="Calibri"/>
              <a:sym typeface="Calibri"/>
            </a:endParaRPr>
          </a:p>
        </p:txBody>
      </p:sp>
      <p:sp>
        <p:nvSpPr>
          <p:cNvPr id="473" name="Google Shape;473;p8"/>
          <p:cNvSpPr/>
          <p:nvPr/>
        </p:nvSpPr>
        <p:spPr>
          <a:xfrm>
            <a:off x="10410363" y="3472657"/>
            <a:ext cx="8748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8"/>
          <p:cNvSpPr/>
          <p:nvPr/>
        </p:nvSpPr>
        <p:spPr>
          <a:xfrm>
            <a:off x="10562763" y="3015148"/>
            <a:ext cx="722400" cy="4005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36.11</a:t>
            </a:r>
            <a:endParaRPr b="0" i="0" sz="1950" u="none" cap="none" strike="noStrike">
              <a:solidFill>
                <a:schemeClr val="dk1"/>
              </a:solidFill>
              <a:latin typeface="Calibri"/>
              <a:ea typeface="Calibri"/>
              <a:cs typeface="Calibri"/>
              <a:sym typeface="Calibri"/>
            </a:endParaRPr>
          </a:p>
        </p:txBody>
      </p:sp>
      <p:sp>
        <p:nvSpPr>
          <p:cNvPr id="475" name="Google Shape;475;p8"/>
          <p:cNvSpPr/>
          <p:nvPr/>
        </p:nvSpPr>
        <p:spPr>
          <a:xfrm>
            <a:off x="11285252" y="3472657"/>
            <a:ext cx="8742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8"/>
          <p:cNvSpPr/>
          <p:nvPr/>
        </p:nvSpPr>
        <p:spPr>
          <a:xfrm>
            <a:off x="11437652" y="3015148"/>
            <a:ext cx="721800" cy="4005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8.88</a:t>
            </a:r>
            <a:endParaRPr b="0" i="0" sz="1950" u="none" cap="none" strike="noStrike">
              <a:solidFill>
                <a:schemeClr val="dk1"/>
              </a:solidFill>
              <a:latin typeface="Calibri"/>
              <a:ea typeface="Calibri"/>
              <a:cs typeface="Calibri"/>
              <a:sym typeface="Calibri"/>
            </a:endParaRPr>
          </a:p>
        </p:txBody>
      </p:sp>
      <p:sp>
        <p:nvSpPr>
          <p:cNvPr id="477" name="Google Shape;477;p8"/>
          <p:cNvSpPr/>
          <p:nvPr/>
        </p:nvSpPr>
        <p:spPr>
          <a:xfrm>
            <a:off x="8389277" y="4028943"/>
            <a:ext cx="11541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8"/>
          <p:cNvSpPr/>
          <p:nvPr/>
        </p:nvSpPr>
        <p:spPr>
          <a:xfrm>
            <a:off x="8541677" y="3574962"/>
            <a:ext cx="10017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1</a:t>
            </a:r>
            <a:endParaRPr b="0" i="0" sz="1950" u="none" cap="none" strike="noStrike">
              <a:solidFill>
                <a:schemeClr val="dk1"/>
              </a:solidFill>
              <a:latin typeface="Calibri"/>
              <a:ea typeface="Calibri"/>
              <a:cs typeface="Calibri"/>
              <a:sym typeface="Calibri"/>
            </a:endParaRPr>
          </a:p>
        </p:txBody>
      </p:sp>
      <p:sp>
        <p:nvSpPr>
          <p:cNvPr id="479" name="Google Shape;479;p8"/>
          <p:cNvSpPr/>
          <p:nvPr/>
        </p:nvSpPr>
        <p:spPr>
          <a:xfrm>
            <a:off x="9543412" y="4028943"/>
            <a:ext cx="8670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 name="Google Shape;480;p8"/>
          <p:cNvSpPr/>
          <p:nvPr/>
        </p:nvSpPr>
        <p:spPr>
          <a:xfrm>
            <a:off x="9695812" y="3574962"/>
            <a:ext cx="7146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722</a:t>
            </a:r>
            <a:endParaRPr b="0" i="0" sz="1950" u="none" cap="none" strike="noStrike">
              <a:solidFill>
                <a:schemeClr val="dk1"/>
              </a:solidFill>
              <a:latin typeface="Calibri"/>
              <a:ea typeface="Calibri"/>
              <a:cs typeface="Calibri"/>
              <a:sym typeface="Calibri"/>
            </a:endParaRPr>
          </a:p>
        </p:txBody>
      </p:sp>
      <p:sp>
        <p:nvSpPr>
          <p:cNvPr id="481" name="Google Shape;481;p8"/>
          <p:cNvSpPr/>
          <p:nvPr/>
        </p:nvSpPr>
        <p:spPr>
          <a:xfrm>
            <a:off x="10410363" y="4028943"/>
            <a:ext cx="8748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8"/>
          <p:cNvSpPr/>
          <p:nvPr/>
        </p:nvSpPr>
        <p:spPr>
          <a:xfrm>
            <a:off x="10562763" y="3574962"/>
            <a:ext cx="7224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84.39</a:t>
            </a:r>
            <a:endParaRPr b="0" i="0" sz="1950" u="none" cap="none" strike="noStrike">
              <a:solidFill>
                <a:schemeClr val="dk1"/>
              </a:solidFill>
              <a:latin typeface="Calibri"/>
              <a:ea typeface="Calibri"/>
              <a:cs typeface="Calibri"/>
              <a:sym typeface="Calibri"/>
            </a:endParaRPr>
          </a:p>
        </p:txBody>
      </p:sp>
      <p:sp>
        <p:nvSpPr>
          <p:cNvPr id="483" name="Google Shape;483;p8"/>
          <p:cNvSpPr/>
          <p:nvPr/>
        </p:nvSpPr>
        <p:spPr>
          <a:xfrm>
            <a:off x="11285252" y="4028943"/>
            <a:ext cx="8742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8"/>
          <p:cNvSpPr/>
          <p:nvPr/>
        </p:nvSpPr>
        <p:spPr>
          <a:xfrm>
            <a:off x="11437652" y="3574962"/>
            <a:ext cx="7218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74.86</a:t>
            </a:r>
            <a:endParaRPr b="0" i="0" sz="1950" u="none" cap="none" strike="noStrike">
              <a:solidFill>
                <a:schemeClr val="dk1"/>
              </a:solidFill>
              <a:latin typeface="Calibri"/>
              <a:ea typeface="Calibri"/>
              <a:cs typeface="Calibri"/>
              <a:sym typeface="Calibri"/>
            </a:endParaRPr>
          </a:p>
        </p:txBody>
      </p:sp>
      <p:sp>
        <p:nvSpPr>
          <p:cNvPr id="485" name="Google Shape;485;p8"/>
          <p:cNvSpPr/>
          <p:nvPr/>
        </p:nvSpPr>
        <p:spPr>
          <a:xfrm>
            <a:off x="8389277" y="4585230"/>
            <a:ext cx="11541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8"/>
          <p:cNvSpPr/>
          <p:nvPr/>
        </p:nvSpPr>
        <p:spPr>
          <a:xfrm>
            <a:off x="8541677" y="4131249"/>
            <a:ext cx="10017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2</a:t>
            </a:r>
            <a:endParaRPr b="0" i="0" sz="1950" u="none" cap="none" strike="noStrike">
              <a:solidFill>
                <a:schemeClr val="dk1"/>
              </a:solidFill>
              <a:latin typeface="Calibri"/>
              <a:ea typeface="Calibri"/>
              <a:cs typeface="Calibri"/>
              <a:sym typeface="Calibri"/>
            </a:endParaRPr>
          </a:p>
        </p:txBody>
      </p:sp>
      <p:sp>
        <p:nvSpPr>
          <p:cNvPr id="487" name="Google Shape;487;p8"/>
          <p:cNvSpPr/>
          <p:nvPr/>
        </p:nvSpPr>
        <p:spPr>
          <a:xfrm>
            <a:off x="9543412" y="4585230"/>
            <a:ext cx="8670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p8"/>
          <p:cNvSpPr/>
          <p:nvPr/>
        </p:nvSpPr>
        <p:spPr>
          <a:xfrm>
            <a:off x="9695812" y="4131249"/>
            <a:ext cx="7146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4,838</a:t>
            </a:r>
            <a:endParaRPr b="0" i="0" sz="1950" u="none" cap="none" strike="noStrike">
              <a:solidFill>
                <a:schemeClr val="dk1"/>
              </a:solidFill>
              <a:latin typeface="Calibri"/>
              <a:ea typeface="Calibri"/>
              <a:cs typeface="Calibri"/>
              <a:sym typeface="Calibri"/>
            </a:endParaRPr>
          </a:p>
        </p:txBody>
      </p:sp>
      <p:sp>
        <p:nvSpPr>
          <p:cNvPr id="489" name="Google Shape;489;p8"/>
          <p:cNvSpPr/>
          <p:nvPr/>
        </p:nvSpPr>
        <p:spPr>
          <a:xfrm>
            <a:off x="10410363" y="4585230"/>
            <a:ext cx="8748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p8"/>
          <p:cNvSpPr/>
          <p:nvPr/>
        </p:nvSpPr>
        <p:spPr>
          <a:xfrm>
            <a:off x="10562763" y="4131249"/>
            <a:ext cx="7224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65.65</a:t>
            </a:r>
            <a:endParaRPr b="0" i="0" sz="1950" u="none" cap="none" strike="noStrike">
              <a:solidFill>
                <a:schemeClr val="dk1"/>
              </a:solidFill>
              <a:latin typeface="Calibri"/>
              <a:ea typeface="Calibri"/>
              <a:cs typeface="Calibri"/>
              <a:sym typeface="Calibri"/>
            </a:endParaRPr>
          </a:p>
        </p:txBody>
      </p:sp>
      <p:sp>
        <p:nvSpPr>
          <p:cNvPr id="491" name="Google Shape;491;p8"/>
          <p:cNvSpPr/>
          <p:nvPr/>
        </p:nvSpPr>
        <p:spPr>
          <a:xfrm>
            <a:off x="11285252" y="4585230"/>
            <a:ext cx="8742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8"/>
          <p:cNvSpPr/>
          <p:nvPr/>
        </p:nvSpPr>
        <p:spPr>
          <a:xfrm>
            <a:off x="11437652" y="4131249"/>
            <a:ext cx="7218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8.74</a:t>
            </a:r>
            <a:endParaRPr b="0" i="0" sz="1950" u="none" cap="none" strike="noStrike">
              <a:solidFill>
                <a:schemeClr val="dk1"/>
              </a:solidFill>
              <a:latin typeface="Calibri"/>
              <a:ea typeface="Calibri"/>
              <a:cs typeface="Calibri"/>
              <a:sym typeface="Calibri"/>
            </a:endParaRPr>
          </a:p>
        </p:txBody>
      </p:sp>
      <p:sp>
        <p:nvSpPr>
          <p:cNvPr id="493" name="Google Shape;493;p8"/>
          <p:cNvSpPr/>
          <p:nvPr/>
        </p:nvSpPr>
        <p:spPr>
          <a:xfrm>
            <a:off x="8389277" y="5141516"/>
            <a:ext cx="1154135"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 name="Google Shape;494;p8"/>
          <p:cNvSpPr/>
          <p:nvPr/>
        </p:nvSpPr>
        <p:spPr>
          <a:xfrm>
            <a:off x="8541677" y="4687535"/>
            <a:ext cx="10017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3</a:t>
            </a:r>
            <a:endParaRPr b="0" i="0" sz="1950" u="none" cap="none" strike="noStrike">
              <a:solidFill>
                <a:schemeClr val="dk1"/>
              </a:solidFill>
              <a:latin typeface="Calibri"/>
              <a:ea typeface="Calibri"/>
              <a:cs typeface="Calibri"/>
              <a:sym typeface="Calibri"/>
            </a:endParaRPr>
          </a:p>
        </p:txBody>
      </p:sp>
      <p:sp>
        <p:nvSpPr>
          <p:cNvPr id="495" name="Google Shape;495;p8"/>
          <p:cNvSpPr/>
          <p:nvPr/>
        </p:nvSpPr>
        <p:spPr>
          <a:xfrm>
            <a:off x="9543412" y="5141516"/>
            <a:ext cx="866952"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8"/>
          <p:cNvSpPr/>
          <p:nvPr/>
        </p:nvSpPr>
        <p:spPr>
          <a:xfrm>
            <a:off x="9695812" y="4687535"/>
            <a:ext cx="7146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2,337</a:t>
            </a:r>
            <a:endParaRPr b="0" i="0" sz="1950" u="none" cap="none" strike="noStrike">
              <a:solidFill>
                <a:schemeClr val="dk1"/>
              </a:solidFill>
              <a:latin typeface="Calibri"/>
              <a:ea typeface="Calibri"/>
              <a:cs typeface="Calibri"/>
              <a:sym typeface="Calibri"/>
            </a:endParaRPr>
          </a:p>
        </p:txBody>
      </p:sp>
      <p:sp>
        <p:nvSpPr>
          <p:cNvPr id="497" name="Google Shape;497;p8"/>
          <p:cNvSpPr/>
          <p:nvPr/>
        </p:nvSpPr>
        <p:spPr>
          <a:xfrm>
            <a:off x="10410363" y="5141516"/>
            <a:ext cx="874889"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p8"/>
          <p:cNvSpPr/>
          <p:nvPr/>
        </p:nvSpPr>
        <p:spPr>
          <a:xfrm>
            <a:off x="10562763" y="4687535"/>
            <a:ext cx="7224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65.59</a:t>
            </a:r>
            <a:endParaRPr b="0" i="0" sz="1950" u="none" cap="none" strike="noStrike">
              <a:solidFill>
                <a:schemeClr val="dk1"/>
              </a:solidFill>
              <a:latin typeface="Calibri"/>
              <a:ea typeface="Calibri"/>
              <a:cs typeface="Calibri"/>
              <a:sym typeface="Calibri"/>
            </a:endParaRPr>
          </a:p>
        </p:txBody>
      </p:sp>
      <p:sp>
        <p:nvSpPr>
          <p:cNvPr id="499" name="Google Shape;499;p8"/>
          <p:cNvSpPr/>
          <p:nvPr/>
        </p:nvSpPr>
        <p:spPr>
          <a:xfrm>
            <a:off x="11285252" y="5141516"/>
            <a:ext cx="874117"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8"/>
          <p:cNvSpPr/>
          <p:nvPr/>
        </p:nvSpPr>
        <p:spPr>
          <a:xfrm>
            <a:off x="11437652" y="4687535"/>
            <a:ext cx="7218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32.00</a:t>
            </a:r>
            <a:endParaRPr b="0" i="0" sz="1950" u="none" cap="none" strike="noStrike">
              <a:solidFill>
                <a:schemeClr val="dk1"/>
              </a:solidFill>
              <a:latin typeface="Calibri"/>
              <a:ea typeface="Calibri"/>
              <a:cs typeface="Calibri"/>
              <a:sym typeface="Calibri"/>
            </a:endParaRPr>
          </a:p>
        </p:txBody>
      </p:sp>
      <p:sp>
        <p:nvSpPr>
          <p:cNvPr id="501" name="Google Shape;501;p8"/>
          <p:cNvSpPr/>
          <p:nvPr/>
        </p:nvSpPr>
        <p:spPr>
          <a:xfrm>
            <a:off x="12617781" y="1835127"/>
            <a:ext cx="9116400" cy="45240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250"/>
              <a:buFont typeface="Georgia"/>
              <a:buNone/>
            </a:pPr>
            <a:r>
              <a:rPr b="1" i="0" lang="en-US" sz="2250" u="none" cap="none" strike="noStrike">
                <a:solidFill>
                  <a:srgbClr val="111111"/>
                </a:solidFill>
                <a:latin typeface="Georgia"/>
                <a:ea typeface="Georgia"/>
                <a:cs typeface="Georgia"/>
                <a:sym typeface="Georgia"/>
              </a:rPr>
              <a:t>Cluster vs heuristic label</a:t>
            </a:r>
            <a:endParaRPr b="0" i="0" sz="2250" u="none" cap="none" strike="noStrike">
              <a:solidFill>
                <a:schemeClr val="dk1"/>
              </a:solidFill>
              <a:latin typeface="Calibri"/>
              <a:ea typeface="Calibri"/>
              <a:cs typeface="Calibri"/>
              <a:sym typeface="Calibri"/>
            </a:endParaRPr>
          </a:p>
        </p:txBody>
      </p:sp>
      <p:sp>
        <p:nvSpPr>
          <p:cNvPr id="502" name="Google Shape;502;p8"/>
          <p:cNvSpPr/>
          <p:nvPr/>
        </p:nvSpPr>
        <p:spPr>
          <a:xfrm>
            <a:off x="12651415" y="2905808"/>
            <a:ext cx="1154100" cy="14100"/>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 name="Google Shape;503;p8"/>
          <p:cNvSpPr/>
          <p:nvPr/>
        </p:nvSpPr>
        <p:spPr>
          <a:xfrm>
            <a:off x="12803815" y="2458883"/>
            <a:ext cx="1001700" cy="3897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1" i="0" lang="en-US" sz="1950" u="none" cap="none" strike="noStrike">
                <a:solidFill>
                  <a:srgbClr val="111111"/>
                </a:solidFill>
                <a:latin typeface="Georgia"/>
                <a:ea typeface="Georgia"/>
                <a:cs typeface="Georgia"/>
                <a:sym typeface="Georgia"/>
              </a:rPr>
              <a:t>Cluster</a:t>
            </a:r>
            <a:endParaRPr b="0" i="0" sz="1950" u="none" cap="none" strike="noStrike">
              <a:solidFill>
                <a:schemeClr val="dk1"/>
              </a:solidFill>
              <a:latin typeface="Calibri"/>
              <a:ea typeface="Calibri"/>
              <a:cs typeface="Calibri"/>
              <a:sym typeface="Calibri"/>
            </a:endParaRPr>
          </a:p>
        </p:txBody>
      </p:sp>
      <p:sp>
        <p:nvSpPr>
          <p:cNvPr id="504" name="Google Shape;504;p8"/>
          <p:cNvSpPr/>
          <p:nvPr/>
        </p:nvSpPr>
        <p:spPr>
          <a:xfrm>
            <a:off x="13805550" y="2905808"/>
            <a:ext cx="864000" cy="14100"/>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8"/>
          <p:cNvSpPr/>
          <p:nvPr/>
        </p:nvSpPr>
        <p:spPr>
          <a:xfrm>
            <a:off x="13957950" y="2458883"/>
            <a:ext cx="711600" cy="3897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1" i="0" lang="en-US" sz="1950" u="none" cap="none" strike="noStrike">
                <a:solidFill>
                  <a:srgbClr val="111111"/>
                </a:solidFill>
                <a:latin typeface="Georgia"/>
                <a:ea typeface="Georgia"/>
                <a:cs typeface="Georgia"/>
                <a:sym typeface="Georgia"/>
              </a:rPr>
              <a:t>Fish</a:t>
            </a:r>
            <a:endParaRPr b="0" i="0" sz="1950" u="none" cap="none" strike="noStrike">
              <a:solidFill>
                <a:schemeClr val="dk1"/>
              </a:solidFill>
              <a:latin typeface="Calibri"/>
              <a:ea typeface="Calibri"/>
              <a:cs typeface="Calibri"/>
              <a:sym typeface="Calibri"/>
            </a:endParaRPr>
          </a:p>
        </p:txBody>
      </p:sp>
      <p:sp>
        <p:nvSpPr>
          <p:cNvPr id="506" name="Google Shape;506;p8"/>
          <p:cNvSpPr/>
          <p:nvPr/>
        </p:nvSpPr>
        <p:spPr>
          <a:xfrm>
            <a:off x="14669635" y="2905808"/>
            <a:ext cx="831300" cy="14100"/>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 name="Google Shape;507;p8"/>
          <p:cNvSpPr/>
          <p:nvPr/>
        </p:nvSpPr>
        <p:spPr>
          <a:xfrm>
            <a:off x="14822035" y="2458883"/>
            <a:ext cx="678900" cy="3897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1" i="0" lang="en-US" sz="1950" u="none" cap="none" strike="noStrike">
                <a:solidFill>
                  <a:srgbClr val="111111"/>
                </a:solidFill>
                <a:latin typeface="Georgia"/>
                <a:ea typeface="Georgia"/>
                <a:cs typeface="Georgia"/>
                <a:sym typeface="Georgia"/>
              </a:rPr>
              <a:t>LAG</a:t>
            </a:r>
            <a:endParaRPr b="0" i="0" sz="1950" u="none" cap="none" strike="noStrike">
              <a:solidFill>
                <a:schemeClr val="dk1"/>
              </a:solidFill>
              <a:latin typeface="Calibri"/>
              <a:ea typeface="Calibri"/>
              <a:cs typeface="Calibri"/>
              <a:sym typeface="Calibri"/>
            </a:endParaRPr>
          </a:p>
        </p:txBody>
      </p:sp>
      <p:sp>
        <p:nvSpPr>
          <p:cNvPr id="508" name="Google Shape;508;p8"/>
          <p:cNvSpPr/>
          <p:nvPr/>
        </p:nvSpPr>
        <p:spPr>
          <a:xfrm>
            <a:off x="15500868" y="2905808"/>
            <a:ext cx="871500" cy="14100"/>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8"/>
          <p:cNvSpPr/>
          <p:nvPr/>
        </p:nvSpPr>
        <p:spPr>
          <a:xfrm>
            <a:off x="15653268" y="2458883"/>
            <a:ext cx="719100" cy="3897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1" i="0" lang="en-US" sz="1950" u="none" cap="none" strike="noStrike">
                <a:solidFill>
                  <a:srgbClr val="111111"/>
                </a:solidFill>
                <a:latin typeface="Georgia"/>
                <a:ea typeface="Georgia"/>
                <a:cs typeface="Georgia"/>
                <a:sym typeface="Georgia"/>
              </a:rPr>
              <a:t>Rock</a:t>
            </a:r>
            <a:endParaRPr b="0" i="0" sz="1950" u="none" cap="none" strike="noStrike">
              <a:solidFill>
                <a:schemeClr val="dk1"/>
              </a:solidFill>
              <a:latin typeface="Calibri"/>
              <a:ea typeface="Calibri"/>
              <a:cs typeface="Calibri"/>
              <a:sym typeface="Calibri"/>
            </a:endParaRPr>
          </a:p>
        </p:txBody>
      </p:sp>
      <p:sp>
        <p:nvSpPr>
          <p:cNvPr id="510" name="Google Shape;510;p8"/>
          <p:cNvSpPr/>
          <p:nvPr/>
        </p:nvSpPr>
        <p:spPr>
          <a:xfrm>
            <a:off x="16372229" y="2905808"/>
            <a:ext cx="785400" cy="14100"/>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8"/>
          <p:cNvSpPr/>
          <p:nvPr/>
        </p:nvSpPr>
        <p:spPr>
          <a:xfrm>
            <a:off x="16524629" y="2458883"/>
            <a:ext cx="633000" cy="3897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1" i="0" lang="en-US" sz="1950" u="none" cap="none" strike="noStrike">
                <a:solidFill>
                  <a:srgbClr val="111111"/>
                </a:solidFill>
                <a:latin typeface="Georgia"/>
                <a:ea typeface="Georgia"/>
                <a:cs typeface="Georgia"/>
                <a:sym typeface="Georgia"/>
              </a:rPr>
              <a:t>TAG</a:t>
            </a:r>
            <a:endParaRPr b="0" i="0" sz="1950" u="none" cap="none" strike="noStrike">
              <a:solidFill>
                <a:schemeClr val="dk1"/>
              </a:solidFill>
              <a:latin typeface="Calibri"/>
              <a:ea typeface="Calibri"/>
              <a:cs typeface="Calibri"/>
              <a:sym typeface="Calibri"/>
            </a:endParaRPr>
          </a:p>
        </p:txBody>
      </p:sp>
      <p:sp>
        <p:nvSpPr>
          <p:cNvPr id="512" name="Google Shape;512;p8"/>
          <p:cNvSpPr/>
          <p:nvPr/>
        </p:nvSpPr>
        <p:spPr>
          <a:xfrm>
            <a:off x="12651415" y="3472678"/>
            <a:ext cx="11541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8"/>
          <p:cNvSpPr/>
          <p:nvPr/>
        </p:nvSpPr>
        <p:spPr>
          <a:xfrm>
            <a:off x="12803815" y="3015169"/>
            <a:ext cx="1001700" cy="4005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0</a:t>
            </a:r>
            <a:endParaRPr b="0" i="0" sz="1950" u="none" cap="none" strike="noStrike">
              <a:solidFill>
                <a:schemeClr val="dk1"/>
              </a:solidFill>
              <a:latin typeface="Calibri"/>
              <a:ea typeface="Calibri"/>
              <a:cs typeface="Calibri"/>
              <a:sym typeface="Calibri"/>
            </a:endParaRPr>
          </a:p>
        </p:txBody>
      </p:sp>
      <p:sp>
        <p:nvSpPr>
          <p:cNvPr id="514" name="Google Shape;514;p8"/>
          <p:cNvSpPr/>
          <p:nvPr/>
        </p:nvSpPr>
        <p:spPr>
          <a:xfrm>
            <a:off x="13805550" y="3472678"/>
            <a:ext cx="8640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8"/>
          <p:cNvSpPr/>
          <p:nvPr/>
        </p:nvSpPr>
        <p:spPr>
          <a:xfrm>
            <a:off x="13957950" y="3015169"/>
            <a:ext cx="711600" cy="4005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6,150</a:t>
            </a:r>
            <a:endParaRPr b="0" i="0" sz="1950" u="none" cap="none" strike="noStrike">
              <a:solidFill>
                <a:schemeClr val="dk1"/>
              </a:solidFill>
              <a:latin typeface="Calibri"/>
              <a:ea typeface="Calibri"/>
              <a:cs typeface="Calibri"/>
              <a:sym typeface="Calibri"/>
            </a:endParaRPr>
          </a:p>
        </p:txBody>
      </p:sp>
      <p:sp>
        <p:nvSpPr>
          <p:cNvPr id="516" name="Google Shape;516;p8"/>
          <p:cNvSpPr/>
          <p:nvPr/>
        </p:nvSpPr>
        <p:spPr>
          <a:xfrm>
            <a:off x="14669635" y="3472678"/>
            <a:ext cx="8313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 name="Google Shape;517;p8"/>
          <p:cNvSpPr/>
          <p:nvPr/>
        </p:nvSpPr>
        <p:spPr>
          <a:xfrm>
            <a:off x="14822035" y="3015169"/>
            <a:ext cx="678900" cy="4005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1,318</a:t>
            </a:r>
            <a:endParaRPr b="0" i="0" sz="1950" u="none" cap="none" strike="noStrike">
              <a:solidFill>
                <a:schemeClr val="dk1"/>
              </a:solidFill>
              <a:latin typeface="Calibri"/>
              <a:ea typeface="Calibri"/>
              <a:cs typeface="Calibri"/>
              <a:sym typeface="Calibri"/>
            </a:endParaRPr>
          </a:p>
        </p:txBody>
      </p:sp>
      <p:sp>
        <p:nvSpPr>
          <p:cNvPr id="518" name="Google Shape;518;p8"/>
          <p:cNvSpPr/>
          <p:nvPr/>
        </p:nvSpPr>
        <p:spPr>
          <a:xfrm>
            <a:off x="15500868" y="3472678"/>
            <a:ext cx="8715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 name="Google Shape;519;p8"/>
          <p:cNvSpPr/>
          <p:nvPr/>
        </p:nvSpPr>
        <p:spPr>
          <a:xfrm>
            <a:off x="15653268" y="3015169"/>
            <a:ext cx="719100" cy="4005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1,042</a:t>
            </a:r>
            <a:endParaRPr b="0" i="0" sz="1950" u="none" cap="none" strike="noStrike">
              <a:solidFill>
                <a:schemeClr val="dk1"/>
              </a:solidFill>
              <a:latin typeface="Calibri"/>
              <a:ea typeface="Calibri"/>
              <a:cs typeface="Calibri"/>
              <a:sym typeface="Calibri"/>
            </a:endParaRPr>
          </a:p>
        </p:txBody>
      </p:sp>
      <p:sp>
        <p:nvSpPr>
          <p:cNvPr id="520" name="Google Shape;520;p8"/>
          <p:cNvSpPr/>
          <p:nvPr/>
        </p:nvSpPr>
        <p:spPr>
          <a:xfrm>
            <a:off x="16372229" y="3472678"/>
            <a:ext cx="7854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8"/>
          <p:cNvSpPr/>
          <p:nvPr/>
        </p:nvSpPr>
        <p:spPr>
          <a:xfrm>
            <a:off x="16524629" y="3015169"/>
            <a:ext cx="633000" cy="4005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32</a:t>
            </a:r>
            <a:endParaRPr b="0" i="0" sz="1950" u="none" cap="none" strike="noStrike">
              <a:solidFill>
                <a:schemeClr val="dk1"/>
              </a:solidFill>
              <a:latin typeface="Calibri"/>
              <a:ea typeface="Calibri"/>
              <a:cs typeface="Calibri"/>
              <a:sym typeface="Calibri"/>
            </a:endParaRPr>
          </a:p>
        </p:txBody>
      </p:sp>
      <p:sp>
        <p:nvSpPr>
          <p:cNvPr id="522" name="Google Shape;522;p8"/>
          <p:cNvSpPr/>
          <p:nvPr/>
        </p:nvSpPr>
        <p:spPr>
          <a:xfrm>
            <a:off x="12651415" y="4028965"/>
            <a:ext cx="11541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 name="Google Shape;523;p8"/>
          <p:cNvSpPr/>
          <p:nvPr/>
        </p:nvSpPr>
        <p:spPr>
          <a:xfrm>
            <a:off x="12803815" y="3574984"/>
            <a:ext cx="10017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1</a:t>
            </a:r>
            <a:endParaRPr b="0" i="0" sz="1950" u="none" cap="none" strike="noStrike">
              <a:solidFill>
                <a:schemeClr val="dk1"/>
              </a:solidFill>
              <a:latin typeface="Calibri"/>
              <a:ea typeface="Calibri"/>
              <a:cs typeface="Calibri"/>
              <a:sym typeface="Calibri"/>
            </a:endParaRPr>
          </a:p>
        </p:txBody>
      </p:sp>
      <p:sp>
        <p:nvSpPr>
          <p:cNvPr id="524" name="Google Shape;524;p8"/>
          <p:cNvSpPr/>
          <p:nvPr/>
        </p:nvSpPr>
        <p:spPr>
          <a:xfrm>
            <a:off x="13805550" y="4028965"/>
            <a:ext cx="8640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8"/>
          <p:cNvSpPr/>
          <p:nvPr/>
        </p:nvSpPr>
        <p:spPr>
          <a:xfrm>
            <a:off x="13957950" y="3574984"/>
            <a:ext cx="7116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0</a:t>
            </a:r>
            <a:endParaRPr b="0" i="0" sz="1950" u="none" cap="none" strike="noStrike">
              <a:solidFill>
                <a:schemeClr val="dk1"/>
              </a:solidFill>
              <a:latin typeface="Calibri"/>
              <a:ea typeface="Calibri"/>
              <a:cs typeface="Calibri"/>
              <a:sym typeface="Calibri"/>
            </a:endParaRPr>
          </a:p>
        </p:txBody>
      </p:sp>
      <p:sp>
        <p:nvSpPr>
          <p:cNvPr id="526" name="Google Shape;526;p8"/>
          <p:cNvSpPr/>
          <p:nvPr/>
        </p:nvSpPr>
        <p:spPr>
          <a:xfrm>
            <a:off x="14669635" y="4028965"/>
            <a:ext cx="8313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8"/>
          <p:cNvSpPr/>
          <p:nvPr/>
        </p:nvSpPr>
        <p:spPr>
          <a:xfrm>
            <a:off x="14822035" y="3574984"/>
            <a:ext cx="6789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722</a:t>
            </a:r>
            <a:endParaRPr b="0" i="0" sz="1950" u="none" cap="none" strike="noStrike">
              <a:solidFill>
                <a:schemeClr val="dk1"/>
              </a:solidFill>
              <a:latin typeface="Calibri"/>
              <a:ea typeface="Calibri"/>
              <a:cs typeface="Calibri"/>
              <a:sym typeface="Calibri"/>
            </a:endParaRPr>
          </a:p>
        </p:txBody>
      </p:sp>
      <p:sp>
        <p:nvSpPr>
          <p:cNvPr id="528" name="Google Shape;528;p8"/>
          <p:cNvSpPr/>
          <p:nvPr/>
        </p:nvSpPr>
        <p:spPr>
          <a:xfrm>
            <a:off x="15500868" y="4028965"/>
            <a:ext cx="8715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8"/>
          <p:cNvSpPr/>
          <p:nvPr/>
        </p:nvSpPr>
        <p:spPr>
          <a:xfrm>
            <a:off x="15653268" y="3574984"/>
            <a:ext cx="7191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0</a:t>
            </a:r>
            <a:endParaRPr b="0" i="0" sz="1950" u="none" cap="none" strike="noStrike">
              <a:solidFill>
                <a:schemeClr val="dk1"/>
              </a:solidFill>
              <a:latin typeface="Calibri"/>
              <a:ea typeface="Calibri"/>
              <a:cs typeface="Calibri"/>
              <a:sym typeface="Calibri"/>
            </a:endParaRPr>
          </a:p>
        </p:txBody>
      </p:sp>
      <p:sp>
        <p:nvSpPr>
          <p:cNvPr id="530" name="Google Shape;530;p8"/>
          <p:cNvSpPr/>
          <p:nvPr/>
        </p:nvSpPr>
        <p:spPr>
          <a:xfrm>
            <a:off x="16372229" y="4028965"/>
            <a:ext cx="7854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8"/>
          <p:cNvSpPr/>
          <p:nvPr/>
        </p:nvSpPr>
        <p:spPr>
          <a:xfrm>
            <a:off x="16524629" y="3574984"/>
            <a:ext cx="6330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0</a:t>
            </a:r>
            <a:endParaRPr b="0" i="0" sz="1950" u="none" cap="none" strike="noStrike">
              <a:solidFill>
                <a:schemeClr val="dk1"/>
              </a:solidFill>
              <a:latin typeface="Calibri"/>
              <a:ea typeface="Calibri"/>
              <a:cs typeface="Calibri"/>
              <a:sym typeface="Calibri"/>
            </a:endParaRPr>
          </a:p>
        </p:txBody>
      </p:sp>
      <p:sp>
        <p:nvSpPr>
          <p:cNvPr id="532" name="Google Shape;532;p8"/>
          <p:cNvSpPr/>
          <p:nvPr/>
        </p:nvSpPr>
        <p:spPr>
          <a:xfrm>
            <a:off x="12651415" y="4585251"/>
            <a:ext cx="11541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8"/>
          <p:cNvSpPr/>
          <p:nvPr/>
        </p:nvSpPr>
        <p:spPr>
          <a:xfrm>
            <a:off x="12803815" y="4131270"/>
            <a:ext cx="10017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2</a:t>
            </a:r>
            <a:endParaRPr b="0" i="0" sz="1950" u="none" cap="none" strike="noStrike">
              <a:solidFill>
                <a:schemeClr val="dk1"/>
              </a:solidFill>
              <a:latin typeface="Calibri"/>
              <a:ea typeface="Calibri"/>
              <a:cs typeface="Calibri"/>
              <a:sym typeface="Calibri"/>
            </a:endParaRPr>
          </a:p>
        </p:txBody>
      </p:sp>
      <p:sp>
        <p:nvSpPr>
          <p:cNvPr id="534" name="Google Shape;534;p8"/>
          <p:cNvSpPr/>
          <p:nvPr/>
        </p:nvSpPr>
        <p:spPr>
          <a:xfrm>
            <a:off x="13805550" y="4585251"/>
            <a:ext cx="8640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8"/>
          <p:cNvSpPr/>
          <p:nvPr/>
        </p:nvSpPr>
        <p:spPr>
          <a:xfrm>
            <a:off x="13957950" y="4131270"/>
            <a:ext cx="7116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3,990</a:t>
            </a:r>
            <a:endParaRPr b="0" i="0" sz="1950" u="none" cap="none" strike="noStrike">
              <a:solidFill>
                <a:schemeClr val="dk1"/>
              </a:solidFill>
              <a:latin typeface="Calibri"/>
              <a:ea typeface="Calibri"/>
              <a:cs typeface="Calibri"/>
              <a:sym typeface="Calibri"/>
            </a:endParaRPr>
          </a:p>
        </p:txBody>
      </p:sp>
      <p:sp>
        <p:nvSpPr>
          <p:cNvPr id="536" name="Google Shape;536;p8"/>
          <p:cNvSpPr/>
          <p:nvPr/>
        </p:nvSpPr>
        <p:spPr>
          <a:xfrm>
            <a:off x="14669635" y="4585251"/>
            <a:ext cx="8313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8"/>
          <p:cNvSpPr/>
          <p:nvPr/>
        </p:nvSpPr>
        <p:spPr>
          <a:xfrm>
            <a:off x="14822035" y="4131270"/>
            <a:ext cx="6789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848</a:t>
            </a:r>
            <a:endParaRPr b="0" i="0" sz="1950" u="none" cap="none" strike="noStrike">
              <a:solidFill>
                <a:schemeClr val="dk1"/>
              </a:solidFill>
              <a:latin typeface="Calibri"/>
              <a:ea typeface="Calibri"/>
              <a:cs typeface="Calibri"/>
              <a:sym typeface="Calibri"/>
            </a:endParaRPr>
          </a:p>
        </p:txBody>
      </p:sp>
      <p:sp>
        <p:nvSpPr>
          <p:cNvPr id="538" name="Google Shape;538;p8"/>
          <p:cNvSpPr/>
          <p:nvPr/>
        </p:nvSpPr>
        <p:spPr>
          <a:xfrm>
            <a:off x="15500868" y="4585251"/>
            <a:ext cx="8715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8"/>
          <p:cNvSpPr/>
          <p:nvPr/>
        </p:nvSpPr>
        <p:spPr>
          <a:xfrm>
            <a:off x="15653268" y="4131270"/>
            <a:ext cx="7191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0</a:t>
            </a:r>
            <a:endParaRPr b="0" i="0" sz="1950" u="none" cap="none" strike="noStrike">
              <a:solidFill>
                <a:schemeClr val="dk1"/>
              </a:solidFill>
              <a:latin typeface="Calibri"/>
              <a:ea typeface="Calibri"/>
              <a:cs typeface="Calibri"/>
              <a:sym typeface="Calibri"/>
            </a:endParaRPr>
          </a:p>
        </p:txBody>
      </p:sp>
      <p:sp>
        <p:nvSpPr>
          <p:cNvPr id="540" name="Google Shape;540;p8"/>
          <p:cNvSpPr/>
          <p:nvPr/>
        </p:nvSpPr>
        <p:spPr>
          <a:xfrm>
            <a:off x="16372229" y="4585251"/>
            <a:ext cx="7854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p8"/>
          <p:cNvSpPr/>
          <p:nvPr/>
        </p:nvSpPr>
        <p:spPr>
          <a:xfrm>
            <a:off x="16524629" y="4131270"/>
            <a:ext cx="6330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0</a:t>
            </a:r>
            <a:endParaRPr b="0" i="0" sz="1950" u="none" cap="none" strike="noStrike">
              <a:solidFill>
                <a:schemeClr val="dk1"/>
              </a:solidFill>
              <a:latin typeface="Calibri"/>
              <a:ea typeface="Calibri"/>
              <a:cs typeface="Calibri"/>
              <a:sym typeface="Calibri"/>
            </a:endParaRPr>
          </a:p>
        </p:txBody>
      </p:sp>
      <p:sp>
        <p:nvSpPr>
          <p:cNvPr id="542" name="Google Shape;542;p8"/>
          <p:cNvSpPr/>
          <p:nvPr/>
        </p:nvSpPr>
        <p:spPr>
          <a:xfrm>
            <a:off x="12651415" y="5141538"/>
            <a:ext cx="11541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 name="Google Shape;543;p8"/>
          <p:cNvSpPr/>
          <p:nvPr/>
        </p:nvSpPr>
        <p:spPr>
          <a:xfrm>
            <a:off x="12803815" y="4687557"/>
            <a:ext cx="10017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3</a:t>
            </a:r>
            <a:endParaRPr b="0" i="0" sz="1950" u="none" cap="none" strike="noStrike">
              <a:solidFill>
                <a:schemeClr val="dk1"/>
              </a:solidFill>
              <a:latin typeface="Calibri"/>
              <a:ea typeface="Calibri"/>
              <a:cs typeface="Calibri"/>
              <a:sym typeface="Calibri"/>
            </a:endParaRPr>
          </a:p>
        </p:txBody>
      </p:sp>
      <p:sp>
        <p:nvSpPr>
          <p:cNvPr id="544" name="Google Shape;544;p8"/>
          <p:cNvSpPr/>
          <p:nvPr/>
        </p:nvSpPr>
        <p:spPr>
          <a:xfrm>
            <a:off x="13805550" y="5141538"/>
            <a:ext cx="8640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8"/>
          <p:cNvSpPr/>
          <p:nvPr/>
        </p:nvSpPr>
        <p:spPr>
          <a:xfrm>
            <a:off x="13957950" y="4687557"/>
            <a:ext cx="7116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0</a:t>
            </a:r>
            <a:endParaRPr b="0" i="0" sz="1950" u="none" cap="none" strike="noStrike">
              <a:solidFill>
                <a:schemeClr val="dk1"/>
              </a:solidFill>
              <a:latin typeface="Calibri"/>
              <a:ea typeface="Calibri"/>
              <a:cs typeface="Calibri"/>
              <a:sym typeface="Calibri"/>
            </a:endParaRPr>
          </a:p>
        </p:txBody>
      </p:sp>
      <p:sp>
        <p:nvSpPr>
          <p:cNvPr id="546" name="Google Shape;546;p8"/>
          <p:cNvSpPr/>
          <p:nvPr/>
        </p:nvSpPr>
        <p:spPr>
          <a:xfrm>
            <a:off x="14669635" y="5141538"/>
            <a:ext cx="8313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8"/>
          <p:cNvSpPr/>
          <p:nvPr/>
        </p:nvSpPr>
        <p:spPr>
          <a:xfrm>
            <a:off x="14822035" y="4687557"/>
            <a:ext cx="6789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2,337</a:t>
            </a:r>
            <a:endParaRPr b="0" i="0" sz="1950" u="none" cap="none" strike="noStrike">
              <a:solidFill>
                <a:schemeClr val="dk1"/>
              </a:solidFill>
              <a:latin typeface="Calibri"/>
              <a:ea typeface="Calibri"/>
              <a:cs typeface="Calibri"/>
              <a:sym typeface="Calibri"/>
            </a:endParaRPr>
          </a:p>
        </p:txBody>
      </p:sp>
      <p:sp>
        <p:nvSpPr>
          <p:cNvPr id="548" name="Google Shape;548;p8"/>
          <p:cNvSpPr/>
          <p:nvPr/>
        </p:nvSpPr>
        <p:spPr>
          <a:xfrm>
            <a:off x="15500868" y="5141538"/>
            <a:ext cx="8715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8"/>
          <p:cNvSpPr/>
          <p:nvPr/>
        </p:nvSpPr>
        <p:spPr>
          <a:xfrm>
            <a:off x="15653268" y="4687557"/>
            <a:ext cx="7191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0</a:t>
            </a:r>
            <a:endParaRPr b="0" i="0" sz="1950" u="none" cap="none" strike="noStrike">
              <a:solidFill>
                <a:schemeClr val="dk1"/>
              </a:solidFill>
              <a:latin typeface="Calibri"/>
              <a:ea typeface="Calibri"/>
              <a:cs typeface="Calibri"/>
              <a:sym typeface="Calibri"/>
            </a:endParaRPr>
          </a:p>
        </p:txBody>
      </p:sp>
      <p:sp>
        <p:nvSpPr>
          <p:cNvPr id="550" name="Google Shape;550;p8"/>
          <p:cNvSpPr/>
          <p:nvPr/>
        </p:nvSpPr>
        <p:spPr>
          <a:xfrm>
            <a:off x="16372229" y="5141538"/>
            <a:ext cx="7854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p8"/>
          <p:cNvSpPr/>
          <p:nvPr/>
        </p:nvSpPr>
        <p:spPr>
          <a:xfrm>
            <a:off x="16524629" y="4687557"/>
            <a:ext cx="633000" cy="396900"/>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0</a:t>
            </a:r>
            <a:endParaRPr b="0" i="0" sz="1950" u="none" cap="none" strike="noStrike">
              <a:solidFill>
                <a:schemeClr val="dk1"/>
              </a:solidFill>
              <a:latin typeface="Calibri"/>
              <a:ea typeface="Calibri"/>
              <a:cs typeface="Calibri"/>
              <a:sym typeface="Calibri"/>
            </a:endParaRPr>
          </a:p>
        </p:txBody>
      </p:sp>
      <p:sp>
        <p:nvSpPr>
          <p:cNvPr id="552" name="Google Shape;552;p8"/>
          <p:cNvSpPr/>
          <p:nvPr/>
        </p:nvSpPr>
        <p:spPr>
          <a:xfrm>
            <a:off x="1047640" y="9159766"/>
            <a:ext cx="16192613"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53" name="Google Shape;553;p8"/>
          <p:cNvPicPr preferRelativeResize="0"/>
          <p:nvPr/>
        </p:nvPicPr>
        <p:blipFill>
          <a:blip r:embed="rId3">
            <a:alphaModFix/>
          </a:blip>
          <a:stretch>
            <a:fillRect/>
          </a:stretch>
        </p:blipFill>
        <p:spPr>
          <a:xfrm>
            <a:off x="1171640" y="3231950"/>
            <a:ext cx="6560299" cy="4635525"/>
          </a:xfrm>
          <a:prstGeom prst="rect">
            <a:avLst/>
          </a:prstGeom>
          <a:noFill/>
          <a:ln>
            <a:noFill/>
          </a:ln>
        </p:spPr>
      </p:pic>
      <p:pic>
        <p:nvPicPr>
          <p:cNvPr id="554" name="Google Shape;554;p8"/>
          <p:cNvPicPr preferRelativeResize="0"/>
          <p:nvPr/>
        </p:nvPicPr>
        <p:blipFill>
          <a:blip r:embed="rId4">
            <a:alphaModFix/>
          </a:blip>
          <a:stretch>
            <a:fillRect/>
          </a:stretch>
        </p:blipFill>
        <p:spPr>
          <a:xfrm>
            <a:off x="16828688" y="375185"/>
            <a:ext cx="1162250" cy="1261872"/>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9" name="Shape 559"/>
        <p:cNvGrpSpPr/>
        <p:nvPr/>
      </p:nvGrpSpPr>
      <p:grpSpPr>
        <a:xfrm>
          <a:off x="0" y="0"/>
          <a:ext cx="0" cy="0"/>
          <a:chOff x="0" y="0"/>
          <a:chExt cx="0" cy="0"/>
        </a:xfrm>
      </p:grpSpPr>
      <p:pic>
        <p:nvPicPr>
          <p:cNvPr id="560" name="Google Shape;560;p9"/>
          <p:cNvPicPr preferRelativeResize="0"/>
          <p:nvPr/>
        </p:nvPicPr>
        <p:blipFill>
          <a:blip r:embed="rId3">
            <a:alphaModFix/>
          </a:blip>
          <a:stretch>
            <a:fillRect/>
          </a:stretch>
        </p:blipFill>
        <p:spPr>
          <a:xfrm>
            <a:off x="16849850" y="376175"/>
            <a:ext cx="1119925" cy="1259900"/>
          </a:xfrm>
          <a:prstGeom prst="rect">
            <a:avLst/>
          </a:prstGeom>
          <a:noFill/>
          <a:ln>
            <a:noFill/>
          </a:ln>
        </p:spPr>
      </p:pic>
      <p:sp>
        <p:nvSpPr>
          <p:cNvPr id="561" name="Google Shape;561;p9"/>
          <p:cNvSpPr/>
          <p:nvPr/>
        </p:nvSpPr>
        <p:spPr>
          <a:xfrm>
            <a:off x="1047640" y="761890"/>
            <a:ext cx="16678391" cy="563849"/>
          </a:xfrm>
          <a:prstGeom prst="rect">
            <a:avLst/>
          </a:prstGeom>
          <a:noFill/>
          <a:ln>
            <a:noFill/>
          </a:ln>
        </p:spPr>
        <p:txBody>
          <a:bodyPr anchorCtr="0" anchor="t" bIns="25400" lIns="25400" spcFirstLastPara="1" rIns="25400" wrap="square" tIns="25400">
            <a:normAutofit/>
          </a:bodyPr>
          <a:lstStyle/>
          <a:p>
            <a:pPr indent="0" lvl="0" marL="0" marR="0" rtl="0" algn="l">
              <a:lnSpc>
                <a:spcPct val="115000"/>
              </a:lnSpc>
              <a:spcBef>
                <a:spcPts val="0"/>
              </a:spcBef>
              <a:spcAft>
                <a:spcPts val="0"/>
              </a:spcAft>
              <a:buClr>
                <a:srgbClr val="111111"/>
              </a:buClr>
              <a:buSzPts val="3600"/>
              <a:buFont typeface="Georgia"/>
              <a:buNone/>
            </a:pPr>
            <a:r>
              <a:rPr b="0" i="0" lang="en-US" sz="3600" u="none" cap="none" strike="noStrike">
                <a:solidFill>
                  <a:srgbClr val="111111"/>
                </a:solidFill>
                <a:latin typeface="Georgia"/>
                <a:ea typeface="Georgia"/>
                <a:cs typeface="Georgia"/>
                <a:sym typeface="Georgia"/>
              </a:rPr>
              <a:t>Analysis</a:t>
            </a:r>
            <a:r>
              <a:rPr lang="en-US" sz="3600">
                <a:solidFill>
                  <a:srgbClr val="111111"/>
                </a:solidFill>
                <a:latin typeface="Georgia"/>
                <a:ea typeface="Georgia"/>
                <a:cs typeface="Georgia"/>
                <a:sym typeface="Georgia"/>
              </a:rPr>
              <a:t>:</a:t>
            </a:r>
            <a:r>
              <a:rPr b="0" i="0" lang="en-US" sz="3600" u="none" cap="none" strike="noStrike">
                <a:solidFill>
                  <a:srgbClr val="111111"/>
                </a:solidFill>
                <a:latin typeface="Georgia"/>
                <a:ea typeface="Georgia"/>
                <a:cs typeface="Georgia"/>
                <a:sym typeface="Georgia"/>
              </a:rPr>
              <a:t> K-Means vs. Heuristic</a:t>
            </a:r>
            <a:endParaRPr b="0" i="0" sz="3600" u="none" cap="none" strike="noStrike">
              <a:solidFill>
                <a:schemeClr val="dk1"/>
              </a:solidFill>
              <a:latin typeface="Calibri"/>
              <a:ea typeface="Calibri"/>
              <a:cs typeface="Calibri"/>
              <a:sym typeface="Calibri"/>
            </a:endParaRPr>
          </a:p>
        </p:txBody>
      </p:sp>
      <p:sp>
        <p:nvSpPr>
          <p:cNvPr id="562" name="Google Shape;562;p9"/>
          <p:cNvSpPr/>
          <p:nvPr/>
        </p:nvSpPr>
        <p:spPr>
          <a:xfrm>
            <a:off x="1047640" y="1554317"/>
            <a:ext cx="16192613" cy="14111"/>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p9"/>
          <p:cNvSpPr/>
          <p:nvPr/>
        </p:nvSpPr>
        <p:spPr>
          <a:xfrm>
            <a:off x="2860439" y="4547637"/>
            <a:ext cx="4203975" cy="369601"/>
          </a:xfrm>
          <a:prstGeom prst="rect">
            <a:avLst/>
          </a:prstGeom>
          <a:noFill/>
          <a:ln>
            <a:noFill/>
          </a:ln>
        </p:spPr>
        <p:txBody>
          <a:bodyPr anchorCtr="0" anchor="t" bIns="25400" lIns="25400" spcFirstLastPara="1" rIns="25400" wrap="square" tIns="25400">
            <a:normAutofit/>
          </a:bodyPr>
          <a:lstStyle/>
          <a:p>
            <a:pPr indent="0" lvl="0" marL="0" marR="0" rtl="0" algn="ctr">
              <a:lnSpc>
                <a:spcPct val="145000"/>
              </a:lnSpc>
              <a:spcBef>
                <a:spcPts val="0"/>
              </a:spcBef>
              <a:spcAft>
                <a:spcPts val="0"/>
              </a:spcAft>
              <a:buClr>
                <a:srgbClr val="444444"/>
              </a:buClr>
              <a:buSzPts val="1800"/>
              <a:buFont typeface="Georgia"/>
              <a:buNone/>
            </a:pPr>
            <a:r>
              <a:rPr b="1" i="0" lang="en-US" sz="1800" u="none" cap="none" strike="noStrike">
                <a:solidFill>
                  <a:srgbClr val="444444"/>
                </a:solidFill>
                <a:latin typeface="Georgia"/>
                <a:ea typeface="Georgia"/>
                <a:cs typeface="Georgia"/>
                <a:sym typeface="Georgia"/>
              </a:rPr>
              <a:t>[ PLACEHOLDER · FIGURE 4 ]</a:t>
            </a:r>
            <a:endParaRPr b="0" i="0" sz="1800" u="none" cap="none" strike="noStrike">
              <a:solidFill>
                <a:schemeClr val="dk1"/>
              </a:solidFill>
              <a:latin typeface="Calibri"/>
              <a:ea typeface="Calibri"/>
              <a:cs typeface="Calibri"/>
              <a:sym typeface="Calibri"/>
            </a:endParaRPr>
          </a:p>
        </p:txBody>
      </p:sp>
      <p:sp>
        <p:nvSpPr>
          <p:cNvPr id="564" name="Google Shape;564;p9"/>
          <p:cNvSpPr/>
          <p:nvPr/>
        </p:nvSpPr>
        <p:spPr>
          <a:xfrm>
            <a:off x="3471680" y="4993350"/>
            <a:ext cx="2981492" cy="756003"/>
          </a:xfrm>
          <a:prstGeom prst="rect">
            <a:avLst/>
          </a:prstGeom>
          <a:noFill/>
          <a:ln>
            <a:noFill/>
          </a:ln>
        </p:spPr>
        <p:txBody>
          <a:bodyPr anchorCtr="0" anchor="t" bIns="25400" lIns="25400" spcFirstLastPara="1" rIns="25400" wrap="square" tIns="25400">
            <a:normAutofit/>
          </a:bodyPr>
          <a:lstStyle/>
          <a:p>
            <a:pPr indent="0" lvl="0" marL="0" marR="0" rtl="0" algn="ctr">
              <a:lnSpc>
                <a:spcPct val="145000"/>
              </a:lnSpc>
              <a:spcBef>
                <a:spcPts val="0"/>
              </a:spcBef>
              <a:spcAft>
                <a:spcPts val="0"/>
              </a:spcAft>
              <a:buClr>
                <a:srgbClr val="666666"/>
              </a:buClr>
              <a:buSzPts val="1950"/>
              <a:buFont typeface="Georgia"/>
              <a:buNone/>
            </a:pPr>
            <a:r>
              <a:rPr b="0" i="1" lang="en-US" sz="1950" u="none" cap="none" strike="noStrike">
                <a:solidFill>
                  <a:srgbClr val="666666"/>
                </a:solidFill>
                <a:latin typeface="Georgia"/>
                <a:ea typeface="Georgia"/>
                <a:cs typeface="Georgia"/>
                <a:sym typeface="Georgia"/>
              </a:rPr>
              <a:t>Per-sample silhouette plot for the K = 4 model</a:t>
            </a:r>
            <a:endParaRPr b="0" i="0" sz="1950" u="none" cap="none" strike="noStrike">
              <a:solidFill>
                <a:schemeClr val="dk1"/>
              </a:solidFill>
              <a:latin typeface="Calibri"/>
              <a:ea typeface="Calibri"/>
              <a:cs typeface="Calibri"/>
              <a:sym typeface="Calibri"/>
            </a:endParaRPr>
          </a:p>
        </p:txBody>
      </p:sp>
      <p:sp>
        <p:nvSpPr>
          <p:cNvPr id="565" name="Google Shape;565;p9"/>
          <p:cNvSpPr/>
          <p:nvPr/>
        </p:nvSpPr>
        <p:spPr>
          <a:xfrm>
            <a:off x="2640151" y="5863608"/>
            <a:ext cx="4644550" cy="701102"/>
          </a:xfrm>
          <a:prstGeom prst="rect">
            <a:avLst/>
          </a:prstGeom>
          <a:noFill/>
          <a:ln>
            <a:noFill/>
          </a:ln>
        </p:spPr>
        <p:txBody>
          <a:bodyPr anchorCtr="0" anchor="t" bIns="25400" lIns="25400" spcFirstLastPara="1" rIns="25400" wrap="square" tIns="25400">
            <a:normAutofit/>
          </a:bodyPr>
          <a:lstStyle/>
          <a:p>
            <a:pPr indent="0" lvl="0" marL="0" marR="0" rtl="0" algn="ctr">
              <a:lnSpc>
                <a:spcPct val="145000"/>
              </a:lnSpc>
              <a:spcBef>
                <a:spcPts val="0"/>
              </a:spcBef>
              <a:spcAft>
                <a:spcPts val="0"/>
              </a:spcAft>
              <a:buClr>
                <a:srgbClr val="777777"/>
              </a:buClr>
              <a:buSzPts val="1800"/>
              <a:buFont typeface="Georgia"/>
              <a:buNone/>
            </a:pPr>
            <a:r>
              <a:rPr b="0" i="1" lang="en-US" sz="1800" u="none" cap="none" strike="noStrike">
                <a:solidFill>
                  <a:srgbClr val="777777"/>
                </a:solidFill>
                <a:latin typeface="Georgia"/>
                <a:ea typeface="Georgia"/>
                <a:cs typeface="Georgia"/>
                <a:sym typeface="Georgia"/>
              </a:rPr>
              <a:t>From: 04-kmeans-all-human-holdem.ipynb "Silhouette Plot"</a:t>
            </a:r>
            <a:endParaRPr b="0" i="0" sz="1800" u="none" cap="none" strike="noStrike">
              <a:solidFill>
                <a:schemeClr val="dk1"/>
              </a:solidFill>
              <a:latin typeface="Calibri"/>
              <a:ea typeface="Calibri"/>
              <a:cs typeface="Calibri"/>
              <a:sym typeface="Calibri"/>
            </a:endParaRPr>
          </a:p>
        </p:txBody>
      </p:sp>
      <p:sp>
        <p:nvSpPr>
          <p:cNvPr id="566" name="Google Shape;566;p9"/>
          <p:cNvSpPr/>
          <p:nvPr/>
        </p:nvSpPr>
        <p:spPr>
          <a:xfrm>
            <a:off x="9410569" y="1835106"/>
            <a:ext cx="8064574" cy="452393"/>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250"/>
              <a:buFont typeface="Georgia"/>
              <a:buNone/>
            </a:pPr>
            <a:r>
              <a:rPr b="1" i="0" lang="en-US" sz="2250" u="none" cap="none" strike="noStrike">
                <a:solidFill>
                  <a:srgbClr val="111111"/>
                </a:solidFill>
                <a:latin typeface="Georgia"/>
                <a:ea typeface="Georgia"/>
                <a:cs typeface="Georgia"/>
                <a:sym typeface="Georgia"/>
              </a:rPr>
              <a:t>Silhouette scores</a:t>
            </a:r>
            <a:endParaRPr b="0" i="0" sz="2250" u="none" cap="none" strike="noStrike">
              <a:solidFill>
                <a:schemeClr val="dk1"/>
              </a:solidFill>
              <a:latin typeface="Calibri"/>
              <a:ea typeface="Calibri"/>
              <a:cs typeface="Calibri"/>
              <a:sym typeface="Calibri"/>
            </a:endParaRPr>
          </a:p>
        </p:txBody>
      </p:sp>
      <p:sp>
        <p:nvSpPr>
          <p:cNvPr id="567" name="Google Shape;567;p9"/>
          <p:cNvSpPr/>
          <p:nvPr/>
        </p:nvSpPr>
        <p:spPr>
          <a:xfrm>
            <a:off x="9410569" y="2905787"/>
            <a:ext cx="2863453" cy="14111"/>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9"/>
          <p:cNvSpPr/>
          <p:nvPr/>
        </p:nvSpPr>
        <p:spPr>
          <a:xfrm>
            <a:off x="9410569" y="2458861"/>
            <a:ext cx="2720757" cy="389775"/>
          </a:xfrm>
          <a:prstGeom prst="rect">
            <a:avLst/>
          </a:prstGeom>
          <a:noFill/>
          <a:ln>
            <a:noFill/>
          </a:ln>
        </p:spPr>
        <p:txBody>
          <a:bodyPr anchorCtr="0" anchor="ctr"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1950"/>
              <a:buFont typeface="Georgia"/>
              <a:buNone/>
            </a:pPr>
            <a:r>
              <a:rPr b="1" i="0" lang="en-US" sz="1950" u="none" cap="none" strike="noStrike">
                <a:solidFill>
                  <a:srgbClr val="111111"/>
                </a:solidFill>
                <a:latin typeface="Georgia"/>
                <a:ea typeface="Georgia"/>
                <a:cs typeface="Georgia"/>
                <a:sym typeface="Georgia"/>
              </a:rPr>
              <a:t>Method</a:t>
            </a:r>
            <a:endParaRPr b="0" i="0" sz="1950" u="none" cap="none" strike="noStrike">
              <a:solidFill>
                <a:schemeClr val="dk1"/>
              </a:solidFill>
              <a:latin typeface="Calibri"/>
              <a:ea typeface="Calibri"/>
              <a:cs typeface="Calibri"/>
              <a:sym typeface="Calibri"/>
            </a:endParaRPr>
          </a:p>
        </p:txBody>
      </p:sp>
      <p:sp>
        <p:nvSpPr>
          <p:cNvPr id="569" name="Google Shape;569;p9"/>
          <p:cNvSpPr/>
          <p:nvPr/>
        </p:nvSpPr>
        <p:spPr>
          <a:xfrm>
            <a:off x="12274023" y="2905787"/>
            <a:ext cx="1171884" cy="14111"/>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9"/>
          <p:cNvSpPr/>
          <p:nvPr/>
        </p:nvSpPr>
        <p:spPr>
          <a:xfrm>
            <a:off x="12426423" y="2458861"/>
            <a:ext cx="1019484" cy="389775"/>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1" i="0" lang="en-US" sz="1950" u="none" cap="none" strike="noStrike">
                <a:solidFill>
                  <a:srgbClr val="111111"/>
                </a:solidFill>
                <a:latin typeface="Georgia"/>
                <a:ea typeface="Georgia"/>
                <a:cs typeface="Georgia"/>
                <a:sym typeface="Georgia"/>
              </a:rPr>
              <a:t>Groups</a:t>
            </a:r>
            <a:endParaRPr b="0" i="0" sz="1950" u="none" cap="none" strike="noStrike">
              <a:solidFill>
                <a:schemeClr val="dk1"/>
              </a:solidFill>
              <a:latin typeface="Calibri"/>
              <a:ea typeface="Calibri"/>
              <a:cs typeface="Calibri"/>
              <a:sym typeface="Calibri"/>
            </a:endParaRPr>
          </a:p>
        </p:txBody>
      </p:sp>
      <p:sp>
        <p:nvSpPr>
          <p:cNvPr id="571" name="Google Shape;571;p9"/>
          <p:cNvSpPr/>
          <p:nvPr/>
        </p:nvSpPr>
        <p:spPr>
          <a:xfrm>
            <a:off x="13445906" y="2905787"/>
            <a:ext cx="1133629" cy="14111"/>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9"/>
          <p:cNvSpPr/>
          <p:nvPr/>
        </p:nvSpPr>
        <p:spPr>
          <a:xfrm>
            <a:off x="13598306" y="2458861"/>
            <a:ext cx="981229" cy="389775"/>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1" i="0" lang="en-US" sz="1950" u="none" cap="none" strike="noStrike">
                <a:solidFill>
                  <a:srgbClr val="111111"/>
                </a:solidFill>
                <a:latin typeface="Georgia"/>
                <a:ea typeface="Georgia"/>
                <a:cs typeface="Georgia"/>
                <a:sym typeface="Georgia"/>
              </a:rPr>
              <a:t>Score</a:t>
            </a:r>
            <a:endParaRPr b="0" i="0" sz="1950" u="none" cap="none" strike="noStrike">
              <a:solidFill>
                <a:schemeClr val="dk1"/>
              </a:solidFill>
              <a:latin typeface="Calibri"/>
              <a:ea typeface="Calibri"/>
              <a:cs typeface="Calibri"/>
              <a:sym typeface="Calibri"/>
            </a:endParaRPr>
          </a:p>
        </p:txBody>
      </p:sp>
      <p:sp>
        <p:nvSpPr>
          <p:cNvPr id="573" name="Google Shape;573;p9"/>
          <p:cNvSpPr/>
          <p:nvPr/>
        </p:nvSpPr>
        <p:spPr>
          <a:xfrm>
            <a:off x="9410569" y="3472657"/>
            <a:ext cx="2863453"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 name="Google Shape;574;p9"/>
          <p:cNvSpPr/>
          <p:nvPr/>
        </p:nvSpPr>
        <p:spPr>
          <a:xfrm>
            <a:off x="9410569" y="3015148"/>
            <a:ext cx="2720757" cy="400359"/>
          </a:xfrm>
          <a:prstGeom prst="rect">
            <a:avLst/>
          </a:prstGeom>
          <a:noFill/>
          <a:ln>
            <a:noFill/>
          </a:ln>
        </p:spPr>
        <p:txBody>
          <a:bodyPr anchorCtr="0" anchor="ctr"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Heuristic baseline</a:t>
            </a:r>
            <a:endParaRPr b="0" i="0" sz="1950" u="none" cap="none" strike="noStrike">
              <a:solidFill>
                <a:schemeClr val="dk1"/>
              </a:solidFill>
              <a:latin typeface="Calibri"/>
              <a:ea typeface="Calibri"/>
              <a:cs typeface="Calibri"/>
              <a:sym typeface="Calibri"/>
            </a:endParaRPr>
          </a:p>
        </p:txBody>
      </p:sp>
      <p:sp>
        <p:nvSpPr>
          <p:cNvPr id="575" name="Google Shape;575;p9"/>
          <p:cNvSpPr/>
          <p:nvPr/>
        </p:nvSpPr>
        <p:spPr>
          <a:xfrm>
            <a:off x="12274023" y="3472657"/>
            <a:ext cx="1171884"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9"/>
          <p:cNvSpPr/>
          <p:nvPr/>
        </p:nvSpPr>
        <p:spPr>
          <a:xfrm>
            <a:off x="12426423" y="3015148"/>
            <a:ext cx="1019484" cy="400359"/>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4</a:t>
            </a:r>
            <a:endParaRPr b="0" i="0" sz="1950" u="none" cap="none" strike="noStrike">
              <a:solidFill>
                <a:schemeClr val="dk1"/>
              </a:solidFill>
              <a:latin typeface="Calibri"/>
              <a:ea typeface="Calibri"/>
              <a:cs typeface="Calibri"/>
              <a:sym typeface="Calibri"/>
            </a:endParaRPr>
          </a:p>
        </p:txBody>
      </p:sp>
      <p:sp>
        <p:nvSpPr>
          <p:cNvPr id="577" name="Google Shape;577;p9"/>
          <p:cNvSpPr/>
          <p:nvPr/>
        </p:nvSpPr>
        <p:spPr>
          <a:xfrm>
            <a:off x="13445906" y="3472657"/>
            <a:ext cx="1133629"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 name="Google Shape;578;p9"/>
          <p:cNvSpPr/>
          <p:nvPr/>
        </p:nvSpPr>
        <p:spPr>
          <a:xfrm>
            <a:off x="13598306" y="3015148"/>
            <a:ext cx="981229" cy="400359"/>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0.1347</a:t>
            </a:r>
            <a:endParaRPr b="0" i="0" sz="1950" u="none" cap="none" strike="noStrike">
              <a:solidFill>
                <a:schemeClr val="dk1"/>
              </a:solidFill>
              <a:latin typeface="Calibri"/>
              <a:ea typeface="Calibri"/>
              <a:cs typeface="Calibri"/>
              <a:sym typeface="Calibri"/>
            </a:endParaRPr>
          </a:p>
        </p:txBody>
      </p:sp>
      <p:sp>
        <p:nvSpPr>
          <p:cNvPr id="579" name="Google Shape;579;p9"/>
          <p:cNvSpPr/>
          <p:nvPr/>
        </p:nvSpPr>
        <p:spPr>
          <a:xfrm>
            <a:off x="9410569" y="4028943"/>
            <a:ext cx="2863453"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 name="Google Shape;580;p9"/>
          <p:cNvSpPr/>
          <p:nvPr/>
        </p:nvSpPr>
        <p:spPr>
          <a:xfrm>
            <a:off x="9410569" y="3574962"/>
            <a:ext cx="2720757" cy="396831"/>
          </a:xfrm>
          <a:prstGeom prst="rect">
            <a:avLst/>
          </a:prstGeom>
          <a:noFill/>
          <a:ln>
            <a:noFill/>
          </a:ln>
        </p:spPr>
        <p:txBody>
          <a:bodyPr anchorCtr="0" anchor="ctr"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1950"/>
              <a:buFont typeface="Georgia"/>
              <a:buNone/>
            </a:pPr>
            <a:r>
              <a:rPr b="1" i="0" lang="en-US" sz="1950" u="none" cap="none" strike="noStrike">
                <a:solidFill>
                  <a:srgbClr val="111111"/>
                </a:solidFill>
                <a:latin typeface="Georgia"/>
                <a:ea typeface="Georgia"/>
                <a:cs typeface="Georgia"/>
                <a:sym typeface="Georgia"/>
              </a:rPr>
              <a:t>K-Means (K = 4)</a:t>
            </a:r>
            <a:endParaRPr b="0" i="0" sz="1950" u="none" cap="none" strike="noStrike">
              <a:solidFill>
                <a:schemeClr val="dk1"/>
              </a:solidFill>
              <a:latin typeface="Calibri"/>
              <a:ea typeface="Calibri"/>
              <a:cs typeface="Calibri"/>
              <a:sym typeface="Calibri"/>
            </a:endParaRPr>
          </a:p>
        </p:txBody>
      </p:sp>
      <p:sp>
        <p:nvSpPr>
          <p:cNvPr id="581" name="Google Shape;581;p9"/>
          <p:cNvSpPr/>
          <p:nvPr/>
        </p:nvSpPr>
        <p:spPr>
          <a:xfrm>
            <a:off x="12274023" y="4028943"/>
            <a:ext cx="1171884"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9"/>
          <p:cNvSpPr/>
          <p:nvPr/>
        </p:nvSpPr>
        <p:spPr>
          <a:xfrm>
            <a:off x="12426423" y="3574962"/>
            <a:ext cx="1019484" cy="396831"/>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4</a:t>
            </a:r>
            <a:endParaRPr b="0" i="0" sz="1950" u="none" cap="none" strike="noStrike">
              <a:solidFill>
                <a:schemeClr val="dk1"/>
              </a:solidFill>
              <a:latin typeface="Calibri"/>
              <a:ea typeface="Calibri"/>
              <a:cs typeface="Calibri"/>
              <a:sym typeface="Calibri"/>
            </a:endParaRPr>
          </a:p>
        </p:txBody>
      </p:sp>
      <p:sp>
        <p:nvSpPr>
          <p:cNvPr id="583" name="Google Shape;583;p9"/>
          <p:cNvSpPr/>
          <p:nvPr/>
        </p:nvSpPr>
        <p:spPr>
          <a:xfrm>
            <a:off x="13445906" y="4028943"/>
            <a:ext cx="1133629"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9"/>
          <p:cNvSpPr/>
          <p:nvPr/>
        </p:nvSpPr>
        <p:spPr>
          <a:xfrm>
            <a:off x="13598306" y="3574962"/>
            <a:ext cx="981229" cy="396831"/>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1" i="0" lang="en-US" sz="1950" u="none" cap="none" strike="noStrike">
                <a:solidFill>
                  <a:srgbClr val="111111"/>
                </a:solidFill>
                <a:latin typeface="Georgia"/>
                <a:ea typeface="Georgia"/>
                <a:cs typeface="Georgia"/>
                <a:sym typeface="Georgia"/>
              </a:rPr>
              <a:t>0.4420</a:t>
            </a:r>
            <a:endParaRPr b="0" i="0" sz="1950" u="none" cap="none" strike="noStrike">
              <a:solidFill>
                <a:schemeClr val="dk1"/>
              </a:solidFill>
              <a:latin typeface="Calibri"/>
              <a:ea typeface="Calibri"/>
              <a:cs typeface="Calibri"/>
              <a:sym typeface="Calibri"/>
            </a:endParaRPr>
          </a:p>
        </p:txBody>
      </p:sp>
      <p:sp>
        <p:nvSpPr>
          <p:cNvPr id="585" name="Google Shape;585;p9"/>
          <p:cNvSpPr/>
          <p:nvPr/>
        </p:nvSpPr>
        <p:spPr>
          <a:xfrm>
            <a:off x="9410569" y="4585230"/>
            <a:ext cx="2863453"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9"/>
          <p:cNvSpPr/>
          <p:nvPr/>
        </p:nvSpPr>
        <p:spPr>
          <a:xfrm>
            <a:off x="9410569" y="4131249"/>
            <a:ext cx="2720757" cy="396831"/>
          </a:xfrm>
          <a:prstGeom prst="rect">
            <a:avLst/>
          </a:prstGeom>
          <a:noFill/>
          <a:ln>
            <a:noFill/>
          </a:ln>
        </p:spPr>
        <p:txBody>
          <a:bodyPr anchorCtr="0" anchor="ctr"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K-Means (best K, K = 2)</a:t>
            </a:r>
            <a:endParaRPr b="0" i="0" sz="1950" u="none" cap="none" strike="noStrike">
              <a:solidFill>
                <a:schemeClr val="dk1"/>
              </a:solidFill>
              <a:latin typeface="Calibri"/>
              <a:ea typeface="Calibri"/>
              <a:cs typeface="Calibri"/>
              <a:sym typeface="Calibri"/>
            </a:endParaRPr>
          </a:p>
        </p:txBody>
      </p:sp>
      <p:sp>
        <p:nvSpPr>
          <p:cNvPr id="587" name="Google Shape;587;p9"/>
          <p:cNvSpPr/>
          <p:nvPr/>
        </p:nvSpPr>
        <p:spPr>
          <a:xfrm>
            <a:off x="12274023" y="4585230"/>
            <a:ext cx="1171884"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9"/>
          <p:cNvSpPr/>
          <p:nvPr/>
        </p:nvSpPr>
        <p:spPr>
          <a:xfrm>
            <a:off x="12426423" y="4131249"/>
            <a:ext cx="1019484" cy="396831"/>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2</a:t>
            </a:r>
            <a:endParaRPr b="0" i="0" sz="1950" u="none" cap="none" strike="noStrike">
              <a:solidFill>
                <a:schemeClr val="dk1"/>
              </a:solidFill>
              <a:latin typeface="Calibri"/>
              <a:ea typeface="Calibri"/>
              <a:cs typeface="Calibri"/>
              <a:sym typeface="Calibri"/>
            </a:endParaRPr>
          </a:p>
        </p:txBody>
      </p:sp>
      <p:sp>
        <p:nvSpPr>
          <p:cNvPr id="589" name="Google Shape;589;p9"/>
          <p:cNvSpPr/>
          <p:nvPr/>
        </p:nvSpPr>
        <p:spPr>
          <a:xfrm>
            <a:off x="13445906" y="4585230"/>
            <a:ext cx="1133629"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9"/>
          <p:cNvSpPr/>
          <p:nvPr/>
        </p:nvSpPr>
        <p:spPr>
          <a:xfrm>
            <a:off x="13598306" y="4131249"/>
            <a:ext cx="981229" cy="396831"/>
          </a:xfrm>
          <a:prstGeom prst="rect">
            <a:avLst/>
          </a:prstGeom>
          <a:noFill/>
          <a:ln>
            <a:noFill/>
          </a:ln>
        </p:spPr>
        <p:txBody>
          <a:bodyPr anchorCtr="0" anchor="ctr" bIns="25400" lIns="25400" spcFirstLastPara="1" rIns="25400" wrap="square" tIns="25400">
            <a:normAutofit/>
          </a:bodyPr>
          <a:lstStyle/>
          <a:p>
            <a:pPr indent="0" lvl="0" marL="0" marR="0" rtl="0" algn="r">
              <a:lnSpc>
                <a:spcPct val="145000"/>
              </a:lnSpc>
              <a:spcBef>
                <a:spcPts val="0"/>
              </a:spcBef>
              <a:spcAft>
                <a:spcPts val="0"/>
              </a:spcAft>
              <a:buClr>
                <a:srgbClr val="111111"/>
              </a:buClr>
              <a:buSzPts val="1950"/>
              <a:buFont typeface="Georgia"/>
              <a:buNone/>
            </a:pPr>
            <a:r>
              <a:rPr b="0" i="0" lang="en-US" sz="1950" u="none" cap="none" strike="noStrike">
                <a:solidFill>
                  <a:srgbClr val="111111"/>
                </a:solidFill>
                <a:latin typeface="Georgia"/>
                <a:ea typeface="Georgia"/>
                <a:cs typeface="Georgia"/>
                <a:sym typeface="Georgia"/>
              </a:rPr>
              <a:t>0.4917</a:t>
            </a:r>
            <a:endParaRPr b="0" i="0" sz="1950" u="none" cap="none" strike="noStrike">
              <a:solidFill>
                <a:schemeClr val="dk1"/>
              </a:solidFill>
              <a:latin typeface="Calibri"/>
              <a:ea typeface="Calibri"/>
              <a:cs typeface="Calibri"/>
              <a:sym typeface="Calibri"/>
            </a:endParaRPr>
          </a:p>
        </p:txBody>
      </p:sp>
      <p:sp>
        <p:nvSpPr>
          <p:cNvPr id="591" name="Google Shape;591;p9"/>
          <p:cNvSpPr/>
          <p:nvPr/>
        </p:nvSpPr>
        <p:spPr>
          <a:xfrm>
            <a:off x="9410569" y="4786203"/>
            <a:ext cx="8064574" cy="452393"/>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250"/>
              <a:buFont typeface="Georgia"/>
              <a:buNone/>
            </a:pPr>
            <a:r>
              <a:rPr b="1" i="0" lang="en-US" sz="2250" u="none" cap="none" strike="noStrike">
                <a:solidFill>
                  <a:srgbClr val="111111"/>
                </a:solidFill>
                <a:latin typeface="Georgia"/>
                <a:ea typeface="Georgia"/>
                <a:cs typeface="Georgia"/>
                <a:sym typeface="Georgia"/>
              </a:rPr>
              <a:t>What this tells us</a:t>
            </a:r>
            <a:endParaRPr b="0" i="0" sz="2250" u="none" cap="none" strike="noStrike">
              <a:solidFill>
                <a:schemeClr val="dk1"/>
              </a:solidFill>
              <a:latin typeface="Calibri"/>
              <a:ea typeface="Calibri"/>
              <a:cs typeface="Calibri"/>
              <a:sym typeface="Calibri"/>
            </a:endParaRPr>
          </a:p>
        </p:txBody>
      </p:sp>
      <p:sp>
        <p:nvSpPr>
          <p:cNvPr id="592" name="Google Shape;592;p9"/>
          <p:cNvSpPr/>
          <p:nvPr/>
        </p:nvSpPr>
        <p:spPr>
          <a:xfrm>
            <a:off x="9528600" y="5314700"/>
            <a:ext cx="7528500" cy="3845100"/>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K-Means at K = 4 produces tighter, better</a:t>
            </a:r>
            <a:r>
              <a:rPr lang="en-US" sz="2100">
                <a:solidFill>
                  <a:srgbClr val="111111"/>
                </a:solidFill>
                <a:latin typeface="Georgia"/>
                <a:ea typeface="Georgia"/>
                <a:cs typeface="Georgia"/>
                <a:sym typeface="Georgia"/>
              </a:rPr>
              <a:t> </a:t>
            </a:r>
            <a:r>
              <a:rPr b="0" i="0" lang="en-US" sz="2100" u="none" cap="none" strike="noStrike">
                <a:solidFill>
                  <a:srgbClr val="111111"/>
                </a:solidFill>
                <a:latin typeface="Georgia"/>
                <a:ea typeface="Georgia"/>
                <a:cs typeface="Georgia"/>
                <a:sym typeface="Georgia"/>
              </a:rPr>
              <a:t>separated groups than the heuristic</a:t>
            </a:r>
            <a:endParaRPr b="0" i="0" sz="2100" u="none" cap="none" strike="noStrike">
              <a:solidFill>
                <a:schemeClr val="dk1"/>
              </a:solidFill>
              <a:latin typeface="Calibri"/>
              <a:ea typeface="Calibri"/>
              <a:cs typeface="Calibri"/>
              <a:sym typeface="Calibri"/>
            </a:endParaRPr>
          </a:p>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The heuristic's "LAG" label gets split across three K-Means clusters </a:t>
            </a:r>
            <a:r>
              <a:rPr lang="en-US" sz="2100">
                <a:solidFill>
                  <a:srgbClr val="111111"/>
                </a:solidFill>
                <a:latin typeface="Georgia"/>
                <a:ea typeface="Georgia"/>
                <a:cs typeface="Georgia"/>
                <a:sym typeface="Georgia"/>
              </a:rPr>
              <a:t>and </a:t>
            </a:r>
            <a:r>
              <a:rPr b="0" i="0" lang="en-US" sz="2100" u="none" cap="none" strike="noStrike">
                <a:solidFill>
                  <a:srgbClr val="111111"/>
                </a:solidFill>
                <a:latin typeface="Georgia"/>
                <a:ea typeface="Georgia"/>
                <a:cs typeface="Georgia"/>
                <a:sym typeface="Georgia"/>
              </a:rPr>
              <a:t>the data has more structure than fixed cutoffs can show</a:t>
            </a:r>
            <a:endParaRPr b="0" i="0" sz="2100" u="none" cap="none" strike="noStrike">
              <a:solidFill>
                <a:schemeClr val="dk1"/>
              </a:solidFill>
              <a:latin typeface="Calibri"/>
              <a:ea typeface="Calibri"/>
              <a:cs typeface="Calibri"/>
              <a:sym typeface="Calibri"/>
            </a:endParaRPr>
          </a:p>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The same direction holds on the smaller sampled subset </a:t>
            </a:r>
            <a:br>
              <a:rPr b="0" i="0" lang="en-US" sz="2100" u="none" cap="none" strike="noStrike">
                <a:solidFill>
                  <a:srgbClr val="111111"/>
                </a:solidFill>
                <a:latin typeface="Georgia"/>
                <a:ea typeface="Georgia"/>
                <a:cs typeface="Georgia"/>
                <a:sym typeface="Georgia"/>
              </a:rPr>
            </a:br>
            <a:r>
              <a:rPr b="0" i="0" lang="en-US" sz="2100" u="none" cap="none" strike="noStrike">
                <a:solidFill>
                  <a:srgbClr val="111111"/>
                </a:solidFill>
                <a:latin typeface="Georgia"/>
                <a:ea typeface="Georgia"/>
                <a:cs typeface="Georgia"/>
                <a:sym typeface="Georgia"/>
              </a:rPr>
              <a:t>(n = 344)</a:t>
            </a:r>
            <a:endParaRPr sz="2100">
              <a:solidFill>
                <a:srgbClr val="111111"/>
              </a:solidFill>
              <a:latin typeface="Georgia"/>
              <a:ea typeface="Georgia"/>
              <a:cs typeface="Georgia"/>
              <a:sym typeface="Georgia"/>
            </a:endParaRPr>
          </a:p>
          <a:p>
            <a:pPr indent="-361950" lvl="1" marL="9144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K-Means K </a:t>
            </a:r>
            <a:r>
              <a:rPr lang="en-US" sz="2100">
                <a:solidFill>
                  <a:srgbClr val="111111"/>
                </a:solidFill>
                <a:latin typeface="Georgia"/>
                <a:ea typeface="Georgia"/>
                <a:cs typeface="Georgia"/>
                <a:sym typeface="Georgia"/>
              </a:rPr>
              <a:t>=</a:t>
            </a:r>
            <a:r>
              <a:rPr b="0" i="0" lang="en-US" sz="2100" u="none" cap="none" strike="noStrike">
                <a:solidFill>
                  <a:srgbClr val="111111"/>
                </a:solidFill>
                <a:latin typeface="Georgia"/>
                <a:ea typeface="Georgia"/>
                <a:cs typeface="Georgia"/>
                <a:sym typeface="Georgia"/>
              </a:rPr>
              <a:t> 4 silhouette 0.4595 vs heuristic 0.0990</a:t>
            </a:r>
            <a:endParaRPr b="0" i="0" sz="2100" u="none" cap="none" strike="noStrike">
              <a:solidFill>
                <a:schemeClr val="dk1"/>
              </a:solidFill>
              <a:latin typeface="Calibri"/>
              <a:ea typeface="Calibri"/>
              <a:cs typeface="Calibri"/>
              <a:sym typeface="Calibri"/>
            </a:endParaRPr>
          </a:p>
        </p:txBody>
      </p:sp>
      <p:sp>
        <p:nvSpPr>
          <p:cNvPr id="593" name="Google Shape;593;p9"/>
          <p:cNvSpPr/>
          <p:nvPr/>
        </p:nvSpPr>
        <p:spPr>
          <a:xfrm>
            <a:off x="1047640" y="9159766"/>
            <a:ext cx="16192613"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94" name="Google Shape;594;p9"/>
          <p:cNvPicPr preferRelativeResize="0"/>
          <p:nvPr/>
        </p:nvPicPr>
        <p:blipFill>
          <a:blip r:embed="rId4">
            <a:alphaModFix/>
          </a:blip>
          <a:stretch>
            <a:fillRect/>
          </a:stretch>
        </p:blipFill>
        <p:spPr>
          <a:xfrm>
            <a:off x="1032766" y="2565000"/>
            <a:ext cx="7790434" cy="550472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9" name="Shape 599"/>
        <p:cNvGrpSpPr/>
        <p:nvPr/>
      </p:nvGrpSpPr>
      <p:grpSpPr>
        <a:xfrm>
          <a:off x="0" y="0"/>
          <a:ext cx="0" cy="0"/>
          <a:chOff x="0" y="0"/>
          <a:chExt cx="0" cy="0"/>
        </a:xfrm>
      </p:grpSpPr>
      <p:pic>
        <p:nvPicPr>
          <p:cNvPr id="600" name="Google Shape;600;p10"/>
          <p:cNvPicPr preferRelativeResize="0"/>
          <p:nvPr/>
        </p:nvPicPr>
        <p:blipFill>
          <a:blip r:embed="rId3">
            <a:alphaModFix/>
          </a:blip>
          <a:stretch>
            <a:fillRect/>
          </a:stretch>
        </p:blipFill>
        <p:spPr>
          <a:xfrm>
            <a:off x="16778877" y="375188"/>
            <a:ext cx="1261872" cy="1261872"/>
          </a:xfrm>
          <a:prstGeom prst="rect">
            <a:avLst/>
          </a:prstGeom>
          <a:noFill/>
          <a:ln>
            <a:noFill/>
          </a:ln>
        </p:spPr>
      </p:pic>
      <p:sp>
        <p:nvSpPr>
          <p:cNvPr id="601" name="Google Shape;601;p10"/>
          <p:cNvSpPr/>
          <p:nvPr/>
        </p:nvSpPr>
        <p:spPr>
          <a:xfrm>
            <a:off x="1047640" y="761890"/>
            <a:ext cx="16678500" cy="563700"/>
          </a:xfrm>
          <a:prstGeom prst="rect">
            <a:avLst/>
          </a:prstGeom>
          <a:noFill/>
          <a:ln>
            <a:noFill/>
          </a:ln>
        </p:spPr>
        <p:txBody>
          <a:bodyPr anchorCtr="0" anchor="t" bIns="25400" lIns="25400" spcFirstLastPara="1" rIns="25400" wrap="square" tIns="25400">
            <a:normAutofit/>
          </a:bodyPr>
          <a:lstStyle/>
          <a:p>
            <a:pPr indent="0" lvl="0" marL="0" marR="0" rtl="0" algn="l">
              <a:lnSpc>
                <a:spcPct val="115000"/>
              </a:lnSpc>
              <a:spcBef>
                <a:spcPts val="0"/>
              </a:spcBef>
              <a:spcAft>
                <a:spcPts val="0"/>
              </a:spcAft>
              <a:buClr>
                <a:srgbClr val="111111"/>
              </a:buClr>
              <a:buSzPts val="3600"/>
              <a:buFont typeface="Georgia"/>
              <a:buNone/>
            </a:pPr>
            <a:r>
              <a:rPr b="0" i="0" lang="en-US" sz="3600" u="none" cap="none" strike="noStrike">
                <a:solidFill>
                  <a:srgbClr val="111111"/>
                </a:solidFill>
                <a:latin typeface="Georgia"/>
                <a:ea typeface="Georgia"/>
                <a:cs typeface="Georgia"/>
                <a:sym typeface="Georgia"/>
              </a:rPr>
              <a:t>Conclusion &amp; Future Work</a:t>
            </a:r>
            <a:endParaRPr b="0" i="0" sz="3600" u="none" cap="none" strike="noStrike">
              <a:solidFill>
                <a:schemeClr val="dk1"/>
              </a:solidFill>
              <a:latin typeface="Calibri"/>
              <a:ea typeface="Calibri"/>
              <a:cs typeface="Calibri"/>
              <a:sym typeface="Calibri"/>
            </a:endParaRPr>
          </a:p>
        </p:txBody>
      </p:sp>
      <p:sp>
        <p:nvSpPr>
          <p:cNvPr id="602" name="Google Shape;602;p10"/>
          <p:cNvSpPr/>
          <p:nvPr/>
        </p:nvSpPr>
        <p:spPr>
          <a:xfrm>
            <a:off x="1047640" y="1554317"/>
            <a:ext cx="16192613" cy="14111"/>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10"/>
          <p:cNvSpPr/>
          <p:nvPr/>
        </p:nvSpPr>
        <p:spPr>
          <a:xfrm>
            <a:off x="1047640" y="1835106"/>
            <a:ext cx="8064460" cy="452393"/>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250"/>
              <a:buFont typeface="Georgia"/>
              <a:buNone/>
            </a:pPr>
            <a:r>
              <a:rPr b="1" i="0" lang="en-US" sz="2250" u="none" cap="none" strike="noStrike">
                <a:solidFill>
                  <a:srgbClr val="111111"/>
                </a:solidFill>
                <a:latin typeface="Georgia"/>
                <a:ea typeface="Georgia"/>
                <a:cs typeface="Georgia"/>
                <a:sym typeface="Georgia"/>
              </a:rPr>
              <a:t>Conclusion</a:t>
            </a:r>
            <a:endParaRPr b="0" i="0" sz="2250" u="none" cap="none" strike="noStrike">
              <a:solidFill>
                <a:schemeClr val="dk1"/>
              </a:solidFill>
              <a:latin typeface="Calibri"/>
              <a:ea typeface="Calibri"/>
              <a:cs typeface="Calibri"/>
              <a:sym typeface="Calibri"/>
            </a:endParaRPr>
          </a:p>
        </p:txBody>
      </p:sp>
      <p:sp>
        <p:nvSpPr>
          <p:cNvPr id="604" name="Google Shape;604;p10"/>
          <p:cNvSpPr/>
          <p:nvPr/>
        </p:nvSpPr>
        <p:spPr>
          <a:xfrm>
            <a:off x="1165650" y="2363584"/>
            <a:ext cx="7937400" cy="1927200"/>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K-Means on standardized VPIP and PFR gives tighter groups than fixed-threshold rules</a:t>
            </a:r>
            <a:endParaRPr b="0" i="0" sz="2100" u="none" cap="none" strike="noStrike">
              <a:solidFill>
                <a:srgbClr val="111111"/>
              </a:solidFill>
              <a:latin typeface="Georgia"/>
              <a:ea typeface="Georgia"/>
              <a:cs typeface="Georgia"/>
              <a:sym typeface="Georgia"/>
            </a:endParaRPr>
          </a:p>
          <a:p>
            <a:pPr indent="-361950" lvl="1" marL="914400" rtl="0" algn="l">
              <a:lnSpc>
                <a:spcPct val="145000"/>
              </a:lnSpc>
              <a:spcBef>
                <a:spcPts val="0"/>
              </a:spcBef>
              <a:spcAft>
                <a:spcPts val="0"/>
              </a:spcAft>
              <a:buClr>
                <a:srgbClr val="111111"/>
              </a:buClr>
              <a:buSzPts val="2100"/>
              <a:buFont typeface="Georgia"/>
              <a:buChar char="○"/>
            </a:pPr>
            <a:r>
              <a:rPr lang="en-US" sz="2100">
                <a:solidFill>
                  <a:srgbClr val="111111"/>
                </a:solidFill>
                <a:latin typeface="Georgia"/>
                <a:ea typeface="Georgia"/>
                <a:cs typeface="Georgia"/>
                <a:sym typeface="Georgia"/>
              </a:rPr>
              <a:t>At K = 4, silhouette is </a:t>
            </a:r>
            <a:r>
              <a:rPr b="1" lang="en-US" sz="2100">
                <a:solidFill>
                  <a:srgbClr val="111111"/>
                </a:solidFill>
                <a:latin typeface="Georgia"/>
                <a:ea typeface="Georgia"/>
                <a:cs typeface="Georgia"/>
                <a:sym typeface="Georgia"/>
              </a:rPr>
              <a:t>0.4420 </a:t>
            </a:r>
            <a:r>
              <a:rPr lang="en-US" sz="2100">
                <a:solidFill>
                  <a:srgbClr val="111111"/>
                </a:solidFill>
                <a:latin typeface="Georgia"/>
                <a:ea typeface="Georgia"/>
                <a:cs typeface="Georgia"/>
                <a:sym typeface="Georgia"/>
              </a:rPr>
              <a:t>(K-Means) vs </a:t>
            </a:r>
            <a:r>
              <a:rPr b="1" lang="en-US" sz="2100">
                <a:solidFill>
                  <a:srgbClr val="111111"/>
                </a:solidFill>
                <a:latin typeface="Georgia"/>
                <a:ea typeface="Georgia"/>
                <a:cs typeface="Georgia"/>
                <a:sym typeface="Georgia"/>
              </a:rPr>
              <a:t>0.1347 </a:t>
            </a:r>
            <a:r>
              <a:rPr lang="en-US" sz="2100">
                <a:solidFill>
                  <a:srgbClr val="111111"/>
                </a:solidFill>
                <a:latin typeface="Georgia"/>
                <a:ea typeface="Georgia"/>
                <a:cs typeface="Georgia"/>
                <a:sym typeface="Georgia"/>
              </a:rPr>
              <a:t>(heuristic)</a:t>
            </a:r>
            <a:endParaRPr sz="2100">
              <a:solidFill>
                <a:srgbClr val="111111"/>
              </a:solidFill>
              <a:latin typeface="Georgia"/>
              <a:ea typeface="Georgia"/>
              <a:cs typeface="Georgia"/>
              <a:sym typeface="Georgia"/>
            </a:endParaRPr>
          </a:p>
        </p:txBody>
      </p:sp>
      <p:sp>
        <p:nvSpPr>
          <p:cNvPr id="605" name="Google Shape;605;p10"/>
          <p:cNvSpPr/>
          <p:nvPr/>
        </p:nvSpPr>
        <p:spPr>
          <a:xfrm>
            <a:off x="1165662" y="4473401"/>
            <a:ext cx="7937400" cy="811200"/>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The data's strongest natural split is binary (K = 2, silhouette </a:t>
            </a:r>
            <a:r>
              <a:rPr b="1" i="0" lang="en-US" sz="2100" u="none" cap="none" strike="noStrike">
                <a:solidFill>
                  <a:srgbClr val="111111"/>
                </a:solidFill>
                <a:latin typeface="Georgia"/>
                <a:ea typeface="Georgia"/>
                <a:cs typeface="Georgia"/>
                <a:sym typeface="Georgia"/>
              </a:rPr>
              <a:t>0.4917</a:t>
            </a:r>
            <a:r>
              <a:rPr b="0" i="0" lang="en-US" sz="2100" u="none" cap="none" strike="noStrike">
                <a:solidFill>
                  <a:srgbClr val="111111"/>
                </a:solidFill>
                <a:latin typeface="Georgia"/>
                <a:ea typeface="Georgia"/>
                <a:cs typeface="Georgia"/>
                <a:sym typeface="Georgia"/>
              </a:rPr>
              <a:t>)</a:t>
            </a:r>
            <a:endParaRPr b="0" i="0" sz="2100" u="none" cap="none" strike="noStrike">
              <a:solidFill>
                <a:srgbClr val="111111"/>
              </a:solidFill>
              <a:latin typeface="Georgia"/>
              <a:ea typeface="Georgia"/>
              <a:cs typeface="Georgia"/>
              <a:sym typeface="Georgia"/>
            </a:endParaRPr>
          </a:p>
          <a:p>
            <a:pPr indent="-361950" lvl="1" marL="914400" rtl="0" algn="l">
              <a:lnSpc>
                <a:spcPct val="145000"/>
              </a:lnSpc>
              <a:spcBef>
                <a:spcPts val="0"/>
              </a:spcBef>
              <a:spcAft>
                <a:spcPts val="0"/>
              </a:spcAft>
              <a:buClr>
                <a:srgbClr val="111111"/>
              </a:buClr>
              <a:buSzPts val="2100"/>
              <a:buFont typeface="Georgia"/>
              <a:buChar char="○"/>
            </a:pPr>
            <a:r>
              <a:rPr lang="en-US" sz="2100">
                <a:solidFill>
                  <a:srgbClr val="111111"/>
                </a:solidFill>
                <a:latin typeface="Georgia"/>
                <a:ea typeface="Georgia"/>
                <a:cs typeface="Georgia"/>
                <a:sym typeface="Georgia"/>
              </a:rPr>
              <a:t>K-Means beats the heuristic on the project's main metric</a:t>
            </a:r>
            <a:endParaRPr sz="2100">
              <a:solidFill>
                <a:schemeClr val="dk1"/>
              </a:solidFill>
              <a:latin typeface="Calibri"/>
              <a:ea typeface="Calibri"/>
              <a:cs typeface="Calibri"/>
              <a:sym typeface="Calibri"/>
            </a:endParaRPr>
          </a:p>
          <a:p>
            <a:pPr indent="0" lvl="0" marL="914400" marR="0" rtl="0" algn="l">
              <a:lnSpc>
                <a:spcPct val="145000"/>
              </a:lnSpc>
              <a:spcBef>
                <a:spcPts val="0"/>
              </a:spcBef>
              <a:spcAft>
                <a:spcPts val="0"/>
              </a:spcAft>
              <a:buNone/>
            </a:pPr>
            <a:r>
              <a:t/>
            </a:r>
            <a:endParaRPr sz="2100">
              <a:solidFill>
                <a:srgbClr val="111111"/>
              </a:solidFill>
              <a:latin typeface="Georgia"/>
              <a:ea typeface="Georgia"/>
              <a:cs typeface="Georgia"/>
              <a:sym typeface="Georgia"/>
            </a:endParaRPr>
          </a:p>
        </p:txBody>
      </p:sp>
      <p:sp>
        <p:nvSpPr>
          <p:cNvPr id="606" name="Google Shape;606;p10"/>
          <p:cNvSpPr/>
          <p:nvPr/>
        </p:nvSpPr>
        <p:spPr>
          <a:xfrm>
            <a:off x="9410569" y="1835106"/>
            <a:ext cx="8064574" cy="452393"/>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250"/>
              <a:buFont typeface="Georgia"/>
              <a:buNone/>
            </a:pPr>
            <a:r>
              <a:rPr b="1" i="0" lang="en-US" sz="2250" u="none" cap="none" strike="noStrike">
                <a:solidFill>
                  <a:srgbClr val="111111"/>
                </a:solidFill>
                <a:latin typeface="Georgia"/>
                <a:ea typeface="Georgia"/>
                <a:cs typeface="Georgia"/>
                <a:sym typeface="Georgia"/>
              </a:rPr>
              <a:t>Limitations</a:t>
            </a:r>
            <a:endParaRPr b="0" i="0" sz="2250" u="none" cap="none" strike="noStrike">
              <a:solidFill>
                <a:schemeClr val="dk1"/>
              </a:solidFill>
              <a:latin typeface="Calibri"/>
              <a:ea typeface="Calibri"/>
              <a:cs typeface="Calibri"/>
              <a:sym typeface="Calibri"/>
            </a:endParaRPr>
          </a:p>
        </p:txBody>
      </p:sp>
      <p:sp>
        <p:nvSpPr>
          <p:cNvPr id="607" name="Google Shape;607;p10"/>
          <p:cNvSpPr/>
          <p:nvPr/>
        </p:nvSpPr>
        <p:spPr>
          <a:xfrm>
            <a:off x="9528591" y="2363611"/>
            <a:ext cx="7787861" cy="1927225"/>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Only preflop actions are used; flop, turn, and river are ignored</a:t>
            </a:r>
            <a:endParaRPr b="0" i="0" sz="2100" u="none" cap="none" strike="noStrike">
              <a:solidFill>
                <a:schemeClr val="dk1"/>
              </a:solidFill>
              <a:latin typeface="Calibri"/>
              <a:ea typeface="Calibri"/>
              <a:cs typeface="Calibri"/>
              <a:sym typeface="Calibri"/>
            </a:endParaRPr>
          </a:p>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Each player is one static average over their full history</a:t>
            </a:r>
            <a:endParaRPr b="0" i="0" sz="2100" u="none" cap="none" strike="noStrike">
              <a:solidFill>
                <a:schemeClr val="dk1"/>
              </a:solidFill>
              <a:latin typeface="Calibri"/>
              <a:ea typeface="Calibri"/>
              <a:cs typeface="Calibri"/>
              <a:sym typeface="Calibri"/>
            </a:endParaRPr>
          </a:p>
          <a:p>
            <a:pPr indent="-361950" lvl="1" marL="9144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Data is from 1995–2001; modern poker</a:t>
            </a:r>
            <a:r>
              <a:rPr lang="en-US" sz="2100">
                <a:solidFill>
                  <a:srgbClr val="111111"/>
                </a:solidFill>
                <a:latin typeface="Georgia"/>
                <a:ea typeface="Georgia"/>
                <a:cs typeface="Georgia"/>
                <a:sym typeface="Georgia"/>
              </a:rPr>
              <a:t> differs</a:t>
            </a:r>
            <a:endParaRPr b="0" i="0" sz="2100" u="none" cap="none" strike="noStrike">
              <a:solidFill>
                <a:schemeClr val="dk1"/>
              </a:solidFill>
              <a:latin typeface="Calibri"/>
              <a:ea typeface="Calibri"/>
              <a:cs typeface="Calibri"/>
              <a:sym typeface="Calibri"/>
            </a:endParaRPr>
          </a:p>
          <a:p>
            <a:pPr indent="-361950" lvl="1" marL="9144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K-Means assumes round, equal</a:t>
            </a:r>
            <a:r>
              <a:rPr lang="en-US" sz="2100">
                <a:solidFill>
                  <a:srgbClr val="111111"/>
                </a:solidFill>
                <a:latin typeface="Georgia"/>
                <a:ea typeface="Georgia"/>
                <a:cs typeface="Georgia"/>
                <a:sym typeface="Georgia"/>
              </a:rPr>
              <a:t> </a:t>
            </a:r>
            <a:r>
              <a:rPr b="0" i="0" lang="en-US" sz="2100" u="none" cap="none" strike="noStrike">
                <a:solidFill>
                  <a:srgbClr val="111111"/>
                </a:solidFill>
                <a:latin typeface="Georgia"/>
                <a:ea typeface="Georgia"/>
                <a:cs typeface="Georgia"/>
                <a:sym typeface="Georgia"/>
              </a:rPr>
              <a:t>size clusters</a:t>
            </a:r>
            <a:endParaRPr b="0" i="0" sz="2100" u="none" cap="none" strike="noStrike">
              <a:solidFill>
                <a:schemeClr val="dk1"/>
              </a:solidFill>
              <a:latin typeface="Calibri"/>
              <a:ea typeface="Calibri"/>
              <a:cs typeface="Calibri"/>
              <a:sym typeface="Calibri"/>
            </a:endParaRPr>
          </a:p>
        </p:txBody>
      </p:sp>
      <p:sp>
        <p:nvSpPr>
          <p:cNvPr id="608" name="Google Shape;608;p10"/>
          <p:cNvSpPr/>
          <p:nvPr/>
        </p:nvSpPr>
        <p:spPr>
          <a:xfrm>
            <a:off x="9410569" y="4967875"/>
            <a:ext cx="8064600" cy="45240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111111"/>
              </a:buClr>
              <a:buSzPts val="2250"/>
              <a:buFont typeface="Georgia"/>
              <a:buNone/>
            </a:pPr>
            <a:r>
              <a:rPr b="1" i="0" lang="en-US" sz="2250" u="none" cap="none" strike="noStrike">
                <a:solidFill>
                  <a:srgbClr val="111111"/>
                </a:solidFill>
                <a:latin typeface="Georgia"/>
                <a:ea typeface="Georgia"/>
                <a:cs typeface="Georgia"/>
                <a:sym typeface="Georgia"/>
              </a:rPr>
              <a:t>Future work</a:t>
            </a:r>
            <a:endParaRPr b="0" i="0" sz="2250" u="none" cap="none" strike="noStrike">
              <a:solidFill>
                <a:schemeClr val="dk1"/>
              </a:solidFill>
              <a:latin typeface="Calibri"/>
              <a:ea typeface="Calibri"/>
              <a:cs typeface="Calibri"/>
              <a:sym typeface="Calibri"/>
            </a:endParaRPr>
          </a:p>
        </p:txBody>
      </p:sp>
      <p:sp>
        <p:nvSpPr>
          <p:cNvPr id="609" name="Google Shape;609;p10"/>
          <p:cNvSpPr/>
          <p:nvPr/>
        </p:nvSpPr>
        <p:spPr>
          <a:xfrm>
            <a:off x="9528591" y="5496380"/>
            <a:ext cx="7788000" cy="1426500"/>
          </a:xfrm>
          <a:prstGeom prst="rect">
            <a:avLst/>
          </a:prstGeom>
          <a:noFill/>
          <a:ln>
            <a:noFill/>
          </a:ln>
        </p:spPr>
        <p:txBody>
          <a:bodyPr anchorCtr="0" anchor="t" bIns="25400" lIns="25400" spcFirstLastPara="1" rIns="25400" wrap="square" tIns="25400">
            <a:normAutofit/>
          </a:bodyPr>
          <a:lstStyle/>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Add postflop features (3-bet %, c-bet %, etc.)</a:t>
            </a:r>
            <a:endParaRPr b="0" i="0" sz="2100" u="none" cap="none" strike="noStrike">
              <a:solidFill>
                <a:schemeClr val="dk1"/>
              </a:solidFill>
              <a:latin typeface="Calibri"/>
              <a:ea typeface="Calibri"/>
              <a:cs typeface="Calibri"/>
              <a:sym typeface="Calibri"/>
            </a:endParaRPr>
          </a:p>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Try a more recent dataset</a:t>
            </a:r>
            <a:endParaRPr b="0" i="0" sz="2100" u="none" cap="none" strike="noStrike">
              <a:solidFill>
                <a:srgbClr val="111111"/>
              </a:solidFill>
              <a:latin typeface="Georgia"/>
              <a:ea typeface="Georgia"/>
              <a:cs typeface="Georgia"/>
              <a:sym typeface="Georgia"/>
            </a:endParaRPr>
          </a:p>
          <a:p>
            <a:pPr indent="-361950" lvl="1" marL="914400" marR="0" rtl="0" algn="l">
              <a:lnSpc>
                <a:spcPct val="145000"/>
              </a:lnSpc>
              <a:spcBef>
                <a:spcPts val="0"/>
              </a:spcBef>
              <a:spcAft>
                <a:spcPts val="0"/>
              </a:spcAft>
              <a:buClr>
                <a:srgbClr val="111111"/>
              </a:buClr>
              <a:buSzPts val="2100"/>
              <a:buFont typeface="Georgia"/>
              <a:buChar char="○"/>
            </a:pPr>
            <a:r>
              <a:rPr lang="en-US" sz="2100">
                <a:solidFill>
                  <a:srgbClr val="111111"/>
                </a:solidFill>
                <a:latin typeface="Georgia"/>
                <a:ea typeface="Georgia"/>
                <a:cs typeface="Georgia"/>
                <a:sym typeface="Georgia"/>
              </a:rPr>
              <a:t>Before and after economic turmoil and rise of GTO play</a:t>
            </a:r>
            <a:endParaRPr sz="2100">
              <a:solidFill>
                <a:srgbClr val="111111"/>
              </a:solidFill>
              <a:latin typeface="Georgia"/>
              <a:ea typeface="Georgia"/>
              <a:cs typeface="Georgia"/>
              <a:sym typeface="Georgia"/>
            </a:endParaRPr>
          </a:p>
          <a:p>
            <a:pPr indent="-361950" lvl="0" marL="457200" marR="0" rtl="0" algn="l">
              <a:lnSpc>
                <a:spcPct val="145000"/>
              </a:lnSpc>
              <a:spcBef>
                <a:spcPts val="0"/>
              </a:spcBef>
              <a:spcAft>
                <a:spcPts val="0"/>
              </a:spcAft>
              <a:buClr>
                <a:srgbClr val="111111"/>
              </a:buClr>
              <a:buSzPts val="2100"/>
              <a:buFont typeface="Georgia"/>
              <a:buChar char="●"/>
            </a:pPr>
            <a:r>
              <a:rPr b="0" i="0" lang="en-US" sz="2100" u="none" cap="none" strike="noStrike">
                <a:solidFill>
                  <a:srgbClr val="111111"/>
                </a:solidFill>
                <a:latin typeface="Georgia"/>
                <a:ea typeface="Georgia"/>
                <a:cs typeface="Georgia"/>
                <a:sym typeface="Georgia"/>
              </a:rPr>
              <a:t>Try oher clustering methods that don't assume round clusters</a:t>
            </a:r>
            <a:endParaRPr b="0" i="0" sz="2100" u="none" cap="none" strike="noStrike">
              <a:solidFill>
                <a:schemeClr val="dk1"/>
              </a:solidFill>
              <a:latin typeface="Calibri"/>
              <a:ea typeface="Calibri"/>
              <a:cs typeface="Calibri"/>
              <a:sym typeface="Calibri"/>
            </a:endParaRPr>
          </a:p>
        </p:txBody>
      </p:sp>
      <p:sp>
        <p:nvSpPr>
          <p:cNvPr id="610" name="Google Shape;610;p10"/>
          <p:cNvSpPr/>
          <p:nvPr/>
        </p:nvSpPr>
        <p:spPr>
          <a:xfrm>
            <a:off x="1047640" y="9159766"/>
            <a:ext cx="16192613" cy="9525"/>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5" name="Shape 615"/>
        <p:cNvGrpSpPr/>
        <p:nvPr/>
      </p:nvGrpSpPr>
      <p:grpSpPr>
        <a:xfrm>
          <a:off x="0" y="0"/>
          <a:ext cx="0" cy="0"/>
          <a:chOff x="0" y="0"/>
          <a:chExt cx="0" cy="0"/>
        </a:xfrm>
      </p:grpSpPr>
      <p:sp>
        <p:nvSpPr>
          <p:cNvPr id="616" name="Google Shape;616;g3da8f2e7afe_3_9"/>
          <p:cNvSpPr/>
          <p:nvPr/>
        </p:nvSpPr>
        <p:spPr>
          <a:xfrm>
            <a:off x="1047650" y="4512602"/>
            <a:ext cx="16678500" cy="1261800"/>
          </a:xfrm>
          <a:prstGeom prst="rect">
            <a:avLst/>
          </a:prstGeom>
          <a:noFill/>
          <a:ln>
            <a:noFill/>
          </a:ln>
        </p:spPr>
        <p:txBody>
          <a:bodyPr anchorCtr="0" anchor="t" bIns="25400" lIns="25400" spcFirstLastPara="1" rIns="25400" wrap="square" tIns="25400">
            <a:noAutofit/>
          </a:bodyPr>
          <a:lstStyle/>
          <a:p>
            <a:pPr indent="0" lvl="0" marL="0" marR="0" rtl="0" algn="l">
              <a:lnSpc>
                <a:spcPct val="115000"/>
              </a:lnSpc>
              <a:spcBef>
                <a:spcPts val="0"/>
              </a:spcBef>
              <a:spcAft>
                <a:spcPts val="0"/>
              </a:spcAft>
              <a:buClr>
                <a:srgbClr val="111111"/>
              </a:buClr>
              <a:buSzPts val="3600"/>
              <a:buFont typeface="Georgia"/>
              <a:buNone/>
            </a:pPr>
            <a:r>
              <a:rPr lang="en-US" sz="8000">
                <a:solidFill>
                  <a:srgbClr val="111111"/>
                </a:solidFill>
                <a:latin typeface="Georgia"/>
                <a:ea typeface="Georgia"/>
                <a:cs typeface="Georgia"/>
                <a:sym typeface="Georgia"/>
              </a:rPr>
              <a:t>Thank You!</a:t>
            </a:r>
            <a:endParaRPr sz="8000">
              <a:solidFill>
                <a:srgbClr val="111111"/>
              </a:solidFill>
              <a:latin typeface="Georgia"/>
              <a:ea typeface="Georgia"/>
              <a:cs typeface="Georgia"/>
              <a:sym typeface="Georgia"/>
            </a:endParaRPr>
          </a:p>
        </p:txBody>
      </p:sp>
      <p:sp>
        <p:nvSpPr>
          <p:cNvPr id="617" name="Google Shape;617;g3da8f2e7afe_3_9"/>
          <p:cNvSpPr/>
          <p:nvPr/>
        </p:nvSpPr>
        <p:spPr>
          <a:xfrm>
            <a:off x="1047640" y="1554317"/>
            <a:ext cx="16192500" cy="14100"/>
          </a:xfrm>
          <a:prstGeom prst="rect">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g3da8f2e7afe_3_9"/>
          <p:cNvSpPr/>
          <p:nvPr/>
        </p:nvSpPr>
        <p:spPr>
          <a:xfrm>
            <a:off x="1047640" y="9159766"/>
            <a:ext cx="16192500" cy="96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19" name="Google Shape;619;g3da8f2e7afe_3_9"/>
          <p:cNvPicPr preferRelativeResize="0"/>
          <p:nvPr/>
        </p:nvPicPr>
        <p:blipFill>
          <a:blip r:embed="rId3">
            <a:alphaModFix/>
          </a:blip>
          <a:stretch>
            <a:fillRect/>
          </a:stretch>
        </p:blipFill>
        <p:spPr>
          <a:xfrm>
            <a:off x="16778875" y="375191"/>
            <a:ext cx="1261872" cy="1261872"/>
          </a:xfrm>
          <a:prstGeom prst="rect">
            <a:avLst/>
          </a:prstGeom>
          <a:noFill/>
          <a:ln>
            <a:noFill/>
          </a:ln>
        </p:spPr>
      </p:pic>
      <p:pic>
        <p:nvPicPr>
          <p:cNvPr id="620" name="Google Shape;620;g3da8f2e7afe_3_9"/>
          <p:cNvPicPr preferRelativeResize="0"/>
          <p:nvPr/>
        </p:nvPicPr>
        <p:blipFill>
          <a:blip r:embed="rId4">
            <a:alphaModFix/>
          </a:blip>
          <a:stretch>
            <a:fillRect/>
          </a:stretch>
        </p:blipFill>
        <p:spPr>
          <a:xfrm>
            <a:off x="10640175" y="2085507"/>
            <a:ext cx="5600925" cy="655717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Momentum">
  <a:themeElements>
    <a:clrScheme name="Momentum">
      <a:dk1>
        <a:srgbClr val="C0791B"/>
      </a:dk1>
      <a:lt1>
        <a:srgbClr val="FFFFFF"/>
      </a:lt1>
      <a:dk2>
        <a:srgbClr val="424242"/>
      </a:dk2>
      <a:lt2>
        <a:srgbClr val="8DD8D3"/>
      </a:lt2>
      <a:accent1>
        <a:srgbClr val="0B6374"/>
      </a:accent1>
      <a:accent2>
        <a:srgbClr val="FD5B58"/>
      </a:accent2>
      <a:accent3>
        <a:srgbClr val="599191"/>
      </a:accent3>
      <a:accent4>
        <a:srgbClr val="D7E6A3"/>
      </a:accent4>
      <a:accent5>
        <a:srgbClr val="27278B"/>
      </a:accent5>
      <a:accent6>
        <a:srgbClr val="D558AB"/>
      </a:accent6>
      <a:hlink>
        <a:srgbClr val="27278B"/>
      </a:hlink>
      <a:folHlink>
        <a:srgbClr val="2727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2026-04-28T16:25:57Z</dcterms:created>
  <dc:creator>PptxGenJS</dc:creator>
</cp:coreProperties>
</file>